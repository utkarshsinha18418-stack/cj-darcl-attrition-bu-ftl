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1D8FD1"/>
              </a:solidFill>
              <a:effectLst/>
            </c:spPr>
          </c:dPt>
          <c:dPt>
            <c:idx val="1"/>
            <c:bubble3D val="0"/>
            <c:spPr>
              <a:solidFill>
                <a:srgbClr val="F2901E"/>
              </a:solidFill>
              <a:effectLst/>
            </c:spPr>
          </c:dPt>
          <c:dPt>
            <c:idx val="2"/>
            <c:bubble3D val="0"/>
            <c:spPr>
              <a:solidFill>
                <a:srgbClr val="E23A5E"/>
              </a:solidFill>
              <a:effectLst/>
            </c:spPr>
          </c:dPt>
          <c:dPt>
            <c:idx val="3"/>
            <c:bubble3D val="0"/>
            <c:spPr>
              <a:solidFill>
                <a:srgbClr val="6FB3E0"/>
              </a:solidFill>
              <a:effectLst/>
            </c:spPr>
          </c:dPt>
          <c:dPt>
            <c:idx val="4"/>
            <c:bubble3D val="0"/>
            <c:spPr>
              <a:solidFill>
                <a:srgbClr val="F5B76A"/>
              </a:solidFill>
              <a:effectLst/>
            </c:spPr>
          </c:dPt>
          <c:dPt>
            <c:idx val="5"/>
            <c:bubble3D val="0"/>
            <c:spPr>
              <a:solidFill>
                <a:srgbClr val="EE8AA1"/>
              </a:solidFill>
              <a:effectLst/>
            </c:spPr>
          </c:dPt>
          <c:dPt>
            <c:idx val="6"/>
            <c:bubble3D val="0"/>
            <c:spPr>
              <a:solidFill>
                <a:srgbClr val="B7C3CE"/>
              </a:solidFill>
              <a:effectLst/>
            </c:spPr>
          </c:dPt>
          <c:dLbls>
            <c:dLbl>
              <c:idx val="0"/>
              <c:numFmt formatCode="0%" sourceLinked="0"/>
              <c:spPr/>
              <c:txPr>
                <a:bodyPr/>
                <a:lstStyle/>
                <a:p>
                  <a:pPr>
                    <a:defRPr sz="95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5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5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5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5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50" b="0" i="0" u="none" strike="noStrike">
                      <a:solidFill>
                        <a:srgbClr val="FFFFFF"/>
                      </a:solidFill>
                      <a:latin typeface="Arial"/>
                    </a:defRPr>
                  </a:pPr>
                </a:p>
              </c:txPr>
              <c:showLegendKey val="0"/>
              <c:showVal val="0"/>
              <c:showCatName val="0"/>
              <c:showSerName val="0"/>
              <c:showPercent val="1"/>
              <c:showBubbleSize val="0"/>
            </c:dLbl>
            <c:dLbl>
              <c:idx val="6"/>
              <c:numFmt formatCode="0%" sourceLinked="0"/>
              <c:spPr/>
              <c:txPr>
                <a:bodyPr/>
                <a:lstStyle/>
                <a:p>
                  <a:pPr>
                    <a:defRPr sz="95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Sheet1!$A$2:$A$8</c:f>
              <c:strCache>
                <c:ptCount val="7"/>
                <c:pt idx="0">
                  <c:v>Manufacturing*</c:v>
                </c:pt>
                <c:pt idx="1">
                  <c:v>Steel</c:v>
                </c:pt>
                <c:pt idx="2">
                  <c:v>Cement</c:v>
                </c:pt>
                <c:pt idx="3">
                  <c:v>Mining</c:v>
                </c:pt>
                <c:pt idx="4">
                  <c:v>Chemicals</c:v>
                </c:pt>
                <c:pt idx="5">
                  <c:v>FMCG</c:v>
                </c:pt>
                <c:pt idx="6">
                  <c:v>Others</c:v>
                </c:pt>
              </c:strCache>
            </c:strRef>
          </c:cat>
          <c:val>
            <c:numRef>
              <c:f>Sheet1!$B$2:$B$8</c:f>
              <c:numCache>
                <c:ptCount val="7"/>
                <c:pt idx="0">
                  <c:v>30</c:v>
                </c:pt>
                <c:pt idx="1">
                  <c:v>16</c:v>
                </c:pt>
                <c:pt idx="2">
                  <c:v>13</c:v>
                </c:pt>
                <c:pt idx="3">
                  <c:v>11</c:v>
                </c:pt>
                <c:pt idx="4">
                  <c:v>11</c:v>
                </c:pt>
                <c:pt idx="5">
                  <c:v>10</c:v>
                </c:pt>
                <c:pt idx="6">
                  <c:v>9</c:v>
                </c:pt>
              </c:numCache>
            </c:numRef>
          </c:val>
        </c:ser>
        <c:firstSliceAng val="0"/>
      </c:pieChart>
      <c:spPr>
        <a:noFill/>
        <a:ln>
          <a:noFill/>
        </a:ln>
        <a:effectLst/>
      </c:spPr>
    </c:plotArea>
    <c:legend>
      <c:legendPos val="r"/>
      <c:overlay val="0"/>
      <c:txPr>
        <a:bodyPr/>
        <a:lstStyle/>
        <a:p>
          <a:pPr>
            <a:defRPr sz="950">
              <a:solidFill>
                <a:srgbClr val="3D4652"/>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1D8FD1"/>
            </a:solidFill>
            <a:effectLst/>
          </c:spPr>
          <c:invertIfNegative val="0"/>
          <c:dLbls>
            <c:numFmt formatCode="#,##0" sourceLinked="0"/>
            <c:txPr>
              <a:bodyPr/>
              <a:lstStyle/>
              <a:p>
                <a:pPr>
                  <a:defRPr b="0" i="0" strike="noStrike" sz="900" u="none">
                    <a:solidFill>
                      <a:srgbClr val="0B2A4A"/>
                    </a:solidFill>
                    <a:latin typeface="Arial"/>
                  </a:defRPr>
                </a:pPr>
              </a:p>
            </c:txPr>
            <c:showLegendKey val="0"/>
            <c:showVal val="1"/>
            <c:showCatName val="0"/>
            <c:showSerName val="0"/>
            <c:showPercent val="0"/>
            <c:showBubbleSize val="0"/>
            <c:showLeaderLines val="0"/>
          </c:dLbls>
          <c:cat>
            <c:multiLvlStrRef>
              <c:f>Sheet1!$A$2:$A$5</c:f>
              <c:multiLvlStrCache>
                <c:ptCount val="4"/>
                <c:lvl>
                  <c:pt idx="0">
                    <c:v>CJ Darcl</c:v>
                  </c:pt>
                  <c:pt idx="1">
                    <c:v>TCI</c:v>
                  </c:pt>
                  <c:pt idx="2">
                    <c:v>Mahindra Log.</c:v>
                  </c:pt>
                  <c:pt idx="3">
                    <c:v>TVS SCS</c:v>
                  </c:pt>
                </c:lvl>
              </c:multiLvlStrCache>
            </c:multiLvlStrRef>
          </c:cat>
          <c:val>
            <c:numRef>
              <c:f>Sheet1!$B$2:$B$5</c:f>
              <c:numCache>
                <c:formatCode>General</c:formatCode>
                <c:ptCount val="4"/>
                <c:pt idx="0">
                  <c:v>5161</c:v>
                </c:pt>
                <c:pt idx="1">
                  <c:v>4492</c:v>
                </c:pt>
                <c:pt idx="2">
                  <c:v>6105</c:v>
                </c:pt>
                <c:pt idx="3">
                  <c:v>9996</c:v>
                </c:pt>
              </c:numCache>
            </c:numRef>
          </c:val>
        </c:ser>
        <c:dLbls>
          <c:numFmt formatCode="#,##0" sourceLinked="0"/>
          <c:txPr>
            <a:bodyPr/>
            <a:lstStyle/>
            <a:p>
              <a:pPr>
                <a:defRPr b="0" i="0" strike="noStrike" sz="900" u="none">
                  <a:solidFill>
                    <a:srgbClr val="0B2A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6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7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684"/>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standard"/>
        <c:varyColors val="0"/>
        <c:ser>
          <c:idx val="0"/>
          <c:order val="0"/>
          <c:tx>
            <c:strRef>
              <c:f>Sheet1!$B$1</c:f>
              <c:strCache>
                <c:ptCount val="1"/>
                <c:pt idx="0">
                  <c:v>CJ Darcl</c:v>
                </c:pt>
              </c:strCache>
            </c:strRef>
          </c:tx>
          <c:spPr>
            <a:solidFill>
              <a:srgbClr val="1D8FD1"/>
            </a:solidFill>
            <a:ln w="25400" cap="flat">
              <a:solidFill>
                <a:srgbClr val="1D8FD1"/>
              </a:solidFill>
              <a:prstDash val="solid"/>
              <a:round/>
            </a:ln>
            <a:effectLst/>
          </c:spPr>
          <c:invertIfNegative val="0"/>
          <c:marker>
            <c:symbol val="circle"/>
            <c:size val="6"/>
            <c:spPr>
              <a:solidFill>
                <a:srgbClr val="1D8FD1"/>
              </a:solidFill>
              <a:ln w="9525" cap="flat">
                <a:solidFill>
                  <a:srgbClr val="1D8FD1"/>
                </a:solidFill>
                <a:prstDash val="solid"/>
                <a:round/>
              </a:ln>
              <a:effectLst/>
            </c:spPr>
          </c:marker>
          <c:cat>
            <c:multiLvlStrRef>
              <c:f>Sheet1!$A$2:$A$6</c:f>
              <c:multiLvlStrCache>
                <c:ptCount val="5"/>
                <c:lvl>
                  <c:pt idx="0">
                    <c:v>Fleet</c:v>
                  </c:pt>
                  <c:pt idx="1">
                    <c:v>Coverage</c:v>
                  </c:pt>
                  <c:pt idx="2">
                    <c:v>Warehousing</c:v>
                  </c:pt>
                  <c:pt idx="3">
                    <c:v>Technology</c:v>
                  </c:pt>
                  <c:pt idx="4">
                    <c:v>Industrial Spec.</c:v>
                  </c:pt>
                </c:lvl>
              </c:multiLvlStrCache>
            </c:multiLvlStrRef>
          </c:cat>
          <c:val>
            <c:numRef>
              <c:f>Sheet1!$B$2:$B$6</c:f>
              <c:numCache>
                <c:formatCode>General</c:formatCode>
                <c:ptCount val="5"/>
                <c:pt idx="0">
                  <c:v>80</c:v>
                </c:pt>
                <c:pt idx="1">
                  <c:v>65</c:v>
                </c:pt>
                <c:pt idx="2">
                  <c:v>55</c:v>
                </c:pt>
                <c:pt idx="3">
                  <c:v>60</c:v>
                </c:pt>
                <c:pt idx="4">
                  <c:v>92</c:v>
                </c:pt>
              </c:numCache>
            </c:numRef>
          </c:val>
        </c:ser>
        <c:ser>
          <c:idx val="1"/>
          <c:order val="1"/>
          <c:tx>
            <c:strRef>
              <c:f>Sheet1!$C$1</c:f>
              <c:strCache>
                <c:ptCount val="1"/>
                <c:pt idx="0">
                  <c:v>Peer Avg.</c:v>
                </c:pt>
              </c:strCache>
            </c:strRef>
          </c:tx>
          <c:spPr>
            <a:solidFill>
              <a:srgbClr val="F2901E"/>
            </a:solidFill>
            <a:ln w="25400" cap="flat">
              <a:solidFill>
                <a:srgbClr val="F2901E"/>
              </a:solidFill>
              <a:prstDash val="solid"/>
              <a:round/>
            </a:ln>
            <a:effectLst/>
          </c:spPr>
          <c:invertIfNegative val="0"/>
          <c:marker>
            <c:symbol val="circle"/>
            <c:size val="6"/>
            <c:spPr>
              <a:solidFill>
                <a:srgbClr val="F2901E"/>
              </a:solidFill>
              <a:ln w="9525" cap="flat">
                <a:solidFill>
                  <a:srgbClr val="F2901E"/>
                </a:solidFill>
                <a:prstDash val="solid"/>
                <a:round/>
              </a:ln>
              <a:effectLst/>
            </c:spPr>
          </c:marker>
          <c:cat>
            <c:multiLvlStrRef>
              <c:f>Sheet1!$A$2:$A$6</c:f>
              <c:multiLvlStrCache>
                <c:ptCount val="5"/>
                <c:lvl>
                  <c:pt idx="0">
                    <c:v>Fleet</c:v>
                  </c:pt>
                  <c:pt idx="1">
                    <c:v>Coverage</c:v>
                  </c:pt>
                  <c:pt idx="2">
                    <c:v>Warehousing</c:v>
                  </c:pt>
                  <c:pt idx="3">
                    <c:v>Technology</c:v>
                  </c:pt>
                  <c:pt idx="4">
                    <c:v>Industrial Spec.</c:v>
                  </c:pt>
                </c:lvl>
              </c:multiLvlStrCache>
            </c:multiLvlStrRef>
          </c:cat>
          <c:val>
            <c:numRef>
              <c:f>Sheet1!$C$2:$C$6</c:f>
              <c:numCache>
                <c:formatCode>General</c:formatCode>
                <c:ptCount val="5"/>
                <c:pt idx="0">
                  <c:v>70</c:v>
                </c:pt>
                <c:pt idx="1">
                  <c:v>78</c:v>
                </c:pt>
                <c:pt idx="2">
                  <c:v>72</c:v>
                </c:pt>
                <c:pt idx="3">
                  <c:v>68</c:v>
                </c:pt>
                <c:pt idx="4">
                  <c:v>50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B76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3D4652"/>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4A"/>
        </a:solidFill>
      </p:bgPr>
    </p:bg>
    <p:spTree>
      <p:nvGrpSpPr>
        <p:cNvPr id="1" name=""/>
        <p:cNvGrpSpPr/>
        <p:nvPr/>
      </p:nvGrpSpPr>
      <p:grpSpPr>
        <a:xfrm>
          <a:off x="0" y="0"/>
          <a:ext cx="0" cy="0"/>
          <a:chOff x="0" y="0"/>
          <a:chExt cx="0" cy="0"/>
        </a:xfrm>
      </p:grpSpPr>
      <p:sp>
        <p:nvSpPr>
          <p:cNvPr id="2" name="Shape 0"/>
          <p:cNvSpPr/>
          <p:nvPr/>
        </p:nvSpPr>
        <p:spPr>
          <a:xfrm>
            <a:off x="9692640" y="-1188720"/>
            <a:ext cx="4206240" cy="4206240"/>
          </a:xfrm>
          <a:prstGeom prst="ellipse">
            <a:avLst/>
          </a:prstGeom>
          <a:solidFill>
            <a:srgbClr val="1D8FD1">
              <a:alpha val="12000"/>
            </a:srgbClr>
          </a:solidFill>
          <a:ln/>
        </p:spPr>
      </p:sp>
      <p:sp>
        <p:nvSpPr>
          <p:cNvPr id="3" name="Shape 1"/>
          <p:cNvSpPr/>
          <p:nvPr/>
        </p:nvSpPr>
        <p:spPr>
          <a:xfrm>
            <a:off x="10607040" y="4206240"/>
            <a:ext cx="3291840" cy="3291840"/>
          </a:xfrm>
          <a:prstGeom prst="ellipse">
            <a:avLst/>
          </a:prstGeom>
          <a:solidFill>
            <a:srgbClr val="F2901E">
              <a:alpha val="12000"/>
            </a:srgbClr>
          </a:solidFill>
          <a:ln/>
        </p:spPr>
      </p:sp>
      <p:sp>
        <p:nvSpPr>
          <p:cNvPr id="4" name="Shape 2"/>
          <p:cNvSpPr/>
          <p:nvPr/>
        </p:nvSpPr>
        <p:spPr>
          <a:xfrm>
            <a:off x="-1371600" y="5212080"/>
            <a:ext cx="3108960" cy="3108960"/>
          </a:xfrm>
          <a:prstGeom prst="ellipse">
            <a:avLst/>
          </a:prstGeom>
          <a:solidFill>
            <a:srgbClr val="E23A5E">
              <a:alpha val="10000"/>
            </a:srgbClr>
          </a:solidFill>
          <a:ln/>
        </p:spPr>
      </p:sp>
      <p:sp>
        <p:nvSpPr>
          <p:cNvPr id="5" name="Shape 3"/>
          <p:cNvSpPr/>
          <p:nvPr/>
        </p:nvSpPr>
        <p:spPr>
          <a:xfrm>
            <a:off x="548640" y="548640"/>
            <a:ext cx="3291840" cy="2094419"/>
          </a:xfrm>
          <a:prstGeom prst="roundRect">
            <a:avLst>
              <a:gd name="adj" fmla="val 5239"/>
            </a:avLst>
          </a:prstGeom>
          <a:solidFill>
            <a:srgbClr val="FFFFFF"/>
          </a:solidFill>
          <a:ln/>
          <a:effectLst>
            <a:outerShdw sx="100000" sy="100000" kx="0" ky="0" algn="bl" rotWithShape="0" blurRad="101600" dist="25400" dir="5400000">
              <a:srgbClr val="1A2B3C">
                <a:alpha val="10000"/>
              </a:srgbClr>
            </a:outerShdw>
          </a:effectLst>
        </p:spPr>
      </p:sp>
      <p:pic>
        <p:nvPicPr>
          <p:cNvPr id="6" name="Image 0" descr="/mnt/user-data/uploads/1783588481632_image.png">    </p:cNvPr>
          <p:cNvPicPr>
            <a:picLocks noChangeAspect="1"/>
          </p:cNvPicPr>
          <p:nvPr/>
        </p:nvPicPr>
        <p:blipFill>
          <a:blip r:embed="rId1"/>
          <a:stretch>
            <a:fillRect/>
          </a:stretch>
        </p:blipFill>
        <p:spPr>
          <a:xfrm>
            <a:off x="777240" y="777240"/>
            <a:ext cx="2834640" cy="1637219"/>
          </a:xfrm>
          <a:prstGeom prst="rect">
            <a:avLst/>
          </a:prstGeom>
        </p:spPr>
      </p:pic>
      <p:sp>
        <p:nvSpPr>
          <p:cNvPr id="7" name="Text 4"/>
          <p:cNvSpPr/>
          <p:nvPr/>
        </p:nvSpPr>
        <p:spPr>
          <a:xfrm>
            <a:off x="548640" y="2395728"/>
            <a:ext cx="9144000" cy="292608"/>
          </a:xfrm>
          <a:prstGeom prst="rect">
            <a:avLst/>
          </a:prstGeom>
          <a:noFill/>
          <a:ln/>
        </p:spPr>
        <p:txBody>
          <a:bodyPr wrap="square" lIns="0" tIns="0" rIns="0" bIns="0" rtlCol="0" anchor="ctr"/>
          <a:lstStyle/>
          <a:p>
            <a:pPr indent="0" marL="0">
              <a:buNone/>
            </a:pPr>
            <a:r>
              <a:rPr lang="en-US" sz="1200" b="1" spc="250" kern="0" dirty="0">
                <a:solidFill>
                  <a:srgbClr val="F2901E"/>
                </a:solidFill>
                <a:latin typeface="Calibri" pitchFamily="34" charset="0"/>
                <a:ea typeface="Calibri" pitchFamily="34" charset="-122"/>
                <a:cs typeface="Calibri" pitchFamily="34" charset="-120"/>
              </a:rPr>
              <a:t>BUSINESS STRATEGY &amp; DEVELOPMENT REVIEW</a:t>
            </a:r>
            <a:endParaRPr lang="en-US" sz="1200" dirty="0"/>
          </a:p>
        </p:txBody>
      </p:sp>
      <p:sp>
        <p:nvSpPr>
          <p:cNvPr id="8" name="Text 5"/>
          <p:cNvSpPr/>
          <p:nvPr/>
        </p:nvSpPr>
        <p:spPr>
          <a:xfrm>
            <a:off x="548640" y="2724912"/>
            <a:ext cx="1051560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Indian FTL Market Competitive Deep Dive</a:t>
            </a:r>
            <a:endParaRPr lang="en-US" sz="3400" dirty="0"/>
          </a:p>
        </p:txBody>
      </p:sp>
      <p:sp>
        <p:nvSpPr>
          <p:cNvPr id="9" name="Text 6"/>
          <p:cNvSpPr/>
          <p:nvPr/>
        </p:nvSpPr>
        <p:spPr>
          <a:xfrm>
            <a:off x="548640" y="3456432"/>
            <a:ext cx="9601200" cy="457200"/>
          </a:xfrm>
          <a:prstGeom prst="rect">
            <a:avLst/>
          </a:prstGeom>
          <a:noFill/>
          <a:ln/>
        </p:spPr>
        <p:txBody>
          <a:bodyPr wrap="square" lIns="0" tIns="0" rIns="0" bIns="0" rtlCol="0" anchor="ctr"/>
          <a:lstStyle/>
          <a:p>
            <a:pPr indent="0" marL="0">
              <a:buNone/>
            </a:pPr>
            <a:r>
              <a:rPr lang="en-US" sz="1700" dirty="0">
                <a:solidFill>
                  <a:srgbClr val="AFC7DE"/>
                </a:solidFill>
                <a:latin typeface="Calibri" pitchFamily="34" charset="0"/>
                <a:ea typeface="Calibri" pitchFamily="34" charset="-122"/>
                <a:cs typeface="Calibri" pitchFamily="34" charset="-120"/>
              </a:rPr>
              <a:t>Competitive Landscape Assessment of CJ Darcl Logistics</a:t>
            </a:r>
            <a:endParaRPr lang="en-US" sz="1700" dirty="0"/>
          </a:p>
        </p:txBody>
      </p:sp>
      <p:sp>
        <p:nvSpPr>
          <p:cNvPr id="10" name="Shape 7"/>
          <p:cNvSpPr/>
          <p:nvPr/>
        </p:nvSpPr>
        <p:spPr>
          <a:xfrm>
            <a:off x="548640" y="4160520"/>
            <a:ext cx="2926080" cy="0"/>
          </a:xfrm>
          <a:prstGeom prst="line">
            <a:avLst/>
          </a:prstGeom>
          <a:noFill/>
          <a:ln w="19050">
            <a:solidFill>
              <a:srgbClr val="1D8FD1"/>
            </a:solidFill>
            <a:prstDash val="solid"/>
          </a:ln>
        </p:spPr>
      </p:sp>
      <p:sp>
        <p:nvSpPr>
          <p:cNvPr id="11" name="Text 8"/>
          <p:cNvSpPr/>
          <p:nvPr/>
        </p:nvSpPr>
        <p:spPr>
          <a:xfrm>
            <a:off x="548640" y="4315968"/>
            <a:ext cx="8229600" cy="292608"/>
          </a:xfrm>
          <a:prstGeom prst="rect">
            <a:avLst/>
          </a:prstGeom>
          <a:noFill/>
          <a:ln/>
        </p:spPr>
        <p:txBody>
          <a:bodyPr wrap="square" lIns="0" tIns="0" rIns="0" bIns="0" rtlCol="0" anchor="ctr"/>
          <a:lstStyle/>
          <a:p>
            <a:pPr indent="0" marL="0">
              <a:buNone/>
            </a:pPr>
            <a:r>
              <a:rPr lang="en-US" sz="1250" dirty="0">
                <a:solidFill>
                  <a:srgbClr val="8FA9C6"/>
                </a:solidFill>
                <a:latin typeface="Calibri" pitchFamily="34" charset="0"/>
                <a:ea typeface="Calibri" pitchFamily="34" charset="-122"/>
                <a:cs typeface="Calibri" pitchFamily="34" charset="-120"/>
              </a:rPr>
              <a:t>Prepared for:  </a:t>
            </a:r>
            <a:pPr indent="0" marL="0">
              <a:buNone/>
            </a:pPr>
            <a:r>
              <a:rPr lang="en-US" sz="1250" b="1" dirty="0">
                <a:solidFill>
                  <a:srgbClr val="FFFFFF"/>
                </a:solidFill>
                <a:latin typeface="Calibri" pitchFamily="34" charset="0"/>
                <a:ea typeface="Calibri" pitchFamily="34" charset="-122"/>
                <a:cs typeface="Calibri" pitchFamily="34" charset="-120"/>
              </a:rPr>
              <a:t>Manager – Business Strategy &amp; Development</a:t>
            </a:r>
            <a:endParaRPr lang="en-US" sz="1250" dirty="0"/>
          </a:p>
        </p:txBody>
      </p:sp>
      <p:sp>
        <p:nvSpPr>
          <p:cNvPr id="12" name="Text 9"/>
          <p:cNvSpPr/>
          <p:nvPr/>
        </p:nvSpPr>
        <p:spPr>
          <a:xfrm>
            <a:off x="548640" y="4626864"/>
            <a:ext cx="8229600" cy="292608"/>
          </a:xfrm>
          <a:prstGeom prst="rect">
            <a:avLst/>
          </a:prstGeom>
          <a:noFill/>
          <a:ln/>
        </p:spPr>
        <p:txBody>
          <a:bodyPr wrap="square" lIns="0" tIns="0" rIns="0" bIns="0" rtlCol="0" anchor="ctr"/>
          <a:lstStyle/>
          <a:p>
            <a:pPr indent="0" marL="0">
              <a:buNone/>
            </a:pPr>
            <a:r>
              <a:rPr lang="en-US" sz="1250" dirty="0">
                <a:solidFill>
                  <a:srgbClr val="8FA9C6"/>
                </a:solidFill>
                <a:latin typeface="Calibri" pitchFamily="34" charset="0"/>
                <a:ea typeface="Calibri" pitchFamily="34" charset="-122"/>
                <a:cs typeface="Calibri" pitchFamily="34" charset="-120"/>
              </a:rPr>
              <a:t>Presented by:  </a:t>
            </a:r>
            <a:pPr indent="0" marL="0">
              <a:buNone/>
            </a:pPr>
            <a:r>
              <a:rPr lang="en-US" sz="1250" b="1" dirty="0">
                <a:solidFill>
                  <a:srgbClr val="FFFFFF"/>
                </a:solidFill>
                <a:latin typeface="Calibri" pitchFamily="34" charset="0"/>
                <a:ea typeface="Calibri" pitchFamily="34" charset="-122"/>
                <a:cs typeface="Calibri" pitchFamily="34" charset="-120"/>
              </a:rPr>
              <a:t>Utkarsh Sinha</a:t>
            </a:r>
            <a:endParaRPr lang="en-US" sz="1250" dirty="0"/>
          </a:p>
        </p:txBody>
      </p:sp>
      <p:sp>
        <p:nvSpPr>
          <p:cNvPr id="13" name="Text 10"/>
          <p:cNvSpPr/>
          <p:nvPr/>
        </p:nvSpPr>
        <p:spPr>
          <a:xfrm>
            <a:off x="548640" y="6355080"/>
            <a:ext cx="5486400" cy="274320"/>
          </a:xfrm>
          <a:prstGeom prst="rect">
            <a:avLst/>
          </a:prstGeom>
          <a:noFill/>
          <a:ln/>
        </p:spPr>
        <p:txBody>
          <a:bodyPr wrap="square" lIns="0" tIns="0" rIns="0" bIns="0" rtlCol="0" anchor="ctr"/>
          <a:lstStyle/>
          <a:p>
            <a:pPr indent="0" marL="0">
              <a:buNone/>
            </a:pPr>
            <a:r>
              <a:rPr lang="en-US" sz="900" spc="100" kern="0" dirty="0">
                <a:solidFill>
                  <a:srgbClr val="6E8AAA"/>
                </a:solidFill>
                <a:latin typeface="Calibri" pitchFamily="34" charset="0"/>
                <a:ea typeface="Calibri" pitchFamily="34" charset="-122"/>
                <a:cs typeface="Calibri" pitchFamily="34" charset="-120"/>
              </a:rPr>
              <a:t>Strictly Private &amp; Confidential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50" b="1" spc="200" kern="0" dirty="0">
                <a:solidFill>
                  <a:srgbClr val="1D8FD1"/>
                </a:solidFill>
                <a:latin typeface="Calibri" pitchFamily="34" charset="0"/>
                <a:ea typeface="Calibri" pitchFamily="34" charset="-122"/>
                <a:cs typeface="Calibri" pitchFamily="34" charset="-120"/>
              </a:rPr>
              <a:t>EXECUTIVE SUMMARY</a:t>
            </a:r>
            <a:endParaRPr lang="en-US" sz="1050" dirty="0"/>
          </a:p>
        </p:txBody>
      </p:sp>
      <p:sp>
        <p:nvSpPr>
          <p:cNvPr id="3" name="Text 1"/>
          <p:cNvSpPr/>
          <p:nvPr/>
        </p:nvSpPr>
        <p:spPr>
          <a:xfrm>
            <a:off x="548640" y="530352"/>
            <a:ext cx="10607040" cy="548640"/>
          </a:xfrm>
          <a:prstGeom prst="rect">
            <a:avLst/>
          </a:prstGeom>
          <a:noFill/>
          <a:ln/>
        </p:spPr>
        <p:txBody>
          <a:bodyPr wrap="square" lIns="0" tIns="0" rIns="0" bIns="0" rtlCol="0" anchor="ctr"/>
          <a:lstStyle/>
          <a:p>
            <a:pPr indent="0" marL="0">
              <a:buNone/>
            </a:pPr>
            <a:r>
              <a:rPr lang="en-US" sz="2500" b="1" dirty="0">
                <a:solidFill>
                  <a:srgbClr val="0B2A4A"/>
                </a:solidFill>
                <a:latin typeface="Cambria" pitchFamily="34" charset="0"/>
                <a:ea typeface="Cambria" pitchFamily="34" charset="-122"/>
                <a:cs typeface="Cambria" pitchFamily="34" charset="-120"/>
              </a:rPr>
              <a:t>Answering the Manager's Six Questions</a:t>
            </a:r>
            <a:endParaRPr lang="en-US" sz="2500" dirty="0"/>
          </a:p>
        </p:txBody>
      </p:sp>
      <p:sp>
        <p:nvSpPr>
          <p:cNvPr id="4" name="Shape 2"/>
          <p:cNvSpPr/>
          <p:nvPr/>
        </p:nvSpPr>
        <p:spPr>
          <a:xfrm>
            <a:off x="548640" y="1298448"/>
            <a:ext cx="5349240" cy="4709160"/>
          </a:xfrm>
          <a:prstGeom prst="roundRect">
            <a:avLst>
              <a:gd name="adj" fmla="val 1553"/>
            </a:avLst>
          </a:prstGeom>
          <a:solidFill>
            <a:srgbClr val="0B2A4A"/>
          </a:solidFill>
          <a:ln/>
          <a:effectLst>
            <a:outerShdw sx="100000" sy="100000" kx="0" ky="0" algn="bl" rotWithShape="0" blurRad="101600" dist="25400" dir="5400000">
              <a:srgbClr val="1A2B3C">
                <a:alpha val="10000"/>
              </a:srgbClr>
            </a:outerShdw>
          </a:effectLst>
        </p:spPr>
      </p:sp>
      <p:sp>
        <p:nvSpPr>
          <p:cNvPr id="5" name="Text 3"/>
          <p:cNvSpPr/>
          <p:nvPr/>
        </p:nvSpPr>
        <p:spPr>
          <a:xfrm>
            <a:off x="914400" y="1536192"/>
            <a:ext cx="2743200" cy="868680"/>
          </a:xfrm>
          <a:prstGeom prst="rect">
            <a:avLst/>
          </a:prstGeom>
          <a:noFill/>
          <a:ln/>
        </p:spPr>
        <p:txBody>
          <a:bodyPr wrap="square" lIns="0" tIns="0" rIns="0" bIns="0" rtlCol="0" anchor="ctr"/>
          <a:lstStyle/>
          <a:p>
            <a:pPr indent="0" marL="0">
              <a:buNone/>
            </a:pPr>
            <a:r>
              <a:rPr lang="en-US" sz="4800" b="1" dirty="0">
                <a:solidFill>
                  <a:srgbClr val="F2901E"/>
                </a:solidFill>
                <a:latin typeface="Cambria" pitchFamily="34" charset="0"/>
                <a:ea typeface="Cambria" pitchFamily="34" charset="-122"/>
                <a:cs typeface="Cambria" pitchFamily="34" charset="-120"/>
              </a:rPr>
              <a:t>~75%</a:t>
            </a:r>
            <a:endParaRPr lang="en-US" sz="4800" dirty="0"/>
          </a:p>
        </p:txBody>
      </p:sp>
      <p:sp>
        <p:nvSpPr>
          <p:cNvPr id="6" name="Text 4"/>
          <p:cNvSpPr/>
          <p:nvPr/>
        </p:nvSpPr>
        <p:spPr>
          <a:xfrm>
            <a:off x="914400" y="2286000"/>
            <a:ext cx="4617720" cy="914400"/>
          </a:xfrm>
          <a:prstGeom prst="rect">
            <a:avLst/>
          </a:prstGeom>
          <a:noFill/>
          <a:ln/>
        </p:spPr>
        <p:txBody>
          <a:bodyPr wrap="square" lIns="0" tIns="0" rIns="0" bIns="0" rtlCol="0" anchor="ctr"/>
          <a:lstStyle/>
          <a:p>
            <a:pPr indent="0" marL="0">
              <a:lnSpc>
                <a:spcPts val="1600"/>
              </a:lnSpc>
              <a:buNone/>
            </a:pPr>
            <a:r>
              <a:rPr lang="en-US" sz="1200" dirty="0">
                <a:solidFill>
                  <a:srgbClr val="D7E3EF"/>
                </a:solidFill>
                <a:latin typeface="Calibri" pitchFamily="34" charset="0"/>
                <a:ea typeface="Calibri" pitchFamily="34" charset="-122"/>
                <a:cs typeface="Calibri" pitchFamily="34" charset="-120"/>
              </a:rPr>
              <a:t>of CJ Darcl's FY24 revenue came from FTL transportation, with FTL share expected to moderate to ~65% over the next 2–3 years as multimodal, rail and warehousing scale up.</a:t>
            </a:r>
            <a:endParaRPr lang="en-US" sz="1200" dirty="0"/>
          </a:p>
        </p:txBody>
      </p:sp>
      <p:sp>
        <p:nvSpPr>
          <p:cNvPr id="7" name="Shape 5"/>
          <p:cNvSpPr/>
          <p:nvPr/>
        </p:nvSpPr>
        <p:spPr>
          <a:xfrm>
            <a:off x="914400" y="3310128"/>
            <a:ext cx="4617720" cy="0"/>
          </a:xfrm>
          <a:prstGeom prst="line">
            <a:avLst/>
          </a:prstGeom>
          <a:noFill/>
          <a:ln w="12700">
            <a:solidFill>
              <a:srgbClr val="2C4A6E"/>
            </a:solidFill>
            <a:prstDash val="solid"/>
          </a:ln>
        </p:spPr>
      </p:sp>
      <p:sp>
        <p:nvSpPr>
          <p:cNvPr id="8" name="Text 6"/>
          <p:cNvSpPr/>
          <p:nvPr/>
        </p:nvSpPr>
        <p:spPr>
          <a:xfrm>
            <a:off x="914400" y="3456432"/>
            <a:ext cx="4572000" cy="256032"/>
          </a:xfrm>
          <a:prstGeom prst="rect">
            <a:avLst/>
          </a:prstGeom>
          <a:noFill/>
          <a:ln/>
        </p:spPr>
        <p:txBody>
          <a:bodyPr wrap="square" lIns="0" tIns="0" rIns="0" bIns="0" rtlCol="0" anchor="ctr"/>
          <a:lstStyle/>
          <a:p>
            <a:pPr indent="0" marL="0">
              <a:buNone/>
            </a:pPr>
            <a:r>
              <a:rPr lang="en-US" sz="1050" b="1" spc="200" kern="0" dirty="0">
                <a:solidFill>
                  <a:srgbClr val="1D8FD1"/>
                </a:solidFill>
                <a:latin typeface="Calibri" pitchFamily="34" charset="0"/>
                <a:ea typeface="Calibri" pitchFamily="34" charset="-122"/>
                <a:cs typeface="Calibri" pitchFamily="34" charset="-120"/>
              </a:rPr>
              <a:t>KEY TAKEAWAYS</a:t>
            </a:r>
            <a:endParaRPr lang="en-US" sz="1050" dirty="0"/>
          </a:p>
        </p:txBody>
      </p:sp>
      <p:sp>
        <p:nvSpPr>
          <p:cNvPr id="9" name="Text 7"/>
          <p:cNvSpPr/>
          <p:nvPr/>
        </p:nvSpPr>
        <p:spPr>
          <a:xfrm>
            <a:off x="914400" y="3749040"/>
            <a:ext cx="4663440" cy="2194560"/>
          </a:xfrm>
          <a:prstGeom prst="rect">
            <a:avLst/>
          </a:prstGeom>
          <a:noFill/>
          <a:ln/>
        </p:spPr>
        <p:txBody>
          <a:bodyPr wrap="square" lIns="0" tIns="0" rIns="0" bIns="0" rtlCol="0" anchor="ctr"/>
          <a:lstStyle/>
          <a:p>
            <a:pPr marL="342900" indent="-342900">
              <a:lnSpc>
                <a:spcPts val="1450"/>
              </a:lnSpc>
              <a:spcAft>
                <a:spcPts val="700"/>
              </a:spcAft>
              <a:buSzPct val="100000"/>
              <a:buChar char="•"/>
            </a:pPr>
            <a:r>
              <a:rPr lang="en-US" sz="1100" dirty="0">
                <a:solidFill>
                  <a:srgbClr val="FFFFFF"/>
                </a:solidFill>
                <a:latin typeface="Calibri" pitchFamily="34" charset="0"/>
                <a:ea typeface="Calibri" pitchFamily="34" charset="-122"/>
                <a:cs typeface="Calibri" pitchFamily="34" charset="-120"/>
              </a:rPr>
              <a:t>The Indian FTL market remains highly fragmented; few players compete directly with CJ Darcl in industrial freight</a:t>
            </a:r>
            <a:endParaRPr lang="en-US" sz="1100" dirty="0"/>
          </a:p>
          <a:p>
            <a:pPr marL="342900" indent="-342900">
              <a:lnSpc>
                <a:spcPts val="1450"/>
              </a:lnSpc>
              <a:spcAft>
                <a:spcPts val="700"/>
              </a:spcAft>
              <a:buSzPct val="100000"/>
              <a:buChar char="•"/>
            </a:pPr>
            <a:r>
              <a:rPr lang="en-US" sz="1100" dirty="0">
                <a:solidFill>
                  <a:srgbClr val="FFFFFF"/>
                </a:solidFill>
                <a:latin typeface="Calibri" pitchFamily="34" charset="0"/>
                <a:ea typeface="Calibri" pitchFamily="34" charset="-122"/>
                <a:cs typeface="Calibri" pitchFamily="34" charset="-120"/>
              </a:rPr>
              <a:t>CJ Darcl's strongest position lies in Steel, Cement, Mining and Industrial transportation</a:t>
            </a:r>
            <a:endParaRPr lang="en-US" sz="1100" dirty="0"/>
          </a:p>
          <a:p>
            <a:pPr marL="342900" indent="-342900">
              <a:lnSpc>
                <a:spcPts val="1450"/>
              </a:lnSpc>
              <a:spcAft>
                <a:spcPts val="700"/>
              </a:spcAft>
              <a:buSzPct val="100000"/>
              <a:buChar char="•"/>
            </a:pPr>
            <a:r>
              <a:rPr lang="en-US" sz="1100" dirty="0">
                <a:solidFill>
                  <a:srgbClr val="FFFFFF"/>
                </a:solidFill>
                <a:latin typeface="Calibri" pitchFamily="34" charset="0"/>
                <a:ea typeface="Calibri" pitchFamily="34" charset="-122"/>
                <a:cs typeface="Calibri" pitchFamily="34" charset="-120"/>
              </a:rPr>
              <a:t>Largest competitive threats: TCI Freight, Mahindra Logistics, Safexpress and TVS Supply Chain Solutions</a:t>
            </a:r>
            <a:endParaRPr lang="en-US" sz="1100" dirty="0"/>
          </a:p>
          <a:p>
            <a:pPr marL="342900" indent="-342900">
              <a:lnSpc>
                <a:spcPts val="1450"/>
              </a:lnSpc>
              <a:spcAft>
                <a:spcPts val="700"/>
              </a:spcAft>
              <a:buSzPct val="100000"/>
              <a:buChar char="•"/>
            </a:pPr>
            <a:r>
              <a:rPr lang="en-US" sz="1100" dirty="0">
                <a:solidFill>
                  <a:srgbClr val="FFFFFF"/>
                </a:solidFill>
                <a:latin typeface="Calibri" pitchFamily="34" charset="0"/>
                <a:ea typeface="Calibri" pitchFamily="34" charset="-122"/>
                <a:cs typeface="Calibri" pitchFamily="34" charset="-120"/>
              </a:rPr>
              <a:t>Significant opportunity in dedicated transportation and industrial-corridor logistics</a:t>
            </a:r>
            <a:endParaRPr lang="en-US" sz="1100" dirty="0"/>
          </a:p>
        </p:txBody>
      </p:sp>
      <p:sp>
        <p:nvSpPr>
          <p:cNvPr id="10" name="Text 8"/>
          <p:cNvSpPr/>
          <p:nvPr/>
        </p:nvSpPr>
        <p:spPr>
          <a:xfrm>
            <a:off x="6217920" y="1335024"/>
            <a:ext cx="5029200" cy="256032"/>
          </a:xfrm>
          <a:prstGeom prst="rect">
            <a:avLst/>
          </a:prstGeom>
          <a:noFill/>
          <a:ln/>
        </p:spPr>
        <p:txBody>
          <a:bodyPr wrap="square" lIns="0" tIns="0" rIns="0" bIns="0" rtlCol="0" anchor="ctr"/>
          <a:lstStyle/>
          <a:p>
            <a:pPr indent="0" marL="0">
              <a:buNone/>
            </a:pPr>
            <a:r>
              <a:rPr lang="en-US" sz="1050" b="1" spc="200" kern="0" dirty="0">
                <a:solidFill>
                  <a:srgbClr val="1D8FD1"/>
                </a:solidFill>
                <a:latin typeface="Calibri" pitchFamily="34" charset="0"/>
                <a:ea typeface="Calibri" pitchFamily="34" charset="-122"/>
                <a:cs typeface="Calibri" pitchFamily="34" charset="-120"/>
              </a:rPr>
              <a:t>EXECUTIVE DASHBOARD</a:t>
            </a:r>
            <a:endParaRPr lang="en-US" sz="1050" dirty="0"/>
          </a:p>
        </p:txBody>
      </p:sp>
      <p:sp>
        <p:nvSpPr>
          <p:cNvPr id="11" name="Shape 9"/>
          <p:cNvSpPr/>
          <p:nvPr/>
        </p:nvSpPr>
        <p:spPr>
          <a:xfrm>
            <a:off x="6217920" y="1691640"/>
            <a:ext cx="2487168" cy="1417320"/>
          </a:xfrm>
          <a:prstGeom prst="roundRect">
            <a:avLst>
              <a:gd name="adj" fmla="val 4516"/>
            </a:avLst>
          </a:prstGeom>
          <a:solidFill>
            <a:srgbClr val="F6F8FA"/>
          </a:solidFill>
          <a:ln/>
          <a:effectLst>
            <a:outerShdw sx="100000" sy="100000" kx="0" ky="0" algn="bl" rotWithShape="0" blurRad="101600" dist="25400" dir="5400000">
              <a:srgbClr val="1A2B3C">
                <a:alpha val="10000"/>
              </a:srgbClr>
            </a:outerShdw>
          </a:effectLst>
        </p:spPr>
      </p:sp>
      <p:sp>
        <p:nvSpPr>
          <p:cNvPr id="12" name="Text 10"/>
          <p:cNvSpPr/>
          <p:nvPr/>
        </p:nvSpPr>
        <p:spPr>
          <a:xfrm>
            <a:off x="6400800" y="1801368"/>
            <a:ext cx="2121408" cy="502920"/>
          </a:xfrm>
          <a:prstGeom prst="rect">
            <a:avLst/>
          </a:prstGeom>
          <a:noFill/>
          <a:ln/>
        </p:spPr>
        <p:txBody>
          <a:bodyPr wrap="square" lIns="0" tIns="0" rIns="0" bIns="0" rtlCol="0" anchor="ctr"/>
          <a:lstStyle/>
          <a:p>
            <a:pPr indent="0" marL="0">
              <a:buNone/>
            </a:pPr>
            <a:r>
              <a:rPr lang="en-US" sz="2400" b="1" dirty="0">
                <a:solidFill>
                  <a:srgbClr val="1D8FD1"/>
                </a:solidFill>
                <a:latin typeface="Cambria" pitchFamily="34" charset="0"/>
                <a:ea typeface="Cambria" pitchFamily="34" charset="-122"/>
                <a:cs typeface="Cambria" pitchFamily="34" charset="-120"/>
              </a:rPr>
              <a:t>₹5,161 Cr</a:t>
            </a:r>
            <a:endParaRPr lang="en-US" sz="2400" dirty="0"/>
          </a:p>
        </p:txBody>
      </p:sp>
      <p:sp>
        <p:nvSpPr>
          <p:cNvPr id="13" name="Text 11"/>
          <p:cNvSpPr/>
          <p:nvPr/>
        </p:nvSpPr>
        <p:spPr>
          <a:xfrm>
            <a:off x="6400800" y="2313432"/>
            <a:ext cx="2121408" cy="365760"/>
          </a:xfrm>
          <a:prstGeom prst="rect">
            <a:avLst/>
          </a:prstGeom>
          <a:noFill/>
          <a:ln/>
        </p:spPr>
        <p:txBody>
          <a:bodyPr wrap="square" lIns="0" tIns="0" rIns="0" bIns="0" rtlCol="0" anchor="ctr"/>
          <a:lstStyle/>
          <a:p>
            <a:pPr indent="0" marL="0">
              <a:lnSpc>
                <a:spcPts val="1200"/>
              </a:lnSpc>
              <a:buNone/>
            </a:pPr>
            <a:r>
              <a:rPr lang="en-US" sz="1050" b="1" dirty="0">
                <a:solidFill>
                  <a:srgbClr val="0B2A4A"/>
                </a:solidFill>
                <a:latin typeface="Calibri" pitchFamily="34" charset="0"/>
                <a:ea typeface="Calibri" pitchFamily="34" charset="-122"/>
                <a:cs typeface="Calibri" pitchFamily="34" charset="-120"/>
              </a:rPr>
              <a:t>CJ Darcl FY25 Revenue</a:t>
            </a:r>
            <a:endParaRPr lang="en-US" sz="1050" dirty="0"/>
          </a:p>
        </p:txBody>
      </p:sp>
      <p:sp>
        <p:nvSpPr>
          <p:cNvPr id="14" name="Text 12"/>
          <p:cNvSpPr/>
          <p:nvPr/>
        </p:nvSpPr>
        <p:spPr>
          <a:xfrm>
            <a:off x="6400800" y="2679192"/>
            <a:ext cx="2121408" cy="365760"/>
          </a:xfrm>
          <a:prstGeom prst="rect">
            <a:avLst/>
          </a:prstGeom>
          <a:noFill/>
          <a:ln/>
        </p:spPr>
        <p:txBody>
          <a:bodyPr wrap="square" lIns="0" tIns="0" rIns="0" bIns="0" rtlCol="0" anchor="ctr"/>
          <a:lstStyle/>
          <a:p>
            <a:pPr indent="0" marL="0">
              <a:lnSpc>
                <a:spcPts val="1100"/>
              </a:lnSpc>
              <a:buNone/>
            </a:pPr>
            <a:r>
              <a:rPr lang="en-US" sz="880" i="1" dirty="0">
                <a:solidFill>
                  <a:srgbClr val="6B7684"/>
                </a:solidFill>
                <a:latin typeface="Calibri" pitchFamily="34" charset="0"/>
                <a:ea typeface="Calibri" pitchFamily="34" charset="-122"/>
                <a:cs typeface="Calibri" pitchFamily="34" charset="-120"/>
              </a:rPr>
              <a:t>up from ₹4,216 Cr in FY23</a:t>
            </a:r>
            <a:endParaRPr lang="en-US" sz="880" dirty="0"/>
          </a:p>
        </p:txBody>
      </p:sp>
      <p:sp>
        <p:nvSpPr>
          <p:cNvPr id="15" name="Shape 13"/>
          <p:cNvSpPr/>
          <p:nvPr/>
        </p:nvSpPr>
        <p:spPr>
          <a:xfrm>
            <a:off x="8887968" y="1691640"/>
            <a:ext cx="2487168" cy="1417320"/>
          </a:xfrm>
          <a:prstGeom prst="roundRect">
            <a:avLst>
              <a:gd name="adj" fmla="val 4516"/>
            </a:avLst>
          </a:prstGeom>
          <a:solidFill>
            <a:srgbClr val="F6F8FA"/>
          </a:solidFill>
          <a:ln/>
          <a:effectLst>
            <a:outerShdw sx="100000" sy="100000" kx="0" ky="0" algn="bl" rotWithShape="0" blurRad="101600" dist="25400" dir="5400000">
              <a:srgbClr val="1A2B3C">
                <a:alpha val="10000"/>
              </a:srgbClr>
            </a:outerShdw>
          </a:effectLst>
        </p:spPr>
      </p:sp>
      <p:sp>
        <p:nvSpPr>
          <p:cNvPr id="16" name="Text 14"/>
          <p:cNvSpPr/>
          <p:nvPr/>
        </p:nvSpPr>
        <p:spPr>
          <a:xfrm>
            <a:off x="9070848" y="1801368"/>
            <a:ext cx="2121408" cy="502920"/>
          </a:xfrm>
          <a:prstGeom prst="rect">
            <a:avLst/>
          </a:prstGeom>
          <a:noFill/>
          <a:ln/>
        </p:spPr>
        <p:txBody>
          <a:bodyPr wrap="square" lIns="0" tIns="0" rIns="0" bIns="0" rtlCol="0" anchor="ctr"/>
          <a:lstStyle/>
          <a:p>
            <a:pPr indent="0" marL="0">
              <a:buNone/>
            </a:pPr>
            <a:r>
              <a:rPr lang="en-US" sz="2400" b="1" dirty="0">
                <a:solidFill>
                  <a:srgbClr val="1D8FD1"/>
                </a:solidFill>
                <a:latin typeface="Cambria" pitchFamily="34" charset="0"/>
                <a:ea typeface="Cambria" pitchFamily="34" charset="-122"/>
                <a:cs typeface="Cambria" pitchFamily="34" charset="-120"/>
              </a:rPr>
              <a:t>5.20%</a:t>
            </a:r>
            <a:endParaRPr lang="en-US" sz="2400" dirty="0"/>
          </a:p>
        </p:txBody>
      </p:sp>
      <p:sp>
        <p:nvSpPr>
          <p:cNvPr id="17" name="Text 15"/>
          <p:cNvSpPr/>
          <p:nvPr/>
        </p:nvSpPr>
        <p:spPr>
          <a:xfrm>
            <a:off x="9070848" y="2313432"/>
            <a:ext cx="2121408" cy="365760"/>
          </a:xfrm>
          <a:prstGeom prst="rect">
            <a:avLst/>
          </a:prstGeom>
          <a:noFill/>
          <a:ln/>
        </p:spPr>
        <p:txBody>
          <a:bodyPr wrap="square" lIns="0" tIns="0" rIns="0" bIns="0" rtlCol="0" anchor="ctr"/>
          <a:lstStyle/>
          <a:p>
            <a:pPr indent="0" marL="0">
              <a:lnSpc>
                <a:spcPts val="1200"/>
              </a:lnSpc>
              <a:buNone/>
            </a:pPr>
            <a:r>
              <a:rPr lang="en-US" sz="1050" b="1" dirty="0">
                <a:solidFill>
                  <a:srgbClr val="0B2A4A"/>
                </a:solidFill>
                <a:latin typeface="Calibri" pitchFamily="34" charset="0"/>
                <a:ea typeface="Calibri" pitchFamily="34" charset="-122"/>
                <a:cs typeface="Calibri" pitchFamily="34" charset="-120"/>
              </a:rPr>
              <a:t>CJ Darcl FY25 EBITDA Margin</a:t>
            </a:r>
            <a:endParaRPr lang="en-US" sz="1050" dirty="0"/>
          </a:p>
        </p:txBody>
      </p:sp>
      <p:sp>
        <p:nvSpPr>
          <p:cNvPr id="18" name="Text 16"/>
          <p:cNvSpPr/>
          <p:nvPr/>
        </p:nvSpPr>
        <p:spPr>
          <a:xfrm>
            <a:off x="9070848" y="2679192"/>
            <a:ext cx="2121408" cy="365760"/>
          </a:xfrm>
          <a:prstGeom prst="rect">
            <a:avLst/>
          </a:prstGeom>
          <a:noFill/>
          <a:ln/>
        </p:spPr>
        <p:txBody>
          <a:bodyPr wrap="square" lIns="0" tIns="0" rIns="0" bIns="0" rtlCol="0" anchor="ctr"/>
          <a:lstStyle/>
          <a:p>
            <a:pPr indent="0" marL="0">
              <a:lnSpc>
                <a:spcPts val="1100"/>
              </a:lnSpc>
              <a:buNone/>
            </a:pPr>
            <a:r>
              <a:rPr lang="en-US" sz="880" i="1" dirty="0">
                <a:solidFill>
                  <a:srgbClr val="6B7684"/>
                </a:solidFill>
                <a:latin typeface="Calibri" pitchFamily="34" charset="0"/>
                <a:ea typeface="Calibri" pitchFamily="34" charset="-122"/>
                <a:cs typeface="Calibri" pitchFamily="34" charset="-120"/>
              </a:rPr>
              <a:t>up from 4.38% in FY23</a:t>
            </a:r>
            <a:endParaRPr lang="en-US" sz="880" dirty="0"/>
          </a:p>
        </p:txBody>
      </p:sp>
      <p:sp>
        <p:nvSpPr>
          <p:cNvPr id="19" name="Shape 17"/>
          <p:cNvSpPr/>
          <p:nvPr/>
        </p:nvSpPr>
        <p:spPr>
          <a:xfrm>
            <a:off x="6217920" y="3291840"/>
            <a:ext cx="2487168" cy="1417320"/>
          </a:xfrm>
          <a:prstGeom prst="roundRect">
            <a:avLst>
              <a:gd name="adj" fmla="val 4516"/>
            </a:avLst>
          </a:prstGeom>
          <a:solidFill>
            <a:srgbClr val="F6F8FA"/>
          </a:solidFill>
          <a:ln/>
          <a:effectLst>
            <a:outerShdw sx="100000" sy="100000" kx="0" ky="0" algn="bl" rotWithShape="0" blurRad="101600" dist="25400" dir="5400000">
              <a:srgbClr val="1A2B3C">
                <a:alpha val="10000"/>
              </a:srgbClr>
            </a:outerShdw>
          </a:effectLst>
        </p:spPr>
      </p:sp>
      <p:sp>
        <p:nvSpPr>
          <p:cNvPr id="20" name="Text 18"/>
          <p:cNvSpPr/>
          <p:nvPr/>
        </p:nvSpPr>
        <p:spPr>
          <a:xfrm>
            <a:off x="6400800" y="3401568"/>
            <a:ext cx="2121408" cy="502920"/>
          </a:xfrm>
          <a:prstGeom prst="rect">
            <a:avLst/>
          </a:prstGeom>
          <a:noFill/>
          <a:ln/>
        </p:spPr>
        <p:txBody>
          <a:bodyPr wrap="square" lIns="0" tIns="0" rIns="0" bIns="0" rtlCol="0" anchor="ctr"/>
          <a:lstStyle/>
          <a:p>
            <a:pPr indent="0" marL="0">
              <a:buNone/>
            </a:pPr>
            <a:r>
              <a:rPr lang="en-US" sz="2400" b="1" dirty="0">
                <a:solidFill>
                  <a:srgbClr val="1D8FD1"/>
                </a:solidFill>
                <a:latin typeface="Cambria" pitchFamily="34" charset="0"/>
                <a:ea typeface="Cambria" pitchFamily="34" charset="-122"/>
                <a:cs typeface="Cambria" pitchFamily="34" charset="-120"/>
              </a:rPr>
              <a:t>202</a:t>
            </a:r>
            <a:endParaRPr lang="en-US" sz="2400" dirty="0"/>
          </a:p>
        </p:txBody>
      </p:sp>
      <p:sp>
        <p:nvSpPr>
          <p:cNvPr id="21" name="Text 19"/>
          <p:cNvSpPr/>
          <p:nvPr/>
        </p:nvSpPr>
        <p:spPr>
          <a:xfrm>
            <a:off x="6400800" y="3913632"/>
            <a:ext cx="2121408" cy="365760"/>
          </a:xfrm>
          <a:prstGeom prst="rect">
            <a:avLst/>
          </a:prstGeom>
          <a:noFill/>
          <a:ln/>
        </p:spPr>
        <p:txBody>
          <a:bodyPr wrap="square" lIns="0" tIns="0" rIns="0" bIns="0" rtlCol="0" anchor="ctr"/>
          <a:lstStyle/>
          <a:p>
            <a:pPr indent="0" marL="0">
              <a:lnSpc>
                <a:spcPts val="1200"/>
              </a:lnSpc>
              <a:buNone/>
            </a:pPr>
            <a:r>
              <a:rPr lang="en-US" sz="1050" b="1" dirty="0">
                <a:solidFill>
                  <a:srgbClr val="0B2A4A"/>
                </a:solidFill>
                <a:latin typeface="Calibri" pitchFamily="34" charset="0"/>
                <a:ea typeface="Calibri" pitchFamily="34" charset="-122"/>
                <a:cs typeface="Calibri" pitchFamily="34" charset="-120"/>
              </a:rPr>
              <a:t>Branch Offices / 6,691 Locations</a:t>
            </a:r>
            <a:endParaRPr lang="en-US" sz="1050" dirty="0"/>
          </a:p>
        </p:txBody>
      </p:sp>
      <p:sp>
        <p:nvSpPr>
          <p:cNvPr id="22" name="Text 20"/>
          <p:cNvSpPr/>
          <p:nvPr/>
        </p:nvSpPr>
        <p:spPr>
          <a:xfrm>
            <a:off x="6400800" y="4279392"/>
            <a:ext cx="2121408" cy="365760"/>
          </a:xfrm>
          <a:prstGeom prst="rect">
            <a:avLst/>
          </a:prstGeom>
          <a:noFill/>
          <a:ln/>
        </p:spPr>
        <p:txBody>
          <a:bodyPr wrap="square" lIns="0" tIns="0" rIns="0" bIns="0" rtlCol="0" anchor="ctr"/>
          <a:lstStyle/>
          <a:p>
            <a:pPr indent="0" marL="0">
              <a:lnSpc>
                <a:spcPts val="1100"/>
              </a:lnSpc>
              <a:buNone/>
            </a:pPr>
            <a:r>
              <a:rPr lang="en-US" sz="880" i="1" dirty="0">
                <a:solidFill>
                  <a:srgbClr val="6B7684"/>
                </a:solidFill>
                <a:latin typeface="Calibri" pitchFamily="34" charset="0"/>
                <a:ea typeface="Calibri" pitchFamily="34" charset="-122"/>
                <a:cs typeface="Calibri" pitchFamily="34" charset="-120"/>
              </a:rPr>
              <a:t>pan-India network, Mar 2025</a:t>
            </a:r>
            <a:endParaRPr lang="en-US" sz="880" dirty="0"/>
          </a:p>
        </p:txBody>
      </p:sp>
      <p:sp>
        <p:nvSpPr>
          <p:cNvPr id="23" name="Shape 21"/>
          <p:cNvSpPr/>
          <p:nvPr/>
        </p:nvSpPr>
        <p:spPr>
          <a:xfrm>
            <a:off x="8887968" y="3291840"/>
            <a:ext cx="2487168" cy="1417320"/>
          </a:xfrm>
          <a:prstGeom prst="roundRect">
            <a:avLst>
              <a:gd name="adj" fmla="val 4516"/>
            </a:avLst>
          </a:prstGeom>
          <a:solidFill>
            <a:srgbClr val="F6F8FA"/>
          </a:solidFill>
          <a:ln/>
          <a:effectLst>
            <a:outerShdw sx="100000" sy="100000" kx="0" ky="0" algn="bl" rotWithShape="0" blurRad="101600" dist="25400" dir="5400000">
              <a:srgbClr val="1A2B3C">
                <a:alpha val="10000"/>
              </a:srgbClr>
            </a:outerShdw>
          </a:effectLst>
        </p:spPr>
      </p:sp>
      <p:sp>
        <p:nvSpPr>
          <p:cNvPr id="24" name="Text 22"/>
          <p:cNvSpPr/>
          <p:nvPr/>
        </p:nvSpPr>
        <p:spPr>
          <a:xfrm>
            <a:off x="9070848" y="3401568"/>
            <a:ext cx="2121408" cy="502920"/>
          </a:xfrm>
          <a:prstGeom prst="rect">
            <a:avLst/>
          </a:prstGeom>
          <a:noFill/>
          <a:ln/>
        </p:spPr>
        <p:txBody>
          <a:bodyPr wrap="square" lIns="0" tIns="0" rIns="0" bIns="0" rtlCol="0" anchor="ctr"/>
          <a:lstStyle/>
          <a:p>
            <a:pPr indent="0" marL="0">
              <a:buNone/>
            </a:pPr>
            <a:r>
              <a:rPr lang="en-US" sz="2400" b="1" dirty="0">
                <a:solidFill>
                  <a:srgbClr val="1D8FD1"/>
                </a:solidFill>
                <a:latin typeface="Cambria" pitchFamily="34" charset="0"/>
                <a:ea typeface="Cambria" pitchFamily="34" charset="-122"/>
                <a:cs typeface="Cambria" pitchFamily="34" charset="-120"/>
              </a:rPr>
              <a:t>9.5L+</a:t>
            </a:r>
            <a:endParaRPr lang="en-US" sz="2400" dirty="0"/>
          </a:p>
        </p:txBody>
      </p:sp>
      <p:sp>
        <p:nvSpPr>
          <p:cNvPr id="25" name="Text 23"/>
          <p:cNvSpPr/>
          <p:nvPr/>
        </p:nvSpPr>
        <p:spPr>
          <a:xfrm>
            <a:off x="9070848" y="3913632"/>
            <a:ext cx="2121408" cy="365760"/>
          </a:xfrm>
          <a:prstGeom prst="rect">
            <a:avLst/>
          </a:prstGeom>
          <a:noFill/>
          <a:ln/>
        </p:spPr>
        <p:txBody>
          <a:bodyPr wrap="square" lIns="0" tIns="0" rIns="0" bIns="0" rtlCol="0" anchor="ctr"/>
          <a:lstStyle/>
          <a:p>
            <a:pPr indent="0" marL="0">
              <a:lnSpc>
                <a:spcPts val="1200"/>
              </a:lnSpc>
              <a:buNone/>
            </a:pPr>
            <a:r>
              <a:rPr lang="en-US" sz="1050" b="1" dirty="0">
                <a:solidFill>
                  <a:srgbClr val="0B2A4A"/>
                </a:solidFill>
                <a:latin typeface="Calibri" pitchFamily="34" charset="0"/>
                <a:ea typeface="Calibri" pitchFamily="34" charset="-122"/>
                <a:cs typeface="Calibri" pitchFamily="34" charset="-120"/>
              </a:rPr>
              <a:t>Partnered Fleet Vehicles</a:t>
            </a:r>
            <a:endParaRPr lang="en-US" sz="1050" dirty="0"/>
          </a:p>
        </p:txBody>
      </p:sp>
      <p:sp>
        <p:nvSpPr>
          <p:cNvPr id="26" name="Text 24"/>
          <p:cNvSpPr/>
          <p:nvPr/>
        </p:nvSpPr>
        <p:spPr>
          <a:xfrm>
            <a:off x="9070848" y="4279392"/>
            <a:ext cx="2121408" cy="365760"/>
          </a:xfrm>
          <a:prstGeom prst="rect">
            <a:avLst/>
          </a:prstGeom>
          <a:noFill/>
          <a:ln/>
        </p:spPr>
        <p:txBody>
          <a:bodyPr wrap="square" lIns="0" tIns="0" rIns="0" bIns="0" rtlCol="0" anchor="ctr"/>
          <a:lstStyle/>
          <a:p>
            <a:pPr indent="0" marL="0">
              <a:lnSpc>
                <a:spcPts val="1100"/>
              </a:lnSpc>
              <a:buNone/>
            </a:pPr>
            <a:r>
              <a:rPr lang="en-US" sz="880" i="1" dirty="0">
                <a:solidFill>
                  <a:srgbClr val="6B7684"/>
                </a:solidFill>
                <a:latin typeface="Calibri" pitchFamily="34" charset="0"/>
                <a:ea typeface="Calibri" pitchFamily="34" charset="-122"/>
                <a:cs typeface="Calibri" pitchFamily="34" charset="-120"/>
              </a:rPr>
              <a:t>asset-right operating model</a:t>
            </a:r>
            <a:endParaRPr lang="en-US" sz="880" dirty="0"/>
          </a:p>
        </p:txBody>
      </p:sp>
      <p:sp>
        <p:nvSpPr>
          <p:cNvPr id="27" name="Text 25"/>
          <p:cNvSpPr/>
          <p:nvPr/>
        </p:nvSpPr>
        <p:spPr>
          <a:xfrm>
            <a:off x="548640" y="6473952"/>
            <a:ext cx="9875520" cy="274320"/>
          </a:xfrm>
          <a:prstGeom prst="rect">
            <a:avLst/>
          </a:prstGeom>
          <a:noFill/>
          <a:ln/>
        </p:spPr>
        <p:txBody>
          <a:bodyPr wrap="square" lIns="0" tIns="0" rIns="0" bIns="0" rtlCol="0" anchor="ctr"/>
          <a:lstStyle/>
          <a:p>
            <a:pPr indent="0" marL="0">
              <a:buNone/>
            </a:pPr>
            <a:r>
              <a:rPr lang="en-US" sz="780" i="1" dirty="0">
                <a:solidFill>
                  <a:srgbClr val="6B7684"/>
                </a:solidFill>
                <a:latin typeface="Calibri" pitchFamily="34" charset="0"/>
                <a:ea typeface="Calibri" pitchFamily="34" charset="-122"/>
                <a:cs typeface="Calibri" pitchFamily="34" charset="-120"/>
              </a:rPr>
              <a:t>Source: CJ Darcl DRHP (SEBI, Sep 2025); CRISIL Intelligence Industry Report; CJ Darcl company disclosures.</a:t>
            </a:r>
            <a:endParaRPr lang="en-US" sz="780" dirty="0"/>
          </a:p>
        </p:txBody>
      </p:sp>
      <p:sp>
        <p:nvSpPr>
          <p:cNvPr id="28" name="Text 26"/>
          <p:cNvSpPr/>
          <p:nvPr/>
        </p:nvSpPr>
        <p:spPr>
          <a:xfrm>
            <a:off x="11414455" y="6473952"/>
            <a:ext cx="45720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50" b="1" spc="200" kern="0" dirty="0">
                <a:solidFill>
                  <a:srgbClr val="1D8FD1"/>
                </a:solidFill>
                <a:latin typeface="Calibri" pitchFamily="34" charset="0"/>
                <a:ea typeface="Calibri" pitchFamily="34" charset="-122"/>
                <a:cs typeface="Calibri" pitchFamily="34" charset="-120"/>
              </a:rPr>
              <a:t>PROJECT SCOPE</a:t>
            </a:r>
            <a:endParaRPr lang="en-US" sz="1050" dirty="0"/>
          </a:p>
        </p:txBody>
      </p:sp>
      <p:sp>
        <p:nvSpPr>
          <p:cNvPr id="3" name="Text 1"/>
          <p:cNvSpPr/>
          <p:nvPr/>
        </p:nvSpPr>
        <p:spPr>
          <a:xfrm>
            <a:off x="548640" y="530352"/>
            <a:ext cx="10607040" cy="548640"/>
          </a:xfrm>
          <a:prstGeom prst="rect">
            <a:avLst/>
          </a:prstGeom>
          <a:noFill/>
          <a:ln/>
        </p:spPr>
        <p:txBody>
          <a:bodyPr wrap="square" lIns="0" tIns="0" rIns="0" bIns="0" rtlCol="0" anchor="ctr"/>
          <a:lstStyle/>
          <a:p>
            <a:pPr indent="0" marL="0">
              <a:buNone/>
            </a:pPr>
            <a:r>
              <a:rPr lang="en-US" sz="2500" b="1" dirty="0">
                <a:solidFill>
                  <a:srgbClr val="0B2A4A"/>
                </a:solidFill>
                <a:latin typeface="Cambria" pitchFamily="34" charset="0"/>
                <a:ea typeface="Cambria" pitchFamily="34" charset="-122"/>
                <a:cs typeface="Cambria" pitchFamily="34" charset="-120"/>
              </a:rPr>
              <a:t>Project Scope &amp; Key Questions</a:t>
            </a:r>
            <a:endParaRPr lang="en-US" sz="2500" dirty="0"/>
          </a:p>
        </p:txBody>
      </p:sp>
      <p:sp>
        <p:nvSpPr>
          <p:cNvPr id="4" name="Text 2"/>
          <p:cNvSpPr/>
          <p:nvPr/>
        </p:nvSpPr>
        <p:spPr>
          <a:xfrm>
            <a:off x="548640" y="1234440"/>
            <a:ext cx="11064240" cy="502920"/>
          </a:xfrm>
          <a:prstGeom prst="rect">
            <a:avLst/>
          </a:prstGeom>
          <a:noFill/>
          <a:ln/>
        </p:spPr>
        <p:txBody>
          <a:bodyPr wrap="square" lIns="0" tIns="0" rIns="0" bIns="0" rtlCol="0" anchor="ctr"/>
          <a:lstStyle/>
          <a:p>
            <a:pPr indent="0" marL="0">
              <a:lnSpc>
                <a:spcPts val="1500"/>
              </a:lnSpc>
              <a:buNone/>
            </a:pPr>
            <a:r>
              <a:rPr lang="en-US" sz="1200" i="1" dirty="0">
                <a:solidFill>
                  <a:srgbClr val="3D4652"/>
                </a:solidFill>
                <a:latin typeface="Calibri" pitchFamily="34" charset="0"/>
                <a:ea typeface="Calibri" pitchFamily="34" charset="-122"/>
                <a:cs typeface="Calibri" pitchFamily="34" charset="-120"/>
              </a:rPr>
              <a:t>Assess the FTL competitive landscape in India, identify CJ Darcl's true competitors, evaluate their financial performance, operating models, strengths and weaknesses — and determine where CJ Darcl is exposed and where it can win.</a:t>
            </a:r>
            <a:endParaRPr lang="en-US" sz="1200" dirty="0"/>
          </a:p>
        </p:txBody>
      </p:sp>
      <p:sp>
        <p:nvSpPr>
          <p:cNvPr id="5" name="Shape 3"/>
          <p:cNvSpPr/>
          <p:nvPr/>
        </p:nvSpPr>
        <p:spPr>
          <a:xfrm>
            <a:off x="2103120" y="2331720"/>
            <a:ext cx="2743200" cy="914400"/>
          </a:xfrm>
          <a:prstGeom prst="roundRect">
            <a:avLst>
              <a:gd name="adj" fmla="val 9000"/>
            </a:avLst>
          </a:prstGeom>
          <a:solidFill>
            <a:srgbClr val="0B2A4A"/>
          </a:solidFill>
          <a:ln/>
          <a:effectLst>
            <a:outerShdw sx="100000" sy="100000" kx="0" ky="0" algn="bl" rotWithShape="0" blurRad="101600" dist="25400" dir="5400000">
              <a:srgbClr val="1A2B3C">
                <a:alpha val="10000"/>
              </a:srgbClr>
            </a:outerShdw>
          </a:effectLst>
        </p:spPr>
      </p:sp>
      <p:sp>
        <p:nvSpPr>
          <p:cNvPr id="6" name="Text 4"/>
          <p:cNvSpPr/>
          <p:nvPr/>
        </p:nvSpPr>
        <p:spPr>
          <a:xfrm>
            <a:off x="2240280" y="2441448"/>
            <a:ext cx="2468880" cy="694944"/>
          </a:xfrm>
          <a:prstGeom prst="rect">
            <a:avLst/>
          </a:prstGeom>
          <a:noFill/>
          <a:ln/>
        </p:spPr>
        <p:txBody>
          <a:bodyPr wrap="square" lIns="0" tIns="0" rIns="0" bIns="0" rtlCol="0" anchor="ctr"/>
          <a:lstStyle/>
          <a:p>
            <a:pPr algn="ctr" indent="0" marL="0">
              <a:lnSpc>
                <a:spcPts val="1700"/>
              </a:lnSpc>
              <a:buNone/>
            </a:pPr>
            <a:r>
              <a:rPr lang="en-US" sz="1400" b="1" dirty="0">
                <a:solidFill>
                  <a:srgbClr val="FFFFFF"/>
                </a:solidFill>
                <a:latin typeface="Cambria" pitchFamily="34" charset="0"/>
                <a:ea typeface="Cambria" pitchFamily="34" charset="-122"/>
                <a:cs typeface="Cambria" pitchFamily="34" charset="-120"/>
              </a:rPr>
              <a:t>CJ Darcl FTL</a:t>
            </a:r>
            <a:endParaRPr lang="en-US" sz="1400" dirty="0"/>
          </a:p>
          <a:p>
            <a:pPr algn="ctr" indent="0" marL="0">
              <a:lnSpc>
                <a:spcPts val="1700"/>
              </a:lnSpc>
              <a:buNone/>
            </a:pPr>
            <a:r>
              <a:rPr lang="en-US" sz="1400" b="1" dirty="0">
                <a:solidFill>
                  <a:srgbClr val="FFFFFF"/>
                </a:solidFill>
                <a:latin typeface="Cambria" pitchFamily="34" charset="0"/>
                <a:ea typeface="Cambria" pitchFamily="34" charset="-122"/>
                <a:cs typeface="Cambria" pitchFamily="34" charset="-120"/>
              </a:rPr>
              <a:t>Competitive Assessment</a:t>
            </a:r>
            <a:endParaRPr lang="en-US" sz="1400" dirty="0"/>
          </a:p>
        </p:txBody>
      </p:sp>
      <p:sp>
        <p:nvSpPr>
          <p:cNvPr id="7" name="Shape 5"/>
          <p:cNvSpPr/>
          <p:nvPr/>
        </p:nvSpPr>
        <p:spPr>
          <a:xfrm>
            <a:off x="4846320" y="2788920"/>
            <a:ext cx="457200" cy="0"/>
          </a:xfrm>
          <a:prstGeom prst="line">
            <a:avLst/>
          </a:prstGeom>
          <a:noFill/>
          <a:ln w="19050">
            <a:solidFill>
              <a:srgbClr val="E3E7EC"/>
            </a:solidFill>
            <a:prstDash val="solid"/>
          </a:ln>
        </p:spPr>
      </p:sp>
      <p:sp>
        <p:nvSpPr>
          <p:cNvPr id="8" name="Shape 6"/>
          <p:cNvSpPr/>
          <p:nvPr/>
        </p:nvSpPr>
        <p:spPr>
          <a:xfrm>
            <a:off x="5303520" y="1700784"/>
            <a:ext cx="0" cy="3401568"/>
          </a:xfrm>
          <a:prstGeom prst="line">
            <a:avLst/>
          </a:prstGeom>
          <a:noFill/>
          <a:ln w="19050">
            <a:solidFill>
              <a:srgbClr val="E3E7EC"/>
            </a:solidFill>
            <a:prstDash val="solid"/>
          </a:ln>
        </p:spPr>
      </p:sp>
      <p:sp>
        <p:nvSpPr>
          <p:cNvPr id="9" name="Shape 7"/>
          <p:cNvSpPr/>
          <p:nvPr/>
        </p:nvSpPr>
        <p:spPr>
          <a:xfrm>
            <a:off x="5303520" y="1700784"/>
            <a:ext cx="365760" cy="0"/>
          </a:xfrm>
          <a:prstGeom prst="line">
            <a:avLst/>
          </a:prstGeom>
          <a:noFill/>
          <a:ln w="19050">
            <a:solidFill>
              <a:srgbClr val="E3E7EC"/>
            </a:solidFill>
            <a:prstDash val="solid"/>
          </a:ln>
        </p:spPr>
      </p:sp>
      <p:sp>
        <p:nvSpPr>
          <p:cNvPr id="10" name="Shape 8"/>
          <p:cNvSpPr/>
          <p:nvPr/>
        </p:nvSpPr>
        <p:spPr>
          <a:xfrm>
            <a:off x="5669280" y="1527048"/>
            <a:ext cx="347472" cy="347472"/>
          </a:xfrm>
          <a:prstGeom prst="ellipse">
            <a:avLst/>
          </a:prstGeom>
          <a:solidFill>
            <a:srgbClr val="F6F8FA"/>
          </a:solidFill>
          <a:ln w="12700">
            <a:solidFill>
              <a:srgbClr val="E3E7EC"/>
            </a:solidFill>
            <a:prstDash val="solid"/>
          </a:ln>
        </p:spPr>
      </p:sp>
      <p:pic>
        <p:nvPicPr>
          <p:cNvPr id="11" name="Image 0" descr="preencoded.png">    </p:cNvPr>
          <p:cNvPicPr>
            <a:picLocks noChangeAspect="1"/>
          </p:cNvPicPr>
          <p:nvPr/>
        </p:nvPicPr>
        <p:blipFill>
          <a:blip r:embed="rId1"/>
          <a:stretch>
            <a:fillRect/>
          </a:stretch>
        </p:blipFill>
        <p:spPr>
          <a:xfrm>
            <a:off x="5742432" y="1600200"/>
            <a:ext cx="201168" cy="201168"/>
          </a:xfrm>
          <a:prstGeom prst="rect">
            <a:avLst/>
          </a:prstGeom>
        </p:spPr>
      </p:pic>
      <p:sp>
        <p:nvSpPr>
          <p:cNvPr id="12" name="Text 9"/>
          <p:cNvSpPr/>
          <p:nvPr/>
        </p:nvSpPr>
        <p:spPr>
          <a:xfrm>
            <a:off x="6144768" y="1517904"/>
            <a:ext cx="4617720" cy="365760"/>
          </a:xfrm>
          <a:prstGeom prst="rect">
            <a:avLst/>
          </a:prstGeom>
          <a:noFill/>
          <a:ln/>
        </p:spPr>
        <p:txBody>
          <a:bodyPr wrap="square" lIns="0" tIns="0" rIns="0" bIns="0" rtlCol="0" anchor="ctr"/>
          <a:lstStyle/>
          <a:p>
            <a:pPr indent="0" marL="0">
              <a:buNone/>
            </a:pPr>
            <a:r>
              <a:rPr lang="en-US" sz="1250" b="1" dirty="0">
                <a:solidFill>
                  <a:srgbClr val="0B2A4A"/>
                </a:solidFill>
                <a:latin typeface="Calibri" pitchFamily="34" charset="0"/>
                <a:ea typeface="Calibri" pitchFamily="34" charset="-122"/>
                <a:cs typeface="Calibri" pitchFamily="34" charset="-120"/>
              </a:rPr>
              <a:t>1.  Who are CJ Darcl's true FTL competitors?</a:t>
            </a:r>
            <a:endParaRPr lang="en-US" sz="1250" dirty="0"/>
          </a:p>
        </p:txBody>
      </p:sp>
      <p:sp>
        <p:nvSpPr>
          <p:cNvPr id="13" name="Shape 10"/>
          <p:cNvSpPr/>
          <p:nvPr/>
        </p:nvSpPr>
        <p:spPr>
          <a:xfrm>
            <a:off x="5303520" y="2267712"/>
            <a:ext cx="365760" cy="0"/>
          </a:xfrm>
          <a:prstGeom prst="line">
            <a:avLst/>
          </a:prstGeom>
          <a:noFill/>
          <a:ln w="19050">
            <a:solidFill>
              <a:srgbClr val="E3E7EC"/>
            </a:solidFill>
            <a:prstDash val="solid"/>
          </a:ln>
        </p:spPr>
      </p:sp>
      <p:sp>
        <p:nvSpPr>
          <p:cNvPr id="14" name="Shape 11"/>
          <p:cNvSpPr/>
          <p:nvPr/>
        </p:nvSpPr>
        <p:spPr>
          <a:xfrm>
            <a:off x="5669280" y="2093976"/>
            <a:ext cx="347472" cy="347472"/>
          </a:xfrm>
          <a:prstGeom prst="ellipse">
            <a:avLst/>
          </a:prstGeom>
          <a:solidFill>
            <a:srgbClr val="F6F8FA"/>
          </a:solidFill>
          <a:ln w="12700">
            <a:solidFill>
              <a:srgbClr val="E3E7EC"/>
            </a:solidFill>
            <a:prstDash val="solid"/>
          </a:ln>
        </p:spPr>
      </p:sp>
      <p:pic>
        <p:nvPicPr>
          <p:cNvPr id="15" name="Image 1" descr="preencoded.png">    </p:cNvPr>
          <p:cNvPicPr>
            <a:picLocks noChangeAspect="1"/>
          </p:cNvPicPr>
          <p:nvPr/>
        </p:nvPicPr>
        <p:blipFill>
          <a:blip r:embed="rId2"/>
          <a:stretch>
            <a:fillRect/>
          </a:stretch>
        </p:blipFill>
        <p:spPr>
          <a:xfrm>
            <a:off x="5742432" y="2167128"/>
            <a:ext cx="201168" cy="201168"/>
          </a:xfrm>
          <a:prstGeom prst="rect">
            <a:avLst/>
          </a:prstGeom>
        </p:spPr>
      </p:pic>
      <p:sp>
        <p:nvSpPr>
          <p:cNvPr id="16" name="Text 12"/>
          <p:cNvSpPr/>
          <p:nvPr/>
        </p:nvSpPr>
        <p:spPr>
          <a:xfrm>
            <a:off x="6144768" y="2084832"/>
            <a:ext cx="4617720" cy="365760"/>
          </a:xfrm>
          <a:prstGeom prst="rect">
            <a:avLst/>
          </a:prstGeom>
          <a:noFill/>
          <a:ln/>
        </p:spPr>
        <p:txBody>
          <a:bodyPr wrap="square" lIns="0" tIns="0" rIns="0" bIns="0" rtlCol="0" anchor="ctr"/>
          <a:lstStyle/>
          <a:p>
            <a:pPr indent="0" marL="0">
              <a:buNone/>
            </a:pPr>
            <a:r>
              <a:rPr lang="en-US" sz="1250" b="1" dirty="0">
                <a:solidFill>
                  <a:srgbClr val="0B2A4A"/>
                </a:solidFill>
                <a:latin typeface="Calibri" pitchFamily="34" charset="0"/>
                <a:ea typeface="Calibri" pitchFamily="34" charset="-122"/>
                <a:cs typeface="Calibri" pitchFamily="34" charset="-120"/>
              </a:rPr>
              <a:t>2.  How do they win business?</a:t>
            </a:r>
            <a:endParaRPr lang="en-US" sz="1250" dirty="0"/>
          </a:p>
        </p:txBody>
      </p:sp>
      <p:sp>
        <p:nvSpPr>
          <p:cNvPr id="17" name="Shape 13"/>
          <p:cNvSpPr/>
          <p:nvPr/>
        </p:nvSpPr>
        <p:spPr>
          <a:xfrm>
            <a:off x="5303520" y="2834640"/>
            <a:ext cx="365760" cy="0"/>
          </a:xfrm>
          <a:prstGeom prst="line">
            <a:avLst/>
          </a:prstGeom>
          <a:noFill/>
          <a:ln w="19050">
            <a:solidFill>
              <a:srgbClr val="E3E7EC"/>
            </a:solidFill>
            <a:prstDash val="solid"/>
          </a:ln>
        </p:spPr>
      </p:sp>
      <p:sp>
        <p:nvSpPr>
          <p:cNvPr id="18" name="Shape 14"/>
          <p:cNvSpPr/>
          <p:nvPr/>
        </p:nvSpPr>
        <p:spPr>
          <a:xfrm>
            <a:off x="5669280" y="2660904"/>
            <a:ext cx="347472" cy="347472"/>
          </a:xfrm>
          <a:prstGeom prst="ellipse">
            <a:avLst/>
          </a:prstGeom>
          <a:solidFill>
            <a:srgbClr val="F6F8FA"/>
          </a:solidFill>
          <a:ln w="12700">
            <a:solidFill>
              <a:srgbClr val="E3E7EC"/>
            </a:solidFill>
            <a:prstDash val="solid"/>
          </a:ln>
        </p:spPr>
      </p:sp>
      <p:pic>
        <p:nvPicPr>
          <p:cNvPr id="19" name="Image 2" descr="preencoded.png">    </p:cNvPr>
          <p:cNvPicPr>
            <a:picLocks noChangeAspect="1"/>
          </p:cNvPicPr>
          <p:nvPr/>
        </p:nvPicPr>
        <p:blipFill>
          <a:blip r:embed="rId3"/>
          <a:stretch>
            <a:fillRect/>
          </a:stretch>
        </p:blipFill>
        <p:spPr>
          <a:xfrm>
            <a:off x="5742432" y="2734056"/>
            <a:ext cx="201168" cy="201168"/>
          </a:xfrm>
          <a:prstGeom prst="rect">
            <a:avLst/>
          </a:prstGeom>
        </p:spPr>
      </p:pic>
      <p:sp>
        <p:nvSpPr>
          <p:cNvPr id="20" name="Text 15"/>
          <p:cNvSpPr/>
          <p:nvPr/>
        </p:nvSpPr>
        <p:spPr>
          <a:xfrm>
            <a:off x="6144768" y="2651760"/>
            <a:ext cx="4617720" cy="365760"/>
          </a:xfrm>
          <a:prstGeom prst="rect">
            <a:avLst/>
          </a:prstGeom>
          <a:noFill/>
          <a:ln/>
        </p:spPr>
        <p:txBody>
          <a:bodyPr wrap="square" lIns="0" tIns="0" rIns="0" bIns="0" rtlCol="0" anchor="ctr"/>
          <a:lstStyle/>
          <a:p>
            <a:pPr indent="0" marL="0">
              <a:buNone/>
            </a:pPr>
            <a:r>
              <a:rPr lang="en-US" sz="1250" b="1" dirty="0">
                <a:solidFill>
                  <a:srgbClr val="0B2A4A"/>
                </a:solidFill>
                <a:latin typeface="Calibri" pitchFamily="34" charset="0"/>
                <a:ea typeface="Calibri" pitchFamily="34" charset="-122"/>
                <a:cs typeface="Calibri" pitchFamily="34" charset="-120"/>
              </a:rPr>
              <a:t>3.  How are they performing financially?</a:t>
            </a:r>
            <a:endParaRPr lang="en-US" sz="1250" dirty="0"/>
          </a:p>
        </p:txBody>
      </p:sp>
      <p:sp>
        <p:nvSpPr>
          <p:cNvPr id="21" name="Shape 16"/>
          <p:cNvSpPr/>
          <p:nvPr/>
        </p:nvSpPr>
        <p:spPr>
          <a:xfrm>
            <a:off x="5303520" y="3401568"/>
            <a:ext cx="365760" cy="0"/>
          </a:xfrm>
          <a:prstGeom prst="line">
            <a:avLst/>
          </a:prstGeom>
          <a:noFill/>
          <a:ln w="19050">
            <a:solidFill>
              <a:srgbClr val="E3E7EC"/>
            </a:solidFill>
            <a:prstDash val="solid"/>
          </a:ln>
        </p:spPr>
      </p:sp>
      <p:sp>
        <p:nvSpPr>
          <p:cNvPr id="22" name="Shape 17"/>
          <p:cNvSpPr/>
          <p:nvPr/>
        </p:nvSpPr>
        <p:spPr>
          <a:xfrm>
            <a:off x="5669280" y="3227832"/>
            <a:ext cx="347472" cy="347472"/>
          </a:xfrm>
          <a:prstGeom prst="ellipse">
            <a:avLst/>
          </a:prstGeom>
          <a:solidFill>
            <a:srgbClr val="F6F8FA"/>
          </a:solidFill>
          <a:ln w="12700">
            <a:solidFill>
              <a:srgbClr val="E3E7EC"/>
            </a:solidFill>
            <a:prstDash val="solid"/>
          </a:ln>
        </p:spPr>
      </p:sp>
      <p:pic>
        <p:nvPicPr>
          <p:cNvPr id="23" name="Image 3" descr="preencoded.png">    </p:cNvPr>
          <p:cNvPicPr>
            <a:picLocks noChangeAspect="1"/>
          </p:cNvPicPr>
          <p:nvPr/>
        </p:nvPicPr>
        <p:blipFill>
          <a:blip r:embed="rId4"/>
          <a:stretch>
            <a:fillRect/>
          </a:stretch>
        </p:blipFill>
        <p:spPr>
          <a:xfrm>
            <a:off x="5742432" y="3300984"/>
            <a:ext cx="201168" cy="201168"/>
          </a:xfrm>
          <a:prstGeom prst="rect">
            <a:avLst/>
          </a:prstGeom>
        </p:spPr>
      </p:pic>
      <p:sp>
        <p:nvSpPr>
          <p:cNvPr id="24" name="Text 18"/>
          <p:cNvSpPr/>
          <p:nvPr/>
        </p:nvSpPr>
        <p:spPr>
          <a:xfrm>
            <a:off x="6144768" y="3218688"/>
            <a:ext cx="4617720" cy="365760"/>
          </a:xfrm>
          <a:prstGeom prst="rect">
            <a:avLst/>
          </a:prstGeom>
          <a:noFill/>
          <a:ln/>
        </p:spPr>
        <p:txBody>
          <a:bodyPr wrap="square" lIns="0" tIns="0" rIns="0" bIns="0" rtlCol="0" anchor="ctr"/>
          <a:lstStyle/>
          <a:p>
            <a:pPr indent="0" marL="0">
              <a:buNone/>
            </a:pPr>
            <a:r>
              <a:rPr lang="en-US" sz="1250" b="1" dirty="0">
                <a:solidFill>
                  <a:srgbClr val="0B2A4A"/>
                </a:solidFill>
                <a:latin typeface="Calibri" pitchFamily="34" charset="0"/>
                <a:ea typeface="Calibri" pitchFamily="34" charset="-122"/>
                <a:cs typeface="Calibri" pitchFamily="34" charset="-120"/>
              </a:rPr>
              <a:t>4.  Where are they strong?</a:t>
            </a:r>
            <a:endParaRPr lang="en-US" sz="1250" dirty="0"/>
          </a:p>
        </p:txBody>
      </p:sp>
      <p:sp>
        <p:nvSpPr>
          <p:cNvPr id="25" name="Shape 19"/>
          <p:cNvSpPr/>
          <p:nvPr/>
        </p:nvSpPr>
        <p:spPr>
          <a:xfrm>
            <a:off x="5303520" y="3968496"/>
            <a:ext cx="365760" cy="0"/>
          </a:xfrm>
          <a:prstGeom prst="line">
            <a:avLst/>
          </a:prstGeom>
          <a:noFill/>
          <a:ln w="19050">
            <a:solidFill>
              <a:srgbClr val="E3E7EC"/>
            </a:solidFill>
            <a:prstDash val="solid"/>
          </a:ln>
        </p:spPr>
      </p:sp>
      <p:sp>
        <p:nvSpPr>
          <p:cNvPr id="26" name="Shape 20"/>
          <p:cNvSpPr/>
          <p:nvPr/>
        </p:nvSpPr>
        <p:spPr>
          <a:xfrm>
            <a:off x="5669280" y="3794760"/>
            <a:ext cx="347472" cy="347472"/>
          </a:xfrm>
          <a:prstGeom prst="ellipse">
            <a:avLst/>
          </a:prstGeom>
          <a:solidFill>
            <a:srgbClr val="F6F8FA"/>
          </a:solidFill>
          <a:ln w="12700">
            <a:solidFill>
              <a:srgbClr val="E3E7EC"/>
            </a:solidFill>
            <a:prstDash val="solid"/>
          </a:ln>
        </p:spPr>
      </p:sp>
      <p:pic>
        <p:nvPicPr>
          <p:cNvPr id="27" name="Image 4" descr="preencoded.png">    </p:cNvPr>
          <p:cNvPicPr>
            <a:picLocks noChangeAspect="1"/>
          </p:cNvPicPr>
          <p:nvPr/>
        </p:nvPicPr>
        <p:blipFill>
          <a:blip r:embed="rId5"/>
          <a:stretch>
            <a:fillRect/>
          </a:stretch>
        </p:blipFill>
        <p:spPr>
          <a:xfrm>
            <a:off x="5742432" y="3867912"/>
            <a:ext cx="201168" cy="201168"/>
          </a:xfrm>
          <a:prstGeom prst="rect">
            <a:avLst/>
          </a:prstGeom>
        </p:spPr>
      </p:pic>
      <p:sp>
        <p:nvSpPr>
          <p:cNvPr id="28" name="Text 21"/>
          <p:cNvSpPr/>
          <p:nvPr/>
        </p:nvSpPr>
        <p:spPr>
          <a:xfrm>
            <a:off x="6144768" y="3785616"/>
            <a:ext cx="4617720" cy="365760"/>
          </a:xfrm>
          <a:prstGeom prst="rect">
            <a:avLst/>
          </a:prstGeom>
          <a:noFill/>
          <a:ln/>
        </p:spPr>
        <p:txBody>
          <a:bodyPr wrap="square" lIns="0" tIns="0" rIns="0" bIns="0" rtlCol="0" anchor="ctr"/>
          <a:lstStyle/>
          <a:p>
            <a:pPr indent="0" marL="0">
              <a:buNone/>
            </a:pPr>
            <a:r>
              <a:rPr lang="en-US" sz="1250" b="1" dirty="0">
                <a:solidFill>
                  <a:srgbClr val="0B2A4A"/>
                </a:solidFill>
                <a:latin typeface="Calibri" pitchFamily="34" charset="0"/>
                <a:ea typeface="Calibri" pitchFamily="34" charset="-122"/>
                <a:cs typeface="Calibri" pitchFamily="34" charset="-120"/>
              </a:rPr>
              <a:t>5.  Where are they weak?</a:t>
            </a:r>
            <a:endParaRPr lang="en-US" sz="1250" dirty="0"/>
          </a:p>
        </p:txBody>
      </p:sp>
      <p:sp>
        <p:nvSpPr>
          <p:cNvPr id="29" name="Shape 22"/>
          <p:cNvSpPr/>
          <p:nvPr/>
        </p:nvSpPr>
        <p:spPr>
          <a:xfrm>
            <a:off x="5303520" y="4535424"/>
            <a:ext cx="365760" cy="0"/>
          </a:xfrm>
          <a:prstGeom prst="line">
            <a:avLst/>
          </a:prstGeom>
          <a:noFill/>
          <a:ln w="19050">
            <a:solidFill>
              <a:srgbClr val="E3E7EC"/>
            </a:solidFill>
            <a:prstDash val="solid"/>
          </a:ln>
        </p:spPr>
      </p:sp>
      <p:sp>
        <p:nvSpPr>
          <p:cNvPr id="30" name="Shape 23"/>
          <p:cNvSpPr/>
          <p:nvPr/>
        </p:nvSpPr>
        <p:spPr>
          <a:xfrm>
            <a:off x="5669280" y="4361688"/>
            <a:ext cx="347472" cy="347472"/>
          </a:xfrm>
          <a:prstGeom prst="ellipse">
            <a:avLst/>
          </a:prstGeom>
          <a:solidFill>
            <a:srgbClr val="F6F8FA"/>
          </a:solidFill>
          <a:ln w="12700">
            <a:solidFill>
              <a:srgbClr val="E3E7EC"/>
            </a:solidFill>
            <a:prstDash val="solid"/>
          </a:ln>
        </p:spPr>
      </p:sp>
      <p:pic>
        <p:nvPicPr>
          <p:cNvPr id="31" name="Image 5" descr="preencoded.png">    </p:cNvPr>
          <p:cNvPicPr>
            <a:picLocks noChangeAspect="1"/>
          </p:cNvPicPr>
          <p:nvPr/>
        </p:nvPicPr>
        <p:blipFill>
          <a:blip r:embed="rId6"/>
          <a:stretch>
            <a:fillRect/>
          </a:stretch>
        </p:blipFill>
        <p:spPr>
          <a:xfrm>
            <a:off x="5742432" y="4434840"/>
            <a:ext cx="201168" cy="201168"/>
          </a:xfrm>
          <a:prstGeom prst="rect">
            <a:avLst/>
          </a:prstGeom>
        </p:spPr>
      </p:pic>
      <p:sp>
        <p:nvSpPr>
          <p:cNvPr id="32" name="Text 24"/>
          <p:cNvSpPr/>
          <p:nvPr/>
        </p:nvSpPr>
        <p:spPr>
          <a:xfrm>
            <a:off x="6144768" y="4352544"/>
            <a:ext cx="4617720" cy="365760"/>
          </a:xfrm>
          <a:prstGeom prst="rect">
            <a:avLst/>
          </a:prstGeom>
          <a:noFill/>
          <a:ln/>
        </p:spPr>
        <p:txBody>
          <a:bodyPr wrap="square" lIns="0" tIns="0" rIns="0" bIns="0" rtlCol="0" anchor="ctr"/>
          <a:lstStyle/>
          <a:p>
            <a:pPr indent="0" marL="0">
              <a:buNone/>
            </a:pPr>
            <a:r>
              <a:rPr lang="en-US" sz="1250" b="1" dirty="0">
                <a:solidFill>
                  <a:srgbClr val="0B2A4A"/>
                </a:solidFill>
                <a:latin typeface="Calibri" pitchFamily="34" charset="0"/>
                <a:ea typeface="Calibri" pitchFamily="34" charset="-122"/>
                <a:cs typeface="Calibri" pitchFamily="34" charset="-120"/>
              </a:rPr>
              <a:t>6.  Where is CJ Darcl exposed?</a:t>
            </a:r>
            <a:endParaRPr lang="en-US" sz="1250" dirty="0"/>
          </a:p>
        </p:txBody>
      </p:sp>
      <p:sp>
        <p:nvSpPr>
          <p:cNvPr id="33" name="Shape 25"/>
          <p:cNvSpPr/>
          <p:nvPr/>
        </p:nvSpPr>
        <p:spPr>
          <a:xfrm>
            <a:off x="5303520" y="5102352"/>
            <a:ext cx="365760" cy="0"/>
          </a:xfrm>
          <a:prstGeom prst="line">
            <a:avLst/>
          </a:prstGeom>
          <a:noFill/>
          <a:ln w="19050">
            <a:solidFill>
              <a:srgbClr val="E3E7EC"/>
            </a:solidFill>
            <a:prstDash val="solid"/>
          </a:ln>
        </p:spPr>
      </p:sp>
      <p:sp>
        <p:nvSpPr>
          <p:cNvPr id="34" name="Shape 26"/>
          <p:cNvSpPr/>
          <p:nvPr/>
        </p:nvSpPr>
        <p:spPr>
          <a:xfrm>
            <a:off x="5669280" y="4928616"/>
            <a:ext cx="347472" cy="347472"/>
          </a:xfrm>
          <a:prstGeom prst="ellipse">
            <a:avLst/>
          </a:prstGeom>
          <a:solidFill>
            <a:srgbClr val="F6F8FA"/>
          </a:solidFill>
          <a:ln w="12700">
            <a:solidFill>
              <a:srgbClr val="E3E7EC"/>
            </a:solidFill>
            <a:prstDash val="solid"/>
          </a:ln>
        </p:spPr>
      </p:sp>
      <p:pic>
        <p:nvPicPr>
          <p:cNvPr id="35" name="Image 6" descr="preencoded.png">    </p:cNvPr>
          <p:cNvPicPr>
            <a:picLocks noChangeAspect="1"/>
          </p:cNvPicPr>
          <p:nvPr/>
        </p:nvPicPr>
        <p:blipFill>
          <a:blip r:embed="rId7"/>
          <a:stretch>
            <a:fillRect/>
          </a:stretch>
        </p:blipFill>
        <p:spPr>
          <a:xfrm>
            <a:off x="5742432" y="5001768"/>
            <a:ext cx="201168" cy="201168"/>
          </a:xfrm>
          <a:prstGeom prst="rect">
            <a:avLst/>
          </a:prstGeom>
        </p:spPr>
      </p:pic>
      <p:sp>
        <p:nvSpPr>
          <p:cNvPr id="36" name="Text 27"/>
          <p:cNvSpPr/>
          <p:nvPr/>
        </p:nvSpPr>
        <p:spPr>
          <a:xfrm>
            <a:off x="6144768" y="4919472"/>
            <a:ext cx="4617720" cy="365760"/>
          </a:xfrm>
          <a:prstGeom prst="rect">
            <a:avLst/>
          </a:prstGeom>
          <a:noFill/>
          <a:ln/>
        </p:spPr>
        <p:txBody>
          <a:bodyPr wrap="square" lIns="0" tIns="0" rIns="0" bIns="0" rtlCol="0" anchor="ctr"/>
          <a:lstStyle/>
          <a:p>
            <a:pPr indent="0" marL="0">
              <a:buNone/>
            </a:pPr>
            <a:r>
              <a:rPr lang="en-US" sz="1250" b="1" dirty="0">
                <a:solidFill>
                  <a:srgbClr val="0B2A4A"/>
                </a:solidFill>
                <a:latin typeface="Calibri" pitchFamily="34" charset="0"/>
                <a:ea typeface="Calibri" pitchFamily="34" charset="-122"/>
                <a:cs typeface="Calibri" pitchFamily="34" charset="-120"/>
              </a:rPr>
              <a:t>7.  Where can CJ Darcl win?</a:t>
            </a:r>
            <a:endParaRPr lang="en-US" sz="1250" dirty="0"/>
          </a:p>
        </p:txBody>
      </p:sp>
      <p:sp>
        <p:nvSpPr>
          <p:cNvPr id="37" name="Text 28"/>
          <p:cNvSpPr/>
          <p:nvPr/>
        </p:nvSpPr>
        <p:spPr>
          <a:xfrm>
            <a:off x="548640" y="6473952"/>
            <a:ext cx="9875520" cy="274320"/>
          </a:xfrm>
          <a:prstGeom prst="rect">
            <a:avLst/>
          </a:prstGeom>
          <a:noFill/>
          <a:ln/>
        </p:spPr>
        <p:txBody>
          <a:bodyPr wrap="square" lIns="0" tIns="0" rIns="0" bIns="0" rtlCol="0" anchor="ctr"/>
          <a:lstStyle/>
          <a:p>
            <a:pPr indent="0" marL="0">
              <a:buNone/>
            </a:pPr>
            <a:r>
              <a:rPr lang="en-US" sz="780" i="1" dirty="0">
                <a:solidFill>
                  <a:srgbClr val="6B7684"/>
                </a:solidFill>
                <a:latin typeface="Calibri" pitchFamily="34" charset="0"/>
                <a:ea typeface="Calibri" pitchFamily="34" charset="-122"/>
                <a:cs typeface="Calibri" pitchFamily="34" charset="-120"/>
              </a:rPr>
              <a:t>Source: CJ Darcl analysis framework, based on Business Strategy &amp; Development team brief.</a:t>
            </a:r>
            <a:endParaRPr lang="en-US" sz="780" dirty="0"/>
          </a:p>
        </p:txBody>
      </p:sp>
      <p:sp>
        <p:nvSpPr>
          <p:cNvPr id="38" name="Text 29"/>
          <p:cNvSpPr/>
          <p:nvPr/>
        </p:nvSpPr>
        <p:spPr>
          <a:xfrm>
            <a:off x="11414455" y="6473952"/>
            <a:ext cx="45720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50" b="1" spc="200" kern="0" dirty="0">
                <a:solidFill>
                  <a:srgbClr val="1D8FD1"/>
                </a:solidFill>
                <a:latin typeface="Calibri" pitchFamily="34" charset="0"/>
                <a:ea typeface="Calibri" pitchFamily="34" charset="-122"/>
                <a:cs typeface="Calibri" pitchFamily="34" charset="-120"/>
              </a:rPr>
              <a:t>MARKET CONTEXT</a:t>
            </a:r>
            <a:endParaRPr lang="en-US" sz="1050" dirty="0"/>
          </a:p>
        </p:txBody>
      </p:sp>
      <p:sp>
        <p:nvSpPr>
          <p:cNvPr id="3" name="Text 1"/>
          <p:cNvSpPr/>
          <p:nvPr/>
        </p:nvSpPr>
        <p:spPr>
          <a:xfrm>
            <a:off x="548640" y="530352"/>
            <a:ext cx="10607040" cy="548640"/>
          </a:xfrm>
          <a:prstGeom prst="rect">
            <a:avLst/>
          </a:prstGeom>
          <a:noFill/>
          <a:ln/>
        </p:spPr>
        <p:txBody>
          <a:bodyPr wrap="square" lIns="0" tIns="0" rIns="0" bIns="0" rtlCol="0" anchor="ctr"/>
          <a:lstStyle/>
          <a:p>
            <a:pPr indent="0" marL="0">
              <a:buNone/>
            </a:pPr>
            <a:r>
              <a:rPr lang="en-US" sz="2500" b="1" dirty="0">
                <a:solidFill>
                  <a:srgbClr val="0B2A4A"/>
                </a:solidFill>
                <a:latin typeface="Cambria" pitchFamily="34" charset="0"/>
                <a:ea typeface="Cambria" pitchFamily="34" charset="-122"/>
                <a:cs typeface="Cambria" pitchFamily="34" charset="-120"/>
              </a:rPr>
              <a:t>Indian FTL Market Overview</a:t>
            </a:r>
            <a:endParaRPr lang="en-US" sz="2500" dirty="0"/>
          </a:p>
        </p:txBody>
      </p:sp>
      <p:sp>
        <p:nvSpPr>
          <p:cNvPr id="4" name="Shape 2"/>
          <p:cNvSpPr/>
          <p:nvPr/>
        </p:nvSpPr>
        <p:spPr>
          <a:xfrm>
            <a:off x="548640" y="1417320"/>
            <a:ext cx="3520440" cy="1170432"/>
          </a:xfrm>
          <a:prstGeom prst="roundRect">
            <a:avLst>
              <a:gd name="adj" fmla="val 5469"/>
            </a:avLst>
          </a:prstGeom>
          <a:solidFill>
            <a:srgbClr val="F6F8FA"/>
          </a:solidFill>
          <a:ln/>
          <a:effectLst>
            <a:outerShdw sx="100000" sy="100000" kx="0" ky="0" algn="bl" rotWithShape="0" blurRad="101600" dist="25400" dir="5400000">
              <a:srgbClr val="1A2B3C">
                <a:alpha val="10000"/>
              </a:srgbClr>
            </a:outerShdw>
          </a:effectLst>
        </p:spPr>
      </p:sp>
      <p:sp>
        <p:nvSpPr>
          <p:cNvPr id="5" name="Text 3"/>
          <p:cNvSpPr/>
          <p:nvPr/>
        </p:nvSpPr>
        <p:spPr>
          <a:xfrm>
            <a:off x="749808" y="1508760"/>
            <a:ext cx="3154680" cy="384048"/>
          </a:xfrm>
          <a:prstGeom prst="rect">
            <a:avLst/>
          </a:prstGeom>
          <a:noFill/>
          <a:ln/>
        </p:spPr>
        <p:txBody>
          <a:bodyPr wrap="square" lIns="0" tIns="0" rIns="0" bIns="0" rtlCol="0" anchor="ctr"/>
          <a:lstStyle/>
          <a:p>
            <a:pPr indent="0" marL="0">
              <a:buNone/>
            </a:pPr>
            <a:r>
              <a:rPr lang="en-US" sz="1900" b="1" dirty="0">
                <a:solidFill>
                  <a:srgbClr val="1D8FD1"/>
                </a:solidFill>
                <a:latin typeface="Cambria" pitchFamily="34" charset="0"/>
                <a:ea typeface="Cambria" pitchFamily="34" charset="-122"/>
                <a:cs typeface="Cambria" pitchFamily="34" charset="-120"/>
              </a:rPr>
              <a:t>USD 228.4 Bn</a:t>
            </a:r>
            <a:endParaRPr lang="en-US" sz="1900" dirty="0"/>
          </a:p>
        </p:txBody>
      </p:sp>
      <p:sp>
        <p:nvSpPr>
          <p:cNvPr id="6" name="Text 4"/>
          <p:cNvSpPr/>
          <p:nvPr/>
        </p:nvSpPr>
        <p:spPr>
          <a:xfrm>
            <a:off x="749808" y="1901952"/>
            <a:ext cx="3154680" cy="640080"/>
          </a:xfrm>
          <a:prstGeom prst="rect">
            <a:avLst/>
          </a:prstGeom>
          <a:noFill/>
          <a:ln/>
        </p:spPr>
        <p:txBody>
          <a:bodyPr wrap="square" lIns="0" tIns="0" rIns="0" bIns="0" rtlCol="0" anchor="ctr"/>
          <a:lstStyle/>
          <a:p>
            <a:pPr indent="0" marL="0">
              <a:lnSpc>
                <a:spcPts val="1200"/>
              </a:lnSpc>
              <a:buNone/>
            </a:pPr>
            <a:r>
              <a:rPr lang="en-US" sz="950" dirty="0">
                <a:solidFill>
                  <a:srgbClr val="6B7684"/>
                </a:solidFill>
                <a:latin typeface="Calibri" pitchFamily="34" charset="0"/>
                <a:ea typeface="Calibri" pitchFamily="34" charset="-122"/>
                <a:cs typeface="Calibri" pitchFamily="34" charset="-120"/>
              </a:rPr>
              <a:t>Indian logistics market size, 2024 — growing at ~6.5% CAGR to USD 428.7 Bn by 2033</a:t>
            </a:r>
            <a:endParaRPr lang="en-US" sz="950" dirty="0"/>
          </a:p>
        </p:txBody>
      </p:sp>
      <p:sp>
        <p:nvSpPr>
          <p:cNvPr id="7" name="Shape 5"/>
          <p:cNvSpPr/>
          <p:nvPr/>
        </p:nvSpPr>
        <p:spPr>
          <a:xfrm>
            <a:off x="548640" y="2734056"/>
            <a:ext cx="3520440" cy="1170432"/>
          </a:xfrm>
          <a:prstGeom prst="roundRect">
            <a:avLst>
              <a:gd name="adj" fmla="val 5469"/>
            </a:avLst>
          </a:prstGeom>
          <a:solidFill>
            <a:srgbClr val="F6F8FA"/>
          </a:solidFill>
          <a:ln/>
          <a:effectLst>
            <a:outerShdw sx="100000" sy="100000" kx="0" ky="0" algn="bl" rotWithShape="0" blurRad="101600" dist="25400" dir="5400000">
              <a:srgbClr val="1A2B3C">
                <a:alpha val="10000"/>
              </a:srgbClr>
            </a:outerShdw>
          </a:effectLst>
        </p:spPr>
      </p:sp>
      <p:sp>
        <p:nvSpPr>
          <p:cNvPr id="8" name="Text 6"/>
          <p:cNvSpPr/>
          <p:nvPr/>
        </p:nvSpPr>
        <p:spPr>
          <a:xfrm>
            <a:off x="749808" y="2825496"/>
            <a:ext cx="3154680" cy="384048"/>
          </a:xfrm>
          <a:prstGeom prst="rect">
            <a:avLst/>
          </a:prstGeom>
          <a:noFill/>
          <a:ln/>
        </p:spPr>
        <p:txBody>
          <a:bodyPr wrap="square" lIns="0" tIns="0" rIns="0" bIns="0" rtlCol="0" anchor="ctr"/>
          <a:lstStyle/>
          <a:p>
            <a:pPr indent="0" marL="0">
              <a:buNone/>
            </a:pPr>
            <a:r>
              <a:rPr lang="en-US" sz="1900" b="1" dirty="0">
                <a:solidFill>
                  <a:srgbClr val="1D8FD1"/>
                </a:solidFill>
                <a:latin typeface="Cambria" pitchFamily="34" charset="0"/>
                <a:ea typeface="Cambria" pitchFamily="34" charset="-122"/>
                <a:cs typeface="Cambria" pitchFamily="34" charset="-120"/>
              </a:rPr>
              <a:t>USD 125.9 Bn</a:t>
            </a:r>
            <a:endParaRPr lang="en-US" sz="1900" dirty="0"/>
          </a:p>
        </p:txBody>
      </p:sp>
      <p:sp>
        <p:nvSpPr>
          <p:cNvPr id="9" name="Text 7"/>
          <p:cNvSpPr/>
          <p:nvPr/>
        </p:nvSpPr>
        <p:spPr>
          <a:xfrm>
            <a:off x="749808" y="3218688"/>
            <a:ext cx="3154680" cy="640080"/>
          </a:xfrm>
          <a:prstGeom prst="rect">
            <a:avLst/>
          </a:prstGeom>
          <a:noFill/>
          <a:ln/>
        </p:spPr>
        <p:txBody>
          <a:bodyPr wrap="square" lIns="0" tIns="0" rIns="0" bIns="0" rtlCol="0" anchor="ctr"/>
          <a:lstStyle/>
          <a:p>
            <a:pPr indent="0" marL="0">
              <a:lnSpc>
                <a:spcPts val="1200"/>
              </a:lnSpc>
              <a:buNone/>
            </a:pPr>
            <a:r>
              <a:rPr lang="en-US" sz="950" dirty="0">
                <a:solidFill>
                  <a:srgbClr val="6B7684"/>
                </a:solidFill>
                <a:latin typeface="Calibri" pitchFamily="34" charset="0"/>
                <a:ea typeface="Calibri" pitchFamily="34" charset="-122"/>
                <a:cs typeface="Calibri" pitchFamily="34" charset="-120"/>
              </a:rPr>
              <a:t>Indian FTL market size, 2025 — projected to reach USD 203.2 Bn by 2031 (8.29% CAGR)</a:t>
            </a:r>
            <a:endParaRPr lang="en-US" sz="950" dirty="0"/>
          </a:p>
        </p:txBody>
      </p:sp>
      <p:sp>
        <p:nvSpPr>
          <p:cNvPr id="10" name="Shape 8"/>
          <p:cNvSpPr/>
          <p:nvPr/>
        </p:nvSpPr>
        <p:spPr>
          <a:xfrm>
            <a:off x="548640" y="4050792"/>
            <a:ext cx="3520440" cy="1170432"/>
          </a:xfrm>
          <a:prstGeom prst="roundRect">
            <a:avLst>
              <a:gd name="adj" fmla="val 5469"/>
            </a:avLst>
          </a:prstGeom>
          <a:solidFill>
            <a:srgbClr val="F6F8FA"/>
          </a:solidFill>
          <a:ln/>
          <a:effectLst>
            <a:outerShdw sx="100000" sy="100000" kx="0" ky="0" algn="bl" rotWithShape="0" blurRad="101600" dist="25400" dir="5400000">
              <a:srgbClr val="1A2B3C">
                <a:alpha val="10000"/>
              </a:srgbClr>
            </a:outerShdw>
          </a:effectLst>
        </p:spPr>
      </p:sp>
      <p:sp>
        <p:nvSpPr>
          <p:cNvPr id="11" name="Text 9"/>
          <p:cNvSpPr/>
          <p:nvPr/>
        </p:nvSpPr>
        <p:spPr>
          <a:xfrm>
            <a:off x="749808" y="4142232"/>
            <a:ext cx="3154680" cy="384048"/>
          </a:xfrm>
          <a:prstGeom prst="rect">
            <a:avLst/>
          </a:prstGeom>
          <a:noFill/>
          <a:ln/>
        </p:spPr>
        <p:txBody>
          <a:bodyPr wrap="square" lIns="0" tIns="0" rIns="0" bIns="0" rtlCol="0" anchor="ctr"/>
          <a:lstStyle/>
          <a:p>
            <a:pPr indent="0" marL="0">
              <a:buNone/>
            </a:pPr>
            <a:r>
              <a:rPr lang="en-US" sz="1900" b="1" dirty="0">
                <a:solidFill>
                  <a:srgbClr val="1D8FD1"/>
                </a:solidFill>
                <a:latin typeface="Cambria" pitchFamily="34" charset="0"/>
                <a:ea typeface="Cambria" pitchFamily="34" charset="-122"/>
                <a:cs typeface="Cambria" pitchFamily="34" charset="-120"/>
              </a:rPr>
              <a:t>73.1% Domestic</a:t>
            </a:r>
            <a:endParaRPr lang="en-US" sz="1900" dirty="0"/>
          </a:p>
        </p:txBody>
      </p:sp>
      <p:sp>
        <p:nvSpPr>
          <p:cNvPr id="12" name="Text 10"/>
          <p:cNvSpPr/>
          <p:nvPr/>
        </p:nvSpPr>
        <p:spPr>
          <a:xfrm>
            <a:off x="749808" y="4535424"/>
            <a:ext cx="3154680" cy="640080"/>
          </a:xfrm>
          <a:prstGeom prst="rect">
            <a:avLst/>
          </a:prstGeom>
          <a:noFill/>
          <a:ln/>
        </p:spPr>
        <p:txBody>
          <a:bodyPr wrap="square" lIns="0" tIns="0" rIns="0" bIns="0" rtlCol="0" anchor="ctr"/>
          <a:lstStyle/>
          <a:p>
            <a:pPr indent="0" marL="0">
              <a:lnSpc>
                <a:spcPts val="1200"/>
              </a:lnSpc>
              <a:buNone/>
            </a:pPr>
            <a:r>
              <a:rPr lang="en-US" sz="950" dirty="0">
                <a:solidFill>
                  <a:srgbClr val="6B7684"/>
                </a:solidFill>
                <a:latin typeface="Calibri" pitchFamily="34" charset="0"/>
                <a:ea typeface="Calibri" pitchFamily="34" charset="-122"/>
                <a:cs typeface="Calibri" pitchFamily="34" charset="-120"/>
              </a:rPr>
              <a:t>Share of FTL market from domestic lanes vs. international, 2025</a:t>
            </a:r>
            <a:endParaRPr lang="en-US" sz="950" dirty="0"/>
          </a:p>
        </p:txBody>
      </p:sp>
      <p:sp>
        <p:nvSpPr>
          <p:cNvPr id="13" name="Text 11"/>
          <p:cNvSpPr/>
          <p:nvPr/>
        </p:nvSpPr>
        <p:spPr>
          <a:xfrm>
            <a:off x="4526280" y="1371600"/>
            <a:ext cx="7040880" cy="274320"/>
          </a:xfrm>
          <a:prstGeom prst="rect">
            <a:avLst/>
          </a:prstGeom>
          <a:noFill/>
          <a:ln/>
        </p:spPr>
        <p:txBody>
          <a:bodyPr wrap="square" lIns="0" tIns="0" rIns="0" bIns="0" rtlCol="0" anchor="ctr"/>
          <a:lstStyle/>
          <a:p>
            <a:pPr indent="0" marL="0">
              <a:buNone/>
            </a:pPr>
            <a:r>
              <a:rPr lang="en-US" sz="1200" b="1" dirty="0">
                <a:solidFill>
                  <a:srgbClr val="0B2A4A"/>
                </a:solidFill>
                <a:latin typeface="Calibri" pitchFamily="34" charset="0"/>
                <a:ea typeface="Calibri" pitchFamily="34" charset="-122"/>
                <a:cs typeface="Calibri" pitchFamily="34" charset="-120"/>
              </a:rPr>
              <a:t>FTL Demand by End-Use Sector (Illustrative Mix)</a:t>
            </a:r>
            <a:endParaRPr lang="en-US" sz="1200" dirty="0"/>
          </a:p>
        </p:txBody>
      </p:sp>
      <p:graphicFrame>
        <p:nvGraphicFramePr>
          <p:cNvPr id="14" name="Chart 0" descr=""/>
          <p:cNvGraphicFramePr/>
          <p:nvPr/>
        </p:nvGraphicFramePr>
        <p:xfrm>
          <a:off x="4526280" y="1691640"/>
          <a:ext cx="4297680" cy="397764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p:nvPr/>
        </p:nvSpPr>
        <p:spPr>
          <a:xfrm>
            <a:off x="4526280" y="5623560"/>
            <a:ext cx="4297680" cy="365760"/>
          </a:xfrm>
          <a:prstGeom prst="rect">
            <a:avLst/>
          </a:prstGeom>
          <a:noFill/>
          <a:ln/>
        </p:spPr>
        <p:txBody>
          <a:bodyPr wrap="square" lIns="0" tIns="0" rIns="0" bIns="0" rtlCol="0" anchor="ctr"/>
          <a:lstStyle/>
          <a:p>
            <a:pPr indent="0" marL="0">
              <a:lnSpc>
                <a:spcPts val="1000"/>
              </a:lnSpc>
              <a:buNone/>
            </a:pPr>
            <a:r>
              <a:rPr lang="en-US" sz="780" i="1" dirty="0">
                <a:solidFill>
                  <a:srgbClr val="6B7684"/>
                </a:solidFill>
                <a:latin typeface="Calibri" pitchFamily="34" charset="0"/>
                <a:ea typeface="Calibri" pitchFamily="34" charset="-122"/>
                <a:cs typeface="Calibri" pitchFamily="34" charset="-120"/>
              </a:rPr>
              <a:t>*Manufacturing share per Mordor Intelligence (2025); remaining sector splits are illustrative estimates for structure.</a:t>
            </a:r>
            <a:endParaRPr lang="en-US" sz="780" dirty="0"/>
          </a:p>
        </p:txBody>
      </p:sp>
      <p:sp>
        <p:nvSpPr>
          <p:cNvPr id="16" name="Shape 13"/>
          <p:cNvSpPr/>
          <p:nvPr/>
        </p:nvSpPr>
        <p:spPr>
          <a:xfrm>
            <a:off x="9189720" y="1691640"/>
            <a:ext cx="0" cy="4160520"/>
          </a:xfrm>
          <a:prstGeom prst="line">
            <a:avLst/>
          </a:prstGeom>
          <a:noFill/>
          <a:ln w="12700">
            <a:solidFill>
              <a:srgbClr val="E3E7EC"/>
            </a:solidFill>
            <a:prstDash val="solid"/>
          </a:ln>
        </p:spPr>
      </p:sp>
      <p:sp>
        <p:nvSpPr>
          <p:cNvPr id="17" name="Text 14"/>
          <p:cNvSpPr/>
          <p:nvPr/>
        </p:nvSpPr>
        <p:spPr>
          <a:xfrm>
            <a:off x="9418320" y="1691640"/>
            <a:ext cx="2286000" cy="274320"/>
          </a:xfrm>
          <a:prstGeom prst="rect">
            <a:avLst/>
          </a:prstGeom>
          <a:noFill/>
          <a:ln/>
        </p:spPr>
        <p:txBody>
          <a:bodyPr wrap="square" lIns="0" tIns="0" rIns="0" bIns="0" rtlCol="0" anchor="ctr"/>
          <a:lstStyle/>
          <a:p>
            <a:pPr indent="0" marL="0">
              <a:buNone/>
            </a:pPr>
            <a:r>
              <a:rPr lang="en-US" sz="1000" b="1" spc="150" kern="0" dirty="0">
                <a:solidFill>
                  <a:srgbClr val="1D8FD1"/>
                </a:solidFill>
                <a:latin typeface="Calibri" pitchFamily="34" charset="0"/>
                <a:ea typeface="Calibri" pitchFamily="34" charset="-122"/>
                <a:cs typeface="Calibri" pitchFamily="34" charset="-120"/>
              </a:rPr>
              <a:t>MARKET TRENDS</a:t>
            </a:r>
            <a:endParaRPr lang="en-US" sz="1000" dirty="0"/>
          </a:p>
        </p:txBody>
      </p:sp>
      <p:sp>
        <p:nvSpPr>
          <p:cNvPr id="18" name="Text 15"/>
          <p:cNvSpPr/>
          <p:nvPr/>
        </p:nvSpPr>
        <p:spPr>
          <a:xfrm>
            <a:off x="9418320" y="2011680"/>
            <a:ext cx="2286000" cy="3657600"/>
          </a:xfrm>
          <a:prstGeom prst="rect">
            <a:avLst/>
          </a:prstGeom>
          <a:noFill/>
          <a:ln/>
        </p:spPr>
        <p:txBody>
          <a:bodyPr wrap="square" lIns="0" tIns="0" rIns="0" bIns="0" rtlCol="0" anchor="ctr"/>
          <a:lstStyle/>
          <a:p>
            <a:pPr marL="342900" indent="-342900">
              <a:lnSpc>
                <a:spcPts val="1300"/>
              </a:lnSpc>
              <a:spcAft>
                <a:spcPts val="900"/>
              </a:spcAft>
              <a:buSzPct val="100000"/>
              <a:buChar char="•"/>
            </a:pPr>
            <a:r>
              <a:rPr lang="en-US" sz="1000" dirty="0">
                <a:solidFill>
                  <a:srgbClr val="3D4652"/>
                </a:solidFill>
                <a:latin typeface="Calibri" pitchFamily="34" charset="0"/>
                <a:ea typeface="Calibri" pitchFamily="34" charset="-122"/>
                <a:cs typeface="Calibri" pitchFamily="34" charset="-120"/>
              </a:rPr>
              <a:t>GST-driven formalization compresses fragmentation</a:t>
            </a:r>
            <a:endParaRPr lang="en-US" sz="1000" dirty="0"/>
          </a:p>
          <a:p>
            <a:pPr marL="342900" indent="-342900">
              <a:lnSpc>
                <a:spcPts val="1300"/>
              </a:lnSpc>
              <a:spcAft>
                <a:spcPts val="900"/>
              </a:spcAft>
              <a:buSzPct val="100000"/>
              <a:buChar char="•"/>
            </a:pPr>
            <a:r>
              <a:rPr lang="en-US" sz="1000" dirty="0">
                <a:solidFill>
                  <a:srgbClr val="3D4652"/>
                </a:solidFill>
                <a:latin typeface="Calibri" pitchFamily="34" charset="0"/>
                <a:ea typeface="Calibri" pitchFamily="34" charset="-122"/>
                <a:cs typeface="Calibri" pitchFamily="34" charset="-120"/>
              </a:rPr>
              <a:t>Dedicated Freight Corridors &amp; Bharatmala expand capacity</a:t>
            </a:r>
            <a:endParaRPr lang="en-US" sz="1000" dirty="0"/>
          </a:p>
          <a:p>
            <a:pPr marL="342900" indent="-342900">
              <a:lnSpc>
                <a:spcPts val="1300"/>
              </a:lnSpc>
              <a:spcAft>
                <a:spcPts val="900"/>
              </a:spcAft>
              <a:buSzPct val="100000"/>
              <a:buChar char="•"/>
            </a:pPr>
            <a:r>
              <a:rPr lang="en-US" sz="1000" dirty="0">
                <a:solidFill>
                  <a:srgbClr val="3D4652"/>
                </a:solidFill>
                <a:latin typeface="Calibri" pitchFamily="34" charset="0"/>
                <a:ea typeface="Calibri" pitchFamily="34" charset="-122"/>
                <a:cs typeface="Calibri" pitchFamily="34" charset="-120"/>
              </a:rPr>
              <a:t>Digital freight platforms raise asset utilization</a:t>
            </a:r>
            <a:endParaRPr lang="en-US" sz="1000" dirty="0"/>
          </a:p>
          <a:p>
            <a:pPr marL="342900" indent="-342900">
              <a:lnSpc>
                <a:spcPts val="1300"/>
              </a:lnSpc>
              <a:spcAft>
                <a:spcPts val="900"/>
              </a:spcAft>
              <a:buSzPct val="100000"/>
              <a:buChar char="•"/>
            </a:pPr>
            <a:r>
              <a:rPr lang="en-US" sz="1000" dirty="0">
                <a:solidFill>
                  <a:srgbClr val="3D4652"/>
                </a:solidFill>
                <a:latin typeface="Calibri" pitchFamily="34" charset="0"/>
                <a:ea typeface="Calibri" pitchFamily="34" charset="-122"/>
                <a:cs typeface="Calibri" pitchFamily="34" charset="-120"/>
              </a:rPr>
              <a:t>PLI-led manufacturing lifts contract freight volumes</a:t>
            </a:r>
            <a:endParaRPr lang="en-US" sz="1000" dirty="0"/>
          </a:p>
        </p:txBody>
      </p:sp>
      <p:sp>
        <p:nvSpPr>
          <p:cNvPr id="19" name="Text 16"/>
          <p:cNvSpPr/>
          <p:nvPr/>
        </p:nvSpPr>
        <p:spPr>
          <a:xfrm>
            <a:off x="548640" y="6473952"/>
            <a:ext cx="9875520" cy="274320"/>
          </a:xfrm>
          <a:prstGeom prst="rect">
            <a:avLst/>
          </a:prstGeom>
          <a:noFill/>
          <a:ln/>
        </p:spPr>
        <p:txBody>
          <a:bodyPr wrap="square" lIns="0" tIns="0" rIns="0" bIns="0" rtlCol="0" anchor="ctr"/>
          <a:lstStyle/>
          <a:p>
            <a:pPr indent="0" marL="0">
              <a:buNone/>
            </a:pPr>
            <a:r>
              <a:rPr lang="en-US" sz="780" i="1" dirty="0">
                <a:solidFill>
                  <a:srgbClr val="6B7684"/>
                </a:solidFill>
                <a:latin typeface="Calibri" pitchFamily="34" charset="0"/>
                <a:ea typeface="Calibri" pitchFamily="34" charset="-122"/>
                <a:cs typeface="Calibri" pitchFamily="34" charset="-120"/>
              </a:rPr>
              <a:t>Source: Mordor Intelligence, India Full-Truck-Load Market Report (Jan 2026); CJ Darcl DRHP / CRISIL Intelligence.</a:t>
            </a:r>
            <a:endParaRPr lang="en-US" sz="780" dirty="0"/>
          </a:p>
        </p:txBody>
      </p:sp>
      <p:sp>
        <p:nvSpPr>
          <p:cNvPr id="20" name="Text 17"/>
          <p:cNvSpPr/>
          <p:nvPr/>
        </p:nvSpPr>
        <p:spPr>
          <a:xfrm>
            <a:off x="11414455" y="6473952"/>
            <a:ext cx="45720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50" b="1" spc="200" kern="0" dirty="0">
                <a:solidFill>
                  <a:srgbClr val="1D8FD1"/>
                </a:solidFill>
                <a:latin typeface="Calibri" pitchFamily="34" charset="0"/>
                <a:ea typeface="Calibri" pitchFamily="34" charset="-122"/>
                <a:cs typeface="Calibri" pitchFamily="34" charset="-120"/>
              </a:rPr>
              <a:t>COMPETITIVE SET</a:t>
            </a:r>
            <a:endParaRPr lang="en-US" sz="1050" dirty="0"/>
          </a:p>
        </p:txBody>
      </p:sp>
      <p:sp>
        <p:nvSpPr>
          <p:cNvPr id="3" name="Text 1"/>
          <p:cNvSpPr/>
          <p:nvPr/>
        </p:nvSpPr>
        <p:spPr>
          <a:xfrm>
            <a:off x="548640" y="530352"/>
            <a:ext cx="10607040" cy="548640"/>
          </a:xfrm>
          <a:prstGeom prst="rect">
            <a:avLst/>
          </a:prstGeom>
          <a:noFill/>
          <a:ln/>
        </p:spPr>
        <p:txBody>
          <a:bodyPr wrap="square" lIns="0" tIns="0" rIns="0" bIns="0" rtlCol="0" anchor="ctr"/>
          <a:lstStyle/>
          <a:p>
            <a:pPr indent="0" marL="0">
              <a:buNone/>
            </a:pPr>
            <a:r>
              <a:rPr lang="en-US" sz="2300" b="1" dirty="0">
                <a:solidFill>
                  <a:srgbClr val="0B2A4A"/>
                </a:solidFill>
                <a:latin typeface="Cambria" pitchFamily="34" charset="0"/>
                <a:ea typeface="Cambria" pitchFamily="34" charset="-122"/>
                <a:cs typeface="Cambria" pitchFamily="34" charset="-120"/>
              </a:rPr>
              <a:t>Who Really Competes With CJ Darcl?</a:t>
            </a:r>
            <a:endParaRPr lang="en-US" sz="2300" dirty="0"/>
          </a:p>
        </p:txBody>
      </p:sp>
      <p:sp>
        <p:nvSpPr>
          <p:cNvPr id="4" name="Text 2"/>
          <p:cNvSpPr/>
          <p:nvPr/>
        </p:nvSpPr>
        <p:spPr>
          <a:xfrm>
            <a:off x="548640" y="1078992"/>
            <a:ext cx="6492240" cy="256032"/>
          </a:xfrm>
          <a:prstGeom prst="rect">
            <a:avLst/>
          </a:prstGeom>
          <a:noFill/>
          <a:ln/>
        </p:spPr>
        <p:txBody>
          <a:bodyPr wrap="square" lIns="0" tIns="0" rIns="0" bIns="0" rtlCol="0" anchor="ctr"/>
          <a:lstStyle/>
          <a:p>
            <a:pPr indent="0" marL="0">
              <a:buNone/>
            </a:pPr>
            <a:r>
              <a:rPr lang="en-US" sz="1150" b="1" dirty="0">
                <a:solidFill>
                  <a:srgbClr val="0B2A4A"/>
                </a:solidFill>
                <a:latin typeface="Calibri" pitchFamily="34" charset="0"/>
                <a:ea typeface="Calibri" pitchFamily="34" charset="-122"/>
                <a:cs typeface="Calibri" pitchFamily="34" charset="-120"/>
              </a:rPr>
              <a:t>Defining the True Competitive Set</a:t>
            </a:r>
            <a:endParaRPr lang="en-US" sz="1150" dirty="0"/>
          </a:p>
        </p:txBody>
      </p:sp>
      <p:sp>
        <p:nvSpPr>
          <p:cNvPr id="5" name="Shape 3"/>
          <p:cNvSpPr/>
          <p:nvPr/>
        </p:nvSpPr>
        <p:spPr>
          <a:xfrm>
            <a:off x="548640" y="1371600"/>
            <a:ext cx="6492240" cy="4526280"/>
          </a:xfrm>
          <a:prstGeom prst="rect">
            <a:avLst/>
          </a:prstGeom>
          <a:solidFill>
            <a:srgbClr val="F6F8FA"/>
          </a:solidFill>
          <a:ln w="12700">
            <a:solidFill>
              <a:srgbClr val="E3E7EC"/>
            </a:solidFill>
            <a:prstDash val="solid"/>
          </a:ln>
        </p:spPr>
      </p:sp>
      <p:sp>
        <p:nvSpPr>
          <p:cNvPr id="6" name="Shape 4"/>
          <p:cNvSpPr/>
          <p:nvPr/>
        </p:nvSpPr>
        <p:spPr>
          <a:xfrm>
            <a:off x="3794760" y="1371600"/>
            <a:ext cx="0" cy="4526280"/>
          </a:xfrm>
          <a:prstGeom prst="line">
            <a:avLst/>
          </a:prstGeom>
          <a:noFill/>
          <a:ln w="12700">
            <a:solidFill>
              <a:srgbClr val="E3E7EC"/>
            </a:solidFill>
            <a:prstDash val="dash"/>
          </a:ln>
        </p:spPr>
      </p:sp>
      <p:sp>
        <p:nvSpPr>
          <p:cNvPr id="7" name="Shape 5"/>
          <p:cNvSpPr/>
          <p:nvPr/>
        </p:nvSpPr>
        <p:spPr>
          <a:xfrm>
            <a:off x="548640" y="3634740"/>
            <a:ext cx="6492240" cy="0"/>
          </a:xfrm>
          <a:prstGeom prst="line">
            <a:avLst/>
          </a:prstGeom>
          <a:noFill/>
          <a:ln w="12700">
            <a:solidFill>
              <a:srgbClr val="E3E7EC"/>
            </a:solidFill>
            <a:prstDash val="dash"/>
          </a:ln>
        </p:spPr>
      </p:sp>
      <p:sp>
        <p:nvSpPr>
          <p:cNvPr id="8" name="Text 6"/>
          <p:cNvSpPr/>
          <p:nvPr/>
        </p:nvSpPr>
        <p:spPr>
          <a:xfrm>
            <a:off x="6035040" y="5925312"/>
            <a:ext cx="1005840" cy="228600"/>
          </a:xfrm>
          <a:prstGeom prst="rect">
            <a:avLst/>
          </a:prstGeom>
          <a:noFill/>
          <a:ln/>
        </p:spPr>
        <p:txBody>
          <a:bodyPr wrap="square" lIns="0" tIns="0" rIns="0" bIns="0" rtlCol="0" anchor="ctr"/>
          <a:lstStyle/>
          <a:p>
            <a:pPr algn="r" indent="0" marL="0">
              <a:buNone/>
            </a:pPr>
            <a:r>
              <a:rPr lang="en-US" sz="850" dirty="0">
                <a:solidFill>
                  <a:srgbClr val="6B7684"/>
                </a:solidFill>
                <a:latin typeface="Calibri" pitchFamily="34" charset="0"/>
                <a:ea typeface="Calibri" pitchFamily="34" charset="-122"/>
                <a:cs typeface="Calibri" pitchFamily="34" charset="-120"/>
              </a:rPr>
              <a:t>SCALE →</a:t>
            </a:r>
            <a:endParaRPr lang="en-US" sz="850" dirty="0"/>
          </a:p>
        </p:txBody>
      </p:sp>
      <p:sp>
        <p:nvSpPr>
          <p:cNvPr id="9" name="Text 7"/>
          <p:cNvSpPr/>
          <p:nvPr/>
        </p:nvSpPr>
        <p:spPr>
          <a:xfrm rot="16200000">
            <a:off x="493776" y="1353312"/>
            <a:ext cx="228600" cy="1828800"/>
          </a:xfrm>
          <a:prstGeom prst="rect">
            <a:avLst/>
          </a:prstGeom>
          <a:noFill/>
          <a:ln/>
        </p:spPr>
        <p:txBody>
          <a:bodyPr wrap="square" lIns="0" tIns="0" rIns="0" bIns="0" rtlCol="0" anchor="ctr"/>
          <a:lstStyle/>
          <a:p>
            <a:pPr indent="0" marL="0">
              <a:buNone/>
            </a:pPr>
            <a:r>
              <a:rPr lang="en-US" sz="800" dirty="0">
                <a:solidFill>
                  <a:srgbClr val="6B7684"/>
                </a:solidFill>
                <a:latin typeface="Calibri" pitchFamily="34" charset="0"/>
                <a:ea typeface="Calibri" pitchFamily="34" charset="-122"/>
                <a:cs typeface="Calibri" pitchFamily="34" charset="-120"/>
              </a:rPr>
              <a:t>INDUSTRIAL FREIGHT FOCUS →</a:t>
            </a:r>
            <a:endParaRPr lang="en-US" sz="800" dirty="0"/>
          </a:p>
        </p:txBody>
      </p:sp>
      <p:sp>
        <p:nvSpPr>
          <p:cNvPr id="10" name="Shape 8"/>
          <p:cNvSpPr/>
          <p:nvPr/>
        </p:nvSpPr>
        <p:spPr>
          <a:xfrm>
            <a:off x="3035808" y="1805026"/>
            <a:ext cx="219456" cy="219456"/>
          </a:xfrm>
          <a:prstGeom prst="ellipse">
            <a:avLst/>
          </a:prstGeom>
          <a:solidFill>
            <a:srgbClr val="1D8FD1"/>
          </a:solidFill>
          <a:ln w="16510">
            <a:solidFill>
              <a:srgbClr val="FFFFFF"/>
            </a:solidFill>
            <a:prstDash val="solid"/>
          </a:ln>
        </p:spPr>
      </p:sp>
      <p:sp>
        <p:nvSpPr>
          <p:cNvPr id="11" name="Text 9"/>
          <p:cNvSpPr/>
          <p:nvPr/>
        </p:nvSpPr>
        <p:spPr>
          <a:xfrm>
            <a:off x="2368296" y="2042770"/>
            <a:ext cx="1554480" cy="201168"/>
          </a:xfrm>
          <a:prstGeom prst="rect">
            <a:avLst/>
          </a:prstGeom>
          <a:noFill/>
          <a:ln/>
        </p:spPr>
        <p:txBody>
          <a:bodyPr wrap="square" lIns="0" tIns="0" rIns="0" bIns="0" rtlCol="0" anchor="ctr"/>
          <a:lstStyle/>
          <a:p>
            <a:pPr algn="ctr" indent="0" marL="0">
              <a:buNone/>
            </a:pPr>
            <a:r>
              <a:rPr lang="en-US" sz="800" b="1" dirty="0">
                <a:solidFill>
                  <a:srgbClr val="0B2A4A"/>
                </a:solidFill>
                <a:latin typeface="Calibri" pitchFamily="34" charset="0"/>
                <a:ea typeface="Calibri" pitchFamily="34" charset="-122"/>
                <a:cs typeface="Calibri" pitchFamily="34" charset="-120"/>
              </a:rPr>
              <a:t>CJ Darcl</a:t>
            </a:r>
            <a:endParaRPr lang="en-US" sz="800" dirty="0"/>
          </a:p>
        </p:txBody>
      </p:sp>
      <p:sp>
        <p:nvSpPr>
          <p:cNvPr id="12" name="Shape 10"/>
          <p:cNvSpPr/>
          <p:nvPr/>
        </p:nvSpPr>
        <p:spPr>
          <a:xfrm>
            <a:off x="5539435" y="3335274"/>
            <a:ext cx="146304" cy="146304"/>
          </a:xfrm>
          <a:prstGeom prst="ellipse">
            <a:avLst/>
          </a:prstGeom>
          <a:solidFill>
            <a:srgbClr val="F2901E"/>
          </a:solidFill>
          <a:ln w="16510">
            <a:solidFill>
              <a:srgbClr val="FFFFFF"/>
            </a:solidFill>
            <a:prstDash val="solid"/>
          </a:ln>
        </p:spPr>
      </p:sp>
      <p:sp>
        <p:nvSpPr>
          <p:cNvPr id="13" name="Text 11"/>
          <p:cNvSpPr/>
          <p:nvPr/>
        </p:nvSpPr>
        <p:spPr>
          <a:xfrm>
            <a:off x="4835347" y="3499866"/>
            <a:ext cx="1554480" cy="201168"/>
          </a:xfrm>
          <a:prstGeom prst="rect">
            <a:avLst/>
          </a:prstGeom>
          <a:noFill/>
          <a:ln/>
        </p:spPr>
        <p:txBody>
          <a:bodyPr wrap="square" lIns="0" tIns="0" rIns="0" bIns="0" rtlCol="0" anchor="ctr"/>
          <a:lstStyle/>
          <a:p>
            <a:pPr algn="ctr" indent="0" marL="0">
              <a:buNone/>
            </a:pPr>
            <a:r>
              <a:rPr lang="en-US" sz="800" dirty="0">
                <a:solidFill>
                  <a:srgbClr val="0B2A4A"/>
                </a:solidFill>
                <a:latin typeface="Calibri" pitchFamily="34" charset="0"/>
                <a:ea typeface="Calibri" pitchFamily="34" charset="-122"/>
                <a:cs typeface="Calibri" pitchFamily="34" charset="-120"/>
              </a:rPr>
              <a:t>TCI Freight</a:t>
            </a:r>
            <a:endParaRPr lang="en-US" sz="800" dirty="0"/>
          </a:p>
        </p:txBody>
      </p:sp>
      <p:sp>
        <p:nvSpPr>
          <p:cNvPr id="14" name="Shape 12"/>
          <p:cNvSpPr/>
          <p:nvPr/>
        </p:nvSpPr>
        <p:spPr>
          <a:xfrm>
            <a:off x="5669280" y="4376318"/>
            <a:ext cx="146304" cy="146304"/>
          </a:xfrm>
          <a:prstGeom prst="ellipse">
            <a:avLst/>
          </a:prstGeom>
          <a:solidFill>
            <a:srgbClr val="3D4652"/>
          </a:solidFill>
          <a:ln w="16510">
            <a:solidFill>
              <a:srgbClr val="FFFFFF"/>
            </a:solidFill>
            <a:prstDash val="solid"/>
          </a:ln>
        </p:spPr>
      </p:sp>
      <p:sp>
        <p:nvSpPr>
          <p:cNvPr id="15" name="Text 13"/>
          <p:cNvSpPr/>
          <p:nvPr/>
        </p:nvSpPr>
        <p:spPr>
          <a:xfrm>
            <a:off x="4965192" y="4540910"/>
            <a:ext cx="1554480" cy="201168"/>
          </a:xfrm>
          <a:prstGeom prst="rect">
            <a:avLst/>
          </a:prstGeom>
          <a:noFill/>
          <a:ln/>
        </p:spPr>
        <p:txBody>
          <a:bodyPr wrap="square" lIns="0" tIns="0" rIns="0" bIns="0" rtlCol="0" anchor="ctr"/>
          <a:lstStyle/>
          <a:p>
            <a:pPr algn="ctr" indent="0" marL="0">
              <a:buNone/>
            </a:pPr>
            <a:r>
              <a:rPr lang="en-US" sz="800" dirty="0">
                <a:solidFill>
                  <a:srgbClr val="0B2A4A"/>
                </a:solidFill>
                <a:latin typeface="Calibri" pitchFamily="34" charset="0"/>
                <a:ea typeface="Calibri" pitchFamily="34" charset="-122"/>
                <a:cs typeface="Calibri" pitchFamily="34" charset="-120"/>
              </a:rPr>
              <a:t>Mahindra Log.</a:t>
            </a:r>
            <a:endParaRPr lang="en-US" sz="800" dirty="0"/>
          </a:p>
        </p:txBody>
      </p:sp>
      <p:sp>
        <p:nvSpPr>
          <p:cNvPr id="16" name="Shape 14"/>
          <p:cNvSpPr/>
          <p:nvPr/>
        </p:nvSpPr>
        <p:spPr>
          <a:xfrm>
            <a:off x="4046220" y="4919472"/>
            <a:ext cx="146304" cy="146304"/>
          </a:xfrm>
          <a:prstGeom prst="ellipse">
            <a:avLst/>
          </a:prstGeom>
          <a:solidFill>
            <a:srgbClr val="3D4652"/>
          </a:solidFill>
          <a:ln w="16510">
            <a:solidFill>
              <a:srgbClr val="FFFFFF"/>
            </a:solidFill>
            <a:prstDash val="solid"/>
          </a:ln>
        </p:spPr>
      </p:sp>
      <p:sp>
        <p:nvSpPr>
          <p:cNvPr id="17" name="Text 15"/>
          <p:cNvSpPr/>
          <p:nvPr/>
        </p:nvSpPr>
        <p:spPr>
          <a:xfrm>
            <a:off x="3342132" y="5084064"/>
            <a:ext cx="1554480" cy="201168"/>
          </a:xfrm>
          <a:prstGeom prst="rect">
            <a:avLst/>
          </a:prstGeom>
          <a:noFill/>
          <a:ln/>
        </p:spPr>
        <p:txBody>
          <a:bodyPr wrap="square" lIns="0" tIns="0" rIns="0" bIns="0" rtlCol="0" anchor="ctr"/>
          <a:lstStyle/>
          <a:p>
            <a:pPr algn="ctr" indent="0" marL="0">
              <a:buNone/>
            </a:pPr>
            <a:r>
              <a:rPr lang="en-US" sz="800" dirty="0">
                <a:solidFill>
                  <a:srgbClr val="0B2A4A"/>
                </a:solidFill>
                <a:latin typeface="Calibri" pitchFamily="34" charset="0"/>
                <a:ea typeface="Calibri" pitchFamily="34" charset="-122"/>
                <a:cs typeface="Calibri" pitchFamily="34" charset="-120"/>
              </a:rPr>
              <a:t>Safexpress</a:t>
            </a:r>
            <a:endParaRPr lang="en-US" sz="800" dirty="0"/>
          </a:p>
        </p:txBody>
      </p:sp>
      <p:sp>
        <p:nvSpPr>
          <p:cNvPr id="18" name="Shape 16"/>
          <p:cNvSpPr/>
          <p:nvPr/>
        </p:nvSpPr>
        <p:spPr>
          <a:xfrm>
            <a:off x="4370832" y="3923690"/>
            <a:ext cx="146304" cy="146304"/>
          </a:xfrm>
          <a:prstGeom prst="ellipse">
            <a:avLst/>
          </a:prstGeom>
          <a:solidFill>
            <a:srgbClr val="3D4652"/>
          </a:solidFill>
          <a:ln w="16510">
            <a:solidFill>
              <a:srgbClr val="FFFFFF"/>
            </a:solidFill>
            <a:prstDash val="solid"/>
          </a:ln>
        </p:spPr>
      </p:sp>
      <p:sp>
        <p:nvSpPr>
          <p:cNvPr id="19" name="Text 17"/>
          <p:cNvSpPr/>
          <p:nvPr/>
        </p:nvSpPr>
        <p:spPr>
          <a:xfrm>
            <a:off x="3666744" y="4088282"/>
            <a:ext cx="1554480" cy="201168"/>
          </a:xfrm>
          <a:prstGeom prst="rect">
            <a:avLst/>
          </a:prstGeom>
          <a:noFill/>
          <a:ln/>
        </p:spPr>
        <p:txBody>
          <a:bodyPr wrap="square" lIns="0" tIns="0" rIns="0" bIns="0" rtlCol="0" anchor="ctr"/>
          <a:lstStyle/>
          <a:p>
            <a:pPr algn="ctr" indent="0" marL="0">
              <a:buNone/>
            </a:pPr>
            <a:r>
              <a:rPr lang="en-US" sz="800" dirty="0">
                <a:solidFill>
                  <a:srgbClr val="0B2A4A"/>
                </a:solidFill>
                <a:latin typeface="Calibri" pitchFamily="34" charset="0"/>
                <a:ea typeface="Calibri" pitchFamily="34" charset="-122"/>
                <a:cs typeface="Calibri" pitchFamily="34" charset="-120"/>
              </a:rPr>
              <a:t>TVS SCS</a:t>
            </a:r>
            <a:endParaRPr lang="en-US" sz="800" dirty="0"/>
          </a:p>
        </p:txBody>
      </p:sp>
      <p:sp>
        <p:nvSpPr>
          <p:cNvPr id="20" name="Shape 18"/>
          <p:cNvSpPr/>
          <p:nvPr/>
        </p:nvSpPr>
        <p:spPr>
          <a:xfrm>
            <a:off x="5149901" y="5009998"/>
            <a:ext cx="146304" cy="146304"/>
          </a:xfrm>
          <a:prstGeom prst="ellipse">
            <a:avLst/>
          </a:prstGeom>
          <a:solidFill>
            <a:srgbClr val="3D4652"/>
          </a:solidFill>
          <a:ln w="16510">
            <a:solidFill>
              <a:srgbClr val="FFFFFF"/>
            </a:solidFill>
            <a:prstDash val="solid"/>
          </a:ln>
        </p:spPr>
      </p:sp>
      <p:sp>
        <p:nvSpPr>
          <p:cNvPr id="21" name="Text 19"/>
          <p:cNvSpPr/>
          <p:nvPr/>
        </p:nvSpPr>
        <p:spPr>
          <a:xfrm>
            <a:off x="4445813" y="5174590"/>
            <a:ext cx="1554480" cy="201168"/>
          </a:xfrm>
          <a:prstGeom prst="rect">
            <a:avLst/>
          </a:prstGeom>
          <a:noFill/>
          <a:ln/>
        </p:spPr>
        <p:txBody>
          <a:bodyPr wrap="square" lIns="0" tIns="0" rIns="0" bIns="0" rtlCol="0" anchor="ctr"/>
          <a:lstStyle/>
          <a:p>
            <a:pPr algn="ctr" indent="0" marL="0">
              <a:buNone/>
            </a:pPr>
            <a:r>
              <a:rPr lang="en-US" sz="800" dirty="0">
                <a:solidFill>
                  <a:srgbClr val="0B2A4A"/>
                </a:solidFill>
                <a:latin typeface="Calibri" pitchFamily="34" charset="0"/>
                <a:ea typeface="Calibri" pitchFamily="34" charset="-122"/>
                <a:cs typeface="Calibri" pitchFamily="34" charset="-120"/>
              </a:rPr>
              <a:t>DHL SC</a:t>
            </a:r>
            <a:endParaRPr lang="en-US" sz="800" dirty="0"/>
          </a:p>
        </p:txBody>
      </p:sp>
      <p:sp>
        <p:nvSpPr>
          <p:cNvPr id="22" name="Shape 20"/>
          <p:cNvSpPr/>
          <p:nvPr/>
        </p:nvSpPr>
        <p:spPr>
          <a:xfrm>
            <a:off x="2423160" y="5191049"/>
            <a:ext cx="146304" cy="146304"/>
          </a:xfrm>
          <a:prstGeom prst="ellipse">
            <a:avLst/>
          </a:prstGeom>
          <a:solidFill>
            <a:srgbClr val="9AA6B2"/>
          </a:solidFill>
          <a:ln w="16510">
            <a:solidFill>
              <a:srgbClr val="FFFFFF"/>
            </a:solidFill>
            <a:prstDash val="solid"/>
          </a:ln>
        </p:spPr>
      </p:sp>
      <p:sp>
        <p:nvSpPr>
          <p:cNvPr id="23" name="Text 21"/>
          <p:cNvSpPr/>
          <p:nvPr/>
        </p:nvSpPr>
        <p:spPr>
          <a:xfrm>
            <a:off x="1719072" y="5355641"/>
            <a:ext cx="1554480" cy="201168"/>
          </a:xfrm>
          <a:prstGeom prst="rect">
            <a:avLst/>
          </a:prstGeom>
          <a:noFill/>
          <a:ln/>
        </p:spPr>
        <p:txBody>
          <a:bodyPr wrap="square" lIns="0" tIns="0" rIns="0" bIns="0" rtlCol="0" anchor="ctr"/>
          <a:lstStyle/>
          <a:p>
            <a:pPr algn="ctr" indent="0" marL="0">
              <a:buNone/>
            </a:pPr>
            <a:r>
              <a:rPr lang="en-US" sz="800" dirty="0">
                <a:solidFill>
                  <a:srgbClr val="0B2A4A"/>
                </a:solidFill>
                <a:latin typeface="Calibri" pitchFamily="34" charset="0"/>
                <a:ea typeface="Calibri" pitchFamily="34" charset="-122"/>
                <a:cs typeface="Calibri" pitchFamily="34" charset="-120"/>
              </a:rPr>
              <a:t>Allcargo Gati</a:t>
            </a:r>
            <a:endParaRPr lang="en-US" sz="800" dirty="0"/>
          </a:p>
        </p:txBody>
      </p:sp>
      <p:sp>
        <p:nvSpPr>
          <p:cNvPr id="24" name="Shape 22"/>
          <p:cNvSpPr/>
          <p:nvPr/>
        </p:nvSpPr>
        <p:spPr>
          <a:xfrm>
            <a:off x="4890211" y="5462626"/>
            <a:ext cx="146304" cy="146304"/>
          </a:xfrm>
          <a:prstGeom prst="ellipse">
            <a:avLst/>
          </a:prstGeom>
          <a:solidFill>
            <a:srgbClr val="9AA6B2"/>
          </a:solidFill>
          <a:ln w="16510">
            <a:solidFill>
              <a:srgbClr val="FFFFFF"/>
            </a:solidFill>
            <a:prstDash val="solid"/>
          </a:ln>
        </p:spPr>
      </p:sp>
      <p:sp>
        <p:nvSpPr>
          <p:cNvPr id="25" name="Text 23"/>
          <p:cNvSpPr/>
          <p:nvPr/>
        </p:nvSpPr>
        <p:spPr>
          <a:xfrm>
            <a:off x="4186123" y="5627218"/>
            <a:ext cx="1554480" cy="201168"/>
          </a:xfrm>
          <a:prstGeom prst="rect">
            <a:avLst/>
          </a:prstGeom>
          <a:noFill/>
          <a:ln/>
        </p:spPr>
        <p:txBody>
          <a:bodyPr wrap="square" lIns="0" tIns="0" rIns="0" bIns="0" rtlCol="0" anchor="ctr"/>
          <a:lstStyle/>
          <a:p>
            <a:pPr algn="ctr" indent="0" marL="0">
              <a:buNone/>
            </a:pPr>
            <a:r>
              <a:rPr lang="en-US" sz="800" dirty="0">
                <a:solidFill>
                  <a:srgbClr val="0B2A4A"/>
                </a:solidFill>
                <a:latin typeface="Calibri" pitchFamily="34" charset="0"/>
                <a:ea typeface="Calibri" pitchFamily="34" charset="-122"/>
                <a:cs typeface="Calibri" pitchFamily="34" charset="-120"/>
              </a:rPr>
              <a:t>Delhivery</a:t>
            </a:r>
            <a:endParaRPr lang="en-US" sz="800" dirty="0"/>
          </a:p>
        </p:txBody>
      </p:sp>
      <p:sp>
        <p:nvSpPr>
          <p:cNvPr id="26" name="Shape 24"/>
          <p:cNvSpPr/>
          <p:nvPr/>
        </p:nvSpPr>
        <p:spPr>
          <a:xfrm>
            <a:off x="1773936" y="5372100"/>
            <a:ext cx="146304" cy="146304"/>
          </a:xfrm>
          <a:prstGeom prst="ellipse">
            <a:avLst/>
          </a:prstGeom>
          <a:solidFill>
            <a:srgbClr val="9AA6B2"/>
          </a:solidFill>
          <a:ln w="16510">
            <a:solidFill>
              <a:srgbClr val="FFFFFF"/>
            </a:solidFill>
            <a:prstDash val="solid"/>
          </a:ln>
        </p:spPr>
      </p:sp>
      <p:sp>
        <p:nvSpPr>
          <p:cNvPr id="27" name="Text 25"/>
          <p:cNvSpPr/>
          <p:nvPr/>
        </p:nvSpPr>
        <p:spPr>
          <a:xfrm>
            <a:off x="1069848" y="5536692"/>
            <a:ext cx="1554480" cy="201168"/>
          </a:xfrm>
          <a:prstGeom prst="rect">
            <a:avLst/>
          </a:prstGeom>
          <a:noFill/>
          <a:ln/>
        </p:spPr>
        <p:txBody>
          <a:bodyPr wrap="square" lIns="0" tIns="0" rIns="0" bIns="0" rtlCol="0" anchor="ctr"/>
          <a:lstStyle/>
          <a:p>
            <a:pPr algn="ctr" indent="0" marL="0">
              <a:buNone/>
            </a:pPr>
            <a:r>
              <a:rPr lang="en-US" sz="800" dirty="0">
                <a:solidFill>
                  <a:srgbClr val="0B2A4A"/>
                </a:solidFill>
                <a:latin typeface="Calibri" pitchFamily="34" charset="0"/>
                <a:ea typeface="Calibri" pitchFamily="34" charset="-122"/>
                <a:cs typeface="Calibri" pitchFamily="34" charset="-120"/>
              </a:rPr>
              <a:t>VRL Log.</a:t>
            </a:r>
            <a:endParaRPr lang="en-US" sz="800" dirty="0"/>
          </a:p>
        </p:txBody>
      </p:sp>
      <p:sp>
        <p:nvSpPr>
          <p:cNvPr id="28" name="Shape 26"/>
          <p:cNvSpPr/>
          <p:nvPr/>
        </p:nvSpPr>
        <p:spPr>
          <a:xfrm>
            <a:off x="7360920" y="1371600"/>
            <a:ext cx="4279392" cy="2148840"/>
          </a:xfrm>
          <a:prstGeom prst="roundRect">
            <a:avLst>
              <a:gd name="adj" fmla="val 2979"/>
            </a:avLst>
          </a:prstGeom>
          <a:solidFill>
            <a:srgbClr val="EAF4FB"/>
          </a:solidFill>
          <a:ln/>
        </p:spPr>
      </p:sp>
      <p:pic>
        <p:nvPicPr>
          <p:cNvPr id="29" name="Image 0" descr="preencoded.png">    </p:cNvPr>
          <p:cNvPicPr>
            <a:picLocks noChangeAspect="1"/>
          </p:cNvPicPr>
          <p:nvPr/>
        </p:nvPicPr>
        <p:blipFill>
          <a:blip r:embed="rId1"/>
          <a:stretch>
            <a:fillRect/>
          </a:stretch>
        </p:blipFill>
        <p:spPr>
          <a:xfrm>
            <a:off x="7562088" y="1554480"/>
            <a:ext cx="274320" cy="274320"/>
          </a:xfrm>
          <a:prstGeom prst="rect">
            <a:avLst/>
          </a:prstGeom>
        </p:spPr>
      </p:pic>
      <p:sp>
        <p:nvSpPr>
          <p:cNvPr id="30" name="Text 27"/>
          <p:cNvSpPr/>
          <p:nvPr/>
        </p:nvSpPr>
        <p:spPr>
          <a:xfrm>
            <a:off x="7955280" y="1554480"/>
            <a:ext cx="3474720" cy="274320"/>
          </a:xfrm>
          <a:prstGeom prst="rect">
            <a:avLst/>
          </a:prstGeom>
          <a:noFill/>
          <a:ln/>
        </p:spPr>
        <p:txBody>
          <a:bodyPr wrap="square" lIns="0" tIns="0" rIns="0" bIns="0" rtlCol="0" anchor="ctr"/>
          <a:lstStyle/>
          <a:p>
            <a:pPr indent="0" marL="0">
              <a:buNone/>
            </a:pPr>
            <a:r>
              <a:rPr lang="en-US" sz="1350" b="1" dirty="0">
                <a:solidFill>
                  <a:srgbClr val="0B2A4A"/>
                </a:solidFill>
                <a:latin typeface="Calibri" pitchFamily="34" charset="0"/>
                <a:ea typeface="Calibri" pitchFamily="34" charset="-122"/>
                <a:cs typeface="Calibri" pitchFamily="34" charset="-120"/>
              </a:rPr>
              <a:t>Direct Competitors</a:t>
            </a:r>
            <a:endParaRPr lang="en-US" sz="1350" dirty="0"/>
          </a:p>
        </p:txBody>
      </p:sp>
      <p:sp>
        <p:nvSpPr>
          <p:cNvPr id="31" name="Text 28"/>
          <p:cNvSpPr/>
          <p:nvPr/>
        </p:nvSpPr>
        <p:spPr>
          <a:xfrm>
            <a:off x="7580376" y="1965960"/>
            <a:ext cx="3840480" cy="1463040"/>
          </a:xfrm>
          <a:prstGeom prst="rect">
            <a:avLst/>
          </a:prstGeom>
          <a:noFill/>
          <a:ln/>
        </p:spPr>
        <p:txBody>
          <a:bodyPr wrap="square" lIns="0" tIns="0" rIns="0" bIns="0" rtlCol="0" anchor="ctr"/>
          <a:lstStyle/>
          <a:p>
            <a:pPr marL="342900" indent="-342900">
              <a:lnSpc>
                <a:spcPts val="1400"/>
              </a:lnSpc>
              <a:spcAft>
                <a:spcPts val="500"/>
              </a:spcAft>
              <a:buSzPct val="100000"/>
              <a:buChar char="•"/>
            </a:pPr>
            <a:r>
              <a:rPr lang="en-US" sz="1100" dirty="0">
                <a:solidFill>
                  <a:srgbClr val="3D4652"/>
                </a:solidFill>
                <a:latin typeface="Calibri" pitchFamily="34" charset="0"/>
                <a:ea typeface="Calibri" pitchFamily="34" charset="-122"/>
                <a:cs typeface="Calibri" pitchFamily="34" charset="-120"/>
              </a:rPr>
              <a:t>TCI Freight</a:t>
            </a:r>
            <a:endParaRPr lang="en-US" sz="1100" dirty="0"/>
          </a:p>
          <a:p>
            <a:pPr marL="342900" indent="-342900">
              <a:lnSpc>
                <a:spcPts val="1400"/>
              </a:lnSpc>
              <a:spcAft>
                <a:spcPts val="500"/>
              </a:spcAft>
              <a:buSzPct val="100000"/>
              <a:buChar char="•"/>
            </a:pPr>
            <a:r>
              <a:rPr lang="en-US" sz="1100" dirty="0">
                <a:solidFill>
                  <a:srgbClr val="3D4652"/>
                </a:solidFill>
                <a:latin typeface="Calibri" pitchFamily="34" charset="0"/>
                <a:ea typeface="Calibri" pitchFamily="34" charset="-122"/>
                <a:cs typeface="Calibri" pitchFamily="34" charset="-120"/>
              </a:rPr>
              <a:t>Mahindra Logistics</a:t>
            </a:r>
            <a:endParaRPr lang="en-US" sz="1100" dirty="0"/>
          </a:p>
          <a:p>
            <a:pPr marL="342900" indent="-342900">
              <a:lnSpc>
                <a:spcPts val="1400"/>
              </a:lnSpc>
              <a:spcAft>
                <a:spcPts val="500"/>
              </a:spcAft>
              <a:buSzPct val="100000"/>
              <a:buChar char="•"/>
            </a:pPr>
            <a:r>
              <a:rPr lang="en-US" sz="1100" dirty="0">
                <a:solidFill>
                  <a:srgbClr val="3D4652"/>
                </a:solidFill>
                <a:latin typeface="Calibri" pitchFamily="34" charset="0"/>
                <a:ea typeface="Calibri" pitchFamily="34" charset="-122"/>
                <a:cs typeface="Calibri" pitchFamily="34" charset="-120"/>
              </a:rPr>
              <a:t>Safexpress</a:t>
            </a:r>
            <a:endParaRPr lang="en-US" sz="1100" dirty="0"/>
          </a:p>
          <a:p>
            <a:pPr marL="342900" indent="-342900">
              <a:lnSpc>
                <a:spcPts val="1400"/>
              </a:lnSpc>
              <a:spcAft>
                <a:spcPts val="500"/>
              </a:spcAft>
              <a:buSzPct val="100000"/>
              <a:buChar char="•"/>
            </a:pPr>
            <a:r>
              <a:rPr lang="en-US" sz="1100" dirty="0">
                <a:solidFill>
                  <a:srgbClr val="3D4652"/>
                </a:solidFill>
                <a:latin typeface="Calibri" pitchFamily="34" charset="0"/>
                <a:ea typeface="Calibri" pitchFamily="34" charset="-122"/>
                <a:cs typeface="Calibri" pitchFamily="34" charset="-120"/>
              </a:rPr>
              <a:t>TVS Supply Chain Solutions</a:t>
            </a:r>
            <a:endParaRPr lang="en-US" sz="1100" dirty="0"/>
          </a:p>
          <a:p>
            <a:pPr marL="342900" indent="-342900">
              <a:lnSpc>
                <a:spcPts val="1400"/>
              </a:lnSpc>
              <a:spcAft>
                <a:spcPts val="500"/>
              </a:spcAft>
              <a:buSzPct val="100000"/>
              <a:buChar char="•"/>
            </a:pPr>
            <a:r>
              <a:rPr lang="en-US" sz="1100" dirty="0">
                <a:solidFill>
                  <a:srgbClr val="3D4652"/>
                </a:solidFill>
                <a:latin typeface="Calibri" pitchFamily="34" charset="0"/>
                <a:ea typeface="Calibri" pitchFamily="34" charset="-122"/>
                <a:cs typeface="Calibri" pitchFamily="34" charset="-120"/>
              </a:rPr>
              <a:t>DHL Supply Chain</a:t>
            </a:r>
            <a:endParaRPr lang="en-US" sz="1100" dirty="0"/>
          </a:p>
        </p:txBody>
      </p:sp>
      <p:sp>
        <p:nvSpPr>
          <p:cNvPr id="32" name="Shape 29"/>
          <p:cNvSpPr/>
          <p:nvPr/>
        </p:nvSpPr>
        <p:spPr>
          <a:xfrm>
            <a:off x="7360920" y="3657600"/>
            <a:ext cx="4279392" cy="1600200"/>
          </a:xfrm>
          <a:prstGeom prst="roundRect">
            <a:avLst>
              <a:gd name="adj" fmla="val 4000"/>
            </a:avLst>
          </a:prstGeom>
          <a:solidFill>
            <a:srgbClr val="F6F8FA"/>
          </a:solidFill>
          <a:ln/>
        </p:spPr>
      </p:sp>
      <p:pic>
        <p:nvPicPr>
          <p:cNvPr id="33" name="Image 1" descr="preencoded.png">    </p:cNvPr>
          <p:cNvPicPr>
            <a:picLocks noChangeAspect="1"/>
          </p:cNvPicPr>
          <p:nvPr/>
        </p:nvPicPr>
        <p:blipFill>
          <a:blip r:embed="rId2"/>
          <a:stretch>
            <a:fillRect/>
          </a:stretch>
        </p:blipFill>
        <p:spPr>
          <a:xfrm>
            <a:off x="7562088" y="3840480"/>
            <a:ext cx="274320" cy="274320"/>
          </a:xfrm>
          <a:prstGeom prst="rect">
            <a:avLst/>
          </a:prstGeom>
        </p:spPr>
      </p:pic>
      <p:sp>
        <p:nvSpPr>
          <p:cNvPr id="34" name="Text 30"/>
          <p:cNvSpPr/>
          <p:nvPr/>
        </p:nvSpPr>
        <p:spPr>
          <a:xfrm>
            <a:off x="7955280" y="3840480"/>
            <a:ext cx="3474720" cy="274320"/>
          </a:xfrm>
          <a:prstGeom prst="rect">
            <a:avLst/>
          </a:prstGeom>
          <a:noFill/>
          <a:ln/>
        </p:spPr>
        <p:txBody>
          <a:bodyPr wrap="square" lIns="0" tIns="0" rIns="0" bIns="0" rtlCol="0" anchor="ctr"/>
          <a:lstStyle/>
          <a:p>
            <a:pPr indent="0" marL="0">
              <a:buNone/>
            </a:pPr>
            <a:r>
              <a:rPr lang="en-US" sz="1350" b="1" dirty="0">
                <a:solidFill>
                  <a:srgbClr val="0B2A4A"/>
                </a:solidFill>
                <a:latin typeface="Calibri" pitchFamily="34" charset="0"/>
                <a:ea typeface="Calibri" pitchFamily="34" charset="-122"/>
                <a:cs typeface="Calibri" pitchFamily="34" charset="-120"/>
              </a:rPr>
              <a:t>Indirect Competitors</a:t>
            </a:r>
            <a:endParaRPr lang="en-US" sz="1350" dirty="0"/>
          </a:p>
        </p:txBody>
      </p:sp>
      <p:sp>
        <p:nvSpPr>
          <p:cNvPr id="35" name="Text 31"/>
          <p:cNvSpPr/>
          <p:nvPr/>
        </p:nvSpPr>
        <p:spPr>
          <a:xfrm>
            <a:off x="7580376" y="4251960"/>
            <a:ext cx="3840480" cy="914400"/>
          </a:xfrm>
          <a:prstGeom prst="rect">
            <a:avLst/>
          </a:prstGeom>
          <a:noFill/>
          <a:ln/>
        </p:spPr>
        <p:txBody>
          <a:bodyPr wrap="square" lIns="0" tIns="0" rIns="0" bIns="0" rtlCol="0" anchor="ctr"/>
          <a:lstStyle/>
          <a:p>
            <a:pPr marL="342900" indent="-342900">
              <a:lnSpc>
                <a:spcPts val="1400"/>
              </a:lnSpc>
              <a:spcAft>
                <a:spcPts val="500"/>
              </a:spcAft>
              <a:buSzPct val="100000"/>
              <a:buChar char="•"/>
            </a:pPr>
            <a:r>
              <a:rPr lang="en-US" sz="1100" dirty="0">
                <a:solidFill>
                  <a:srgbClr val="3D4652"/>
                </a:solidFill>
                <a:latin typeface="Calibri" pitchFamily="34" charset="0"/>
                <a:ea typeface="Calibri" pitchFamily="34" charset="-122"/>
                <a:cs typeface="Calibri" pitchFamily="34" charset="-120"/>
              </a:rPr>
              <a:t>Delhivery (express/PTL-led)</a:t>
            </a:r>
            <a:endParaRPr lang="en-US" sz="1100" dirty="0"/>
          </a:p>
          <a:p>
            <a:pPr marL="342900" indent="-342900">
              <a:lnSpc>
                <a:spcPts val="1400"/>
              </a:lnSpc>
              <a:spcAft>
                <a:spcPts val="500"/>
              </a:spcAft>
              <a:buSzPct val="100000"/>
              <a:buChar char="•"/>
            </a:pPr>
            <a:r>
              <a:rPr lang="en-US" sz="1100" dirty="0">
                <a:solidFill>
                  <a:srgbClr val="3D4652"/>
                </a:solidFill>
                <a:latin typeface="Calibri" pitchFamily="34" charset="0"/>
                <a:ea typeface="Calibri" pitchFamily="34" charset="-122"/>
                <a:cs typeface="Calibri" pitchFamily="34" charset="-120"/>
              </a:rPr>
              <a:t>Allcargo Gati (express-led)</a:t>
            </a:r>
            <a:endParaRPr lang="en-US" sz="1100" dirty="0"/>
          </a:p>
          <a:p>
            <a:pPr marL="342900" indent="-342900">
              <a:lnSpc>
                <a:spcPts val="1400"/>
              </a:lnSpc>
              <a:spcAft>
                <a:spcPts val="500"/>
              </a:spcAft>
              <a:buSzPct val="100000"/>
              <a:buChar char="•"/>
            </a:pPr>
            <a:r>
              <a:rPr lang="en-US" sz="1100" dirty="0">
                <a:solidFill>
                  <a:srgbClr val="3D4652"/>
                </a:solidFill>
                <a:latin typeface="Calibri" pitchFamily="34" charset="0"/>
                <a:ea typeface="Calibri" pitchFamily="34" charset="-122"/>
                <a:cs typeface="Calibri" pitchFamily="34" charset="-120"/>
              </a:rPr>
              <a:t>VRL Logistics (LTL-led)</a:t>
            </a:r>
            <a:endParaRPr lang="en-US" sz="1100" dirty="0"/>
          </a:p>
        </p:txBody>
      </p:sp>
      <p:sp>
        <p:nvSpPr>
          <p:cNvPr id="36" name="Text 32"/>
          <p:cNvSpPr/>
          <p:nvPr/>
        </p:nvSpPr>
        <p:spPr>
          <a:xfrm>
            <a:off x="7360920" y="5394960"/>
            <a:ext cx="4279392" cy="502920"/>
          </a:xfrm>
          <a:prstGeom prst="rect">
            <a:avLst/>
          </a:prstGeom>
          <a:noFill/>
          <a:ln/>
        </p:spPr>
        <p:txBody>
          <a:bodyPr wrap="square" lIns="0" tIns="0" rIns="0" bIns="0" rtlCol="0" anchor="ctr"/>
          <a:lstStyle/>
          <a:p>
            <a:pPr indent="0" marL="0">
              <a:lnSpc>
                <a:spcPts val="1200"/>
              </a:lnSpc>
              <a:buNone/>
            </a:pPr>
            <a:r>
              <a:rPr lang="en-US" sz="950" i="1" dirty="0">
                <a:solidFill>
                  <a:srgbClr val="6B7684"/>
                </a:solidFill>
                <a:latin typeface="Calibri" pitchFamily="34" charset="0"/>
                <a:ea typeface="Calibri" pitchFamily="34" charset="-122"/>
                <a:cs typeface="Calibri" pitchFamily="34" charset="-120"/>
              </a:rPr>
              <a:t>Key insight: many logistics companies are parcel- or express-focused and are not true industrial FTL competitors.</a:t>
            </a:r>
            <a:endParaRPr lang="en-US" sz="950" dirty="0"/>
          </a:p>
        </p:txBody>
      </p:sp>
      <p:sp>
        <p:nvSpPr>
          <p:cNvPr id="37" name="Text 33"/>
          <p:cNvSpPr/>
          <p:nvPr/>
        </p:nvSpPr>
        <p:spPr>
          <a:xfrm>
            <a:off x="548640" y="6473952"/>
            <a:ext cx="9875520" cy="274320"/>
          </a:xfrm>
          <a:prstGeom prst="rect">
            <a:avLst/>
          </a:prstGeom>
          <a:noFill/>
          <a:ln/>
        </p:spPr>
        <p:txBody>
          <a:bodyPr wrap="square" lIns="0" tIns="0" rIns="0" bIns="0" rtlCol="0" anchor="ctr"/>
          <a:lstStyle/>
          <a:p>
            <a:pPr indent="0" marL="0">
              <a:buNone/>
            </a:pPr>
            <a:r>
              <a:rPr lang="en-US" sz="780" i="1" dirty="0">
                <a:solidFill>
                  <a:srgbClr val="6B7684"/>
                </a:solidFill>
                <a:latin typeface="Calibri" pitchFamily="34" charset="0"/>
                <a:ea typeface="Calibri" pitchFamily="34" charset="-122"/>
                <a:cs typeface="Calibri" pitchFamily="34" charset="-120"/>
              </a:rPr>
              <a:t>Source: CJ Darcl strategic analysis based on company disclosures and public filings of listed peers.</a:t>
            </a:r>
            <a:endParaRPr lang="en-US" sz="780" dirty="0"/>
          </a:p>
        </p:txBody>
      </p:sp>
      <p:sp>
        <p:nvSpPr>
          <p:cNvPr id="38" name="Text 34"/>
          <p:cNvSpPr/>
          <p:nvPr/>
        </p:nvSpPr>
        <p:spPr>
          <a:xfrm>
            <a:off x="11414455" y="6473952"/>
            <a:ext cx="45720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50" b="1" spc="200" kern="0" dirty="0">
                <a:solidFill>
                  <a:srgbClr val="1D8FD1"/>
                </a:solidFill>
                <a:latin typeface="Calibri" pitchFamily="34" charset="0"/>
                <a:ea typeface="Calibri" pitchFamily="34" charset="-122"/>
                <a:cs typeface="Calibri" pitchFamily="34" charset="-120"/>
              </a:rPr>
              <a:t>COMPETITIVE LANDSCAPE</a:t>
            </a:r>
            <a:endParaRPr lang="en-US" sz="1050" dirty="0"/>
          </a:p>
        </p:txBody>
      </p:sp>
      <p:sp>
        <p:nvSpPr>
          <p:cNvPr id="3" name="Text 1"/>
          <p:cNvSpPr/>
          <p:nvPr/>
        </p:nvSpPr>
        <p:spPr>
          <a:xfrm>
            <a:off x="548640" y="530352"/>
            <a:ext cx="10607040" cy="548640"/>
          </a:xfrm>
          <a:prstGeom prst="rect">
            <a:avLst/>
          </a:prstGeom>
          <a:noFill/>
          <a:ln/>
        </p:spPr>
        <p:txBody>
          <a:bodyPr wrap="square" lIns="0" tIns="0" rIns="0" bIns="0" rtlCol="0" anchor="ctr"/>
          <a:lstStyle/>
          <a:p>
            <a:pPr indent="0" marL="0">
              <a:buNone/>
            </a:pPr>
            <a:r>
              <a:rPr lang="en-US" sz="2400" b="1" dirty="0">
                <a:solidFill>
                  <a:srgbClr val="0B2A4A"/>
                </a:solidFill>
                <a:latin typeface="Cambria" pitchFamily="34" charset="0"/>
                <a:ea typeface="Cambria" pitchFamily="34" charset="-122"/>
                <a:cs typeface="Cambria" pitchFamily="34" charset="-120"/>
              </a:rPr>
              <a:t>Competitor Profile Comparison</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691640"/>
                <a:gridCol w="2148840"/>
                <a:gridCol w="1051560"/>
                <a:gridCol w="2377440"/>
                <a:gridCol w="1783080"/>
                <a:gridCol w="2011680"/>
              </a:tblGrid>
              <a:tr h="53035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Company</a:t>
                      </a:r>
                      <a:endParaRPr lang="en-US" sz="95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Business Model</a:t>
                      </a:r>
                      <a:endParaRPr lang="en-US" sz="95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FTL Focus</a:t>
                      </a:r>
                      <a:endParaRPr lang="en-US" sz="95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Geographic Presence</a:t>
                      </a:r>
                      <a:endParaRPr lang="en-US" sz="95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Warehousing</a:t>
                      </a:r>
                      <a:endParaRPr lang="en-US" sz="95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Asset Ownership</a:t>
                      </a:r>
                      <a:endParaRPr lang="en-US" sz="95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solidFill>
                      <a:srgbClr val="0B2A4A"/>
                    </a:solidFill>
                  </a:tcPr>
                </a:tc>
              </a:tr>
              <a:tr h="530352">
                <a:tc>
                  <a:txBody>
                    <a:bodyPr/>
                    <a:lstStyle/>
                    <a:p>
                      <a:pPr indent="0" marL="0">
                        <a:buNone/>
                      </a:pPr>
                      <a:r>
                        <a:rPr lang="en-US" sz="870" b="1" dirty="0">
                          <a:solidFill>
                            <a:srgbClr val="1D8FD1"/>
                          </a:solidFill>
                          <a:latin typeface="Calibri" pitchFamily="34" charset="0"/>
                          <a:ea typeface="Calibri" pitchFamily="34" charset="-122"/>
                          <a:cs typeface="Calibri" pitchFamily="34" charset="-120"/>
                        </a:rPr>
                        <a:t>CJ Darcl</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Integrated multimodal + FTL</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High</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202 offices / 6,691 locations</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14 facilities</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Asset-right (partnered fleet)</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r h="530352">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TCI Freight</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FTL + LTL surface transport</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High</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Pan-India + SAARC</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15+ Mn sq. ft. (Group)</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Asset-owned + hired</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r h="530352">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Mahindra Logistics</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3PL contract logistics</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Medium–High</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Pan-India</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20.8 Mn sq. ft.</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Managed / asset-light</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r h="530352">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Safexpress</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Express distribution + 3PL</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Medium</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340 offices / 847 gateways</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21.2 Mn sq. ft.</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14,076 GPS-enabled vehicles</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r h="530352">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TVS Supply Chain</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ISCS + Network Solutions</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Medium</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India + global (N.A., Europe)</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Global footprint</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Managed / asset-light</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r h="530352">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DHL Supply Chain</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Contract logistics (3PL)</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Medium</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Select India hubs</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Not separately disclosed</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870" dirty="0">
                          <a:solidFill>
                            <a:srgbClr val="3D4652"/>
                          </a:solidFill>
                          <a:latin typeface="Calibri" pitchFamily="34" charset="0"/>
                          <a:ea typeface="Calibri" pitchFamily="34" charset="-122"/>
                          <a:cs typeface="Calibri" pitchFamily="34" charset="-120"/>
                        </a:rPr>
                        <a:t>Managed / asset-light</a:t>
                      </a:r>
                      <a:endParaRPr lang="en-US" sz="87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bl>
          </a:graphicData>
        </a:graphic>
      </p:graphicFrame>
      <p:sp>
        <p:nvSpPr>
          <p:cNvPr id="5" name="Text 2"/>
          <p:cNvSpPr/>
          <p:nvPr/>
        </p:nvSpPr>
        <p:spPr>
          <a:xfrm>
            <a:off x="548640" y="6473952"/>
            <a:ext cx="9875520" cy="274320"/>
          </a:xfrm>
          <a:prstGeom prst="rect">
            <a:avLst/>
          </a:prstGeom>
          <a:noFill/>
          <a:ln/>
        </p:spPr>
        <p:txBody>
          <a:bodyPr wrap="square" lIns="0" tIns="0" rIns="0" bIns="0" rtlCol="0" anchor="ctr"/>
          <a:lstStyle/>
          <a:p>
            <a:pPr indent="0" marL="0">
              <a:buNone/>
            </a:pPr>
            <a:r>
              <a:rPr lang="en-US" sz="780" i="1" dirty="0">
                <a:solidFill>
                  <a:srgbClr val="6B7684"/>
                </a:solidFill>
                <a:latin typeface="Calibri" pitchFamily="34" charset="0"/>
                <a:ea typeface="Calibri" pitchFamily="34" charset="-122"/>
                <a:cs typeface="Calibri" pitchFamily="34" charset="-120"/>
              </a:rPr>
              <a:t>Source: CJ Darcl DRHP (Sep 2025); TCI/Mahindra Logistics company disclosures; Safexpress company updates (2026); TVS SCS Annual Report FY25; DHL Supply Chain public profile.</a:t>
            </a:r>
            <a:endParaRPr lang="en-US" sz="780" dirty="0"/>
          </a:p>
        </p:txBody>
      </p:sp>
      <p:sp>
        <p:nvSpPr>
          <p:cNvPr id="6" name="Text 3"/>
          <p:cNvSpPr/>
          <p:nvPr/>
        </p:nvSpPr>
        <p:spPr>
          <a:xfrm>
            <a:off x="11414455" y="6473952"/>
            <a:ext cx="45720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50" b="1" spc="200" kern="0" dirty="0">
                <a:solidFill>
                  <a:srgbClr val="1D8FD1"/>
                </a:solidFill>
                <a:latin typeface="Calibri" pitchFamily="34" charset="0"/>
                <a:ea typeface="Calibri" pitchFamily="34" charset="-122"/>
                <a:cs typeface="Calibri" pitchFamily="34" charset="-120"/>
              </a:rPr>
              <a:t>BENCHMARKING</a:t>
            </a:r>
            <a:endParaRPr lang="en-US" sz="1050" dirty="0"/>
          </a:p>
        </p:txBody>
      </p:sp>
      <p:sp>
        <p:nvSpPr>
          <p:cNvPr id="3" name="Text 1"/>
          <p:cNvSpPr/>
          <p:nvPr/>
        </p:nvSpPr>
        <p:spPr>
          <a:xfrm>
            <a:off x="548640" y="530352"/>
            <a:ext cx="10607040" cy="548640"/>
          </a:xfrm>
          <a:prstGeom prst="rect">
            <a:avLst/>
          </a:prstGeom>
          <a:noFill/>
          <a:ln/>
        </p:spPr>
        <p:txBody>
          <a:bodyPr wrap="square" lIns="0" tIns="0" rIns="0" bIns="0" rtlCol="0" anchor="ctr"/>
          <a:lstStyle/>
          <a:p>
            <a:pPr indent="0" marL="0">
              <a:buNone/>
            </a:pPr>
            <a:r>
              <a:rPr lang="en-US" sz="2300" b="1" dirty="0">
                <a:solidFill>
                  <a:srgbClr val="0B2A4A"/>
                </a:solidFill>
                <a:latin typeface="Cambria" pitchFamily="34" charset="0"/>
                <a:ea typeface="Cambria" pitchFamily="34" charset="-122"/>
                <a:cs typeface="Cambria" pitchFamily="34" charset="-120"/>
              </a:rPr>
              <a:t>How Strong Are Competitors Financially?</a:t>
            </a:r>
            <a:endParaRPr lang="en-US" sz="2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1554480"/>
                <a:gridCol w="1143000"/>
                <a:gridCol w="1051560"/>
                <a:gridCol w="1234440"/>
                <a:gridCol w="1051560"/>
              </a:tblGrid>
              <a:tr h="457200">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Company (FY25)</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solidFill>
                      <a:srgbClr val="0B2A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Revenue</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solidFill>
                      <a:srgbClr val="0B2A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EBITDA</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solidFill>
                      <a:srgbClr val="0B2A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EBITDA Margin</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solidFill>
                      <a:srgbClr val="0B2A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PAT / (Loss)</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solidFill>
                      <a:srgbClr val="0B2A4A"/>
                    </a:solidFill>
                  </a:tcPr>
                </a:tc>
              </a:tr>
              <a:tr h="457200">
                <a:tc>
                  <a:txBody>
                    <a:bodyPr/>
                    <a:lstStyle/>
                    <a:p>
                      <a:pPr algn="l" indent="0" marL="0">
                        <a:buNone/>
                      </a:pPr>
                      <a:r>
                        <a:rPr lang="en-US" sz="900" b="1" dirty="0">
                          <a:solidFill>
                            <a:srgbClr val="1D8FD1"/>
                          </a:solidFill>
                          <a:latin typeface="Calibri" pitchFamily="34" charset="0"/>
                          <a:ea typeface="Calibri" pitchFamily="34" charset="-122"/>
                          <a:cs typeface="Calibri" pitchFamily="34" charset="-120"/>
                        </a:rPr>
                        <a:t>CJ Darcl</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900" dirty="0">
                          <a:solidFill>
                            <a:srgbClr val="3D4652"/>
                          </a:solidFill>
                          <a:latin typeface="Calibri" pitchFamily="34" charset="0"/>
                          <a:ea typeface="Calibri" pitchFamily="34" charset="-122"/>
                          <a:cs typeface="Calibri" pitchFamily="34" charset="-120"/>
                        </a:rPr>
                        <a:t>₹5,161 Cr</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900" dirty="0">
                          <a:solidFill>
                            <a:srgbClr val="3D4652"/>
                          </a:solidFill>
                          <a:latin typeface="Calibri" pitchFamily="34" charset="0"/>
                          <a:ea typeface="Calibri" pitchFamily="34" charset="-122"/>
                          <a:cs typeface="Calibri" pitchFamily="34" charset="-120"/>
                        </a:rPr>
                        <a:t>~₹268 Cr</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900" dirty="0">
                          <a:solidFill>
                            <a:srgbClr val="3D4652"/>
                          </a:solidFill>
                          <a:latin typeface="Calibri" pitchFamily="34" charset="0"/>
                          <a:ea typeface="Calibri" pitchFamily="34" charset="-122"/>
                          <a:cs typeface="Calibri" pitchFamily="34" charset="-120"/>
                        </a:rPr>
                        <a:t>5.20%</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900" dirty="0">
                          <a:solidFill>
                            <a:srgbClr val="3D4652"/>
                          </a:solidFill>
                          <a:latin typeface="Calibri" pitchFamily="34" charset="0"/>
                          <a:ea typeface="Calibri" pitchFamily="34" charset="-122"/>
                          <a:cs typeface="Calibri" pitchFamily="34" charset="-120"/>
                        </a:rPr>
                        <a:t>~₹93 Cr</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r h="457200">
                <a:tc>
                  <a:txBody>
                    <a:bodyPr/>
                    <a:lstStyle/>
                    <a:p>
                      <a:pPr algn="l" indent="0" marL="0">
                        <a:buNone/>
                      </a:pPr>
                      <a:r>
                        <a:rPr lang="en-US" sz="900" b="1" dirty="0">
                          <a:solidFill>
                            <a:srgbClr val="1D8FD1"/>
                          </a:solidFill>
                          <a:latin typeface="Calibri" pitchFamily="34" charset="0"/>
                          <a:ea typeface="Calibri" pitchFamily="34" charset="-122"/>
                          <a:cs typeface="Calibri" pitchFamily="34" charset="-120"/>
                        </a:rPr>
                        <a:t>TCI (Consol.)</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900" dirty="0">
                          <a:solidFill>
                            <a:srgbClr val="3D4652"/>
                          </a:solidFill>
                          <a:latin typeface="Calibri" pitchFamily="34" charset="0"/>
                          <a:ea typeface="Calibri" pitchFamily="34" charset="-122"/>
                          <a:cs typeface="Calibri" pitchFamily="34" charset="-120"/>
                        </a:rPr>
                        <a:t>₹4,492 Cr</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900" dirty="0">
                          <a:solidFill>
                            <a:srgbClr val="3D4652"/>
                          </a:solidFill>
                          <a:latin typeface="Calibri" pitchFamily="34" charset="0"/>
                          <a:ea typeface="Calibri" pitchFamily="34" charset="-122"/>
                          <a:cs typeface="Calibri" pitchFamily="34" charset="-120"/>
                        </a:rPr>
                        <a:t>₹461 Cr</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900" dirty="0">
                          <a:solidFill>
                            <a:srgbClr val="3D4652"/>
                          </a:solidFill>
                          <a:latin typeface="Calibri" pitchFamily="34" charset="0"/>
                          <a:ea typeface="Calibri" pitchFamily="34" charset="-122"/>
                          <a:cs typeface="Calibri" pitchFamily="34" charset="-120"/>
                        </a:rPr>
                        <a:t>10.3%</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900" dirty="0">
                          <a:solidFill>
                            <a:srgbClr val="3D4652"/>
                          </a:solidFill>
                          <a:latin typeface="Calibri" pitchFamily="34" charset="0"/>
                          <a:ea typeface="Calibri" pitchFamily="34" charset="-122"/>
                          <a:cs typeface="Calibri" pitchFamily="34" charset="-120"/>
                        </a:rPr>
                        <a:t>n.a.</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r h="457200">
                <a:tc>
                  <a:txBody>
                    <a:bodyPr/>
                    <a:lstStyle/>
                    <a:p>
                      <a:pPr algn="l" indent="0" marL="0">
                        <a:buNone/>
                      </a:pPr>
                      <a:r>
                        <a:rPr lang="en-US" sz="900" b="1" dirty="0">
                          <a:solidFill>
                            <a:srgbClr val="1D8FD1"/>
                          </a:solidFill>
                          <a:latin typeface="Calibri" pitchFamily="34" charset="0"/>
                          <a:ea typeface="Calibri" pitchFamily="34" charset="-122"/>
                          <a:cs typeface="Calibri" pitchFamily="34" charset="-120"/>
                        </a:rPr>
                        <a:t>Mahindra Logistics</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900" dirty="0">
                          <a:solidFill>
                            <a:srgbClr val="3D4652"/>
                          </a:solidFill>
                          <a:latin typeface="Calibri" pitchFamily="34" charset="0"/>
                          <a:ea typeface="Calibri" pitchFamily="34" charset="-122"/>
                          <a:cs typeface="Calibri" pitchFamily="34" charset="-120"/>
                        </a:rPr>
                        <a:t>₹6,105 Cr</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900" dirty="0">
                          <a:solidFill>
                            <a:srgbClr val="3D4652"/>
                          </a:solidFill>
                          <a:latin typeface="Calibri" pitchFamily="34" charset="0"/>
                          <a:ea typeface="Calibri" pitchFamily="34" charset="-122"/>
                          <a:cs typeface="Calibri" pitchFamily="34" charset="-120"/>
                        </a:rPr>
                        <a:t>₹284 Cr</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900" dirty="0">
                          <a:solidFill>
                            <a:srgbClr val="3D4652"/>
                          </a:solidFill>
                          <a:latin typeface="Calibri" pitchFamily="34" charset="0"/>
                          <a:ea typeface="Calibri" pitchFamily="34" charset="-122"/>
                          <a:cs typeface="Calibri" pitchFamily="34" charset="-120"/>
                        </a:rPr>
                        <a:t>4.65%</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900" dirty="0">
                          <a:solidFill>
                            <a:srgbClr val="3D4652"/>
                          </a:solidFill>
                          <a:latin typeface="Calibri" pitchFamily="34" charset="0"/>
                          <a:ea typeface="Calibri" pitchFamily="34" charset="-122"/>
                          <a:cs typeface="Calibri" pitchFamily="34" charset="-120"/>
                        </a:rPr>
                        <a:t>(₹36 Cr)</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r h="457200">
                <a:tc>
                  <a:txBody>
                    <a:bodyPr/>
                    <a:lstStyle/>
                    <a:p>
                      <a:pPr algn="l" indent="0" marL="0">
                        <a:buNone/>
                      </a:pPr>
                      <a:r>
                        <a:rPr lang="en-US" sz="900" b="1" dirty="0">
                          <a:solidFill>
                            <a:srgbClr val="1D8FD1"/>
                          </a:solidFill>
                          <a:latin typeface="Calibri" pitchFamily="34" charset="0"/>
                          <a:ea typeface="Calibri" pitchFamily="34" charset="-122"/>
                          <a:cs typeface="Calibri" pitchFamily="34" charset="-120"/>
                        </a:rPr>
                        <a:t>TVS Supply Chain</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900" dirty="0">
                          <a:solidFill>
                            <a:srgbClr val="3D4652"/>
                          </a:solidFill>
                          <a:latin typeface="Calibri" pitchFamily="34" charset="0"/>
                          <a:ea typeface="Calibri" pitchFamily="34" charset="-122"/>
                          <a:cs typeface="Calibri" pitchFamily="34" charset="-120"/>
                        </a:rPr>
                        <a:t>₹9,996 Cr</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900" dirty="0">
                          <a:solidFill>
                            <a:srgbClr val="3D4652"/>
                          </a:solidFill>
                          <a:latin typeface="Calibri" pitchFamily="34" charset="0"/>
                          <a:ea typeface="Calibri" pitchFamily="34" charset="-122"/>
                          <a:cs typeface="Calibri" pitchFamily="34" charset="-120"/>
                        </a:rPr>
                        <a:t>n.a.</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900" dirty="0">
                          <a:solidFill>
                            <a:srgbClr val="3D4652"/>
                          </a:solidFill>
                          <a:latin typeface="Calibri" pitchFamily="34" charset="0"/>
                          <a:ea typeface="Calibri" pitchFamily="34" charset="-122"/>
                          <a:cs typeface="Calibri" pitchFamily="34" charset="-120"/>
                        </a:rPr>
                        <a:t>n.a.</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900" dirty="0">
                          <a:solidFill>
                            <a:srgbClr val="3D4652"/>
                          </a:solidFill>
                          <a:latin typeface="Calibri" pitchFamily="34" charset="0"/>
                          <a:ea typeface="Calibri" pitchFamily="34" charset="-122"/>
                          <a:cs typeface="Calibri" pitchFamily="34" charset="-120"/>
                        </a:rPr>
                        <a:t>(₹10 Cr)</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r h="457200">
                <a:tc>
                  <a:txBody>
                    <a:bodyPr/>
                    <a:lstStyle/>
                    <a:p>
                      <a:pPr algn="l" indent="0" marL="0">
                        <a:buNone/>
                      </a:pPr>
                      <a:r>
                        <a:rPr lang="en-US" sz="900" b="1" dirty="0">
                          <a:solidFill>
                            <a:srgbClr val="1D8FD1"/>
                          </a:solidFill>
                          <a:latin typeface="Calibri" pitchFamily="34" charset="0"/>
                          <a:ea typeface="Calibri" pitchFamily="34" charset="-122"/>
                          <a:cs typeface="Calibri" pitchFamily="34" charset="-120"/>
                        </a:rPr>
                        <a:t>Safexpress</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gridSpan="4">
                  <a:txBody>
                    <a:bodyPr/>
                    <a:lstStyle/>
                    <a:p>
                      <a:pPr algn="ctr" indent="0" marL="0">
                        <a:buNone/>
                      </a:pPr>
                      <a:r>
                        <a:rPr lang="en-US" sz="900" dirty="0">
                          <a:solidFill>
                            <a:srgbClr val="3D4652"/>
                          </a:solidFill>
                          <a:latin typeface="Calibri" pitchFamily="34" charset="0"/>
                          <a:ea typeface="Calibri" pitchFamily="34" charset="-122"/>
                          <a:cs typeface="Calibri" pitchFamily="34" charset="-120"/>
                        </a:rPr>
                        <a:t>Not publicly disclosed (private)</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hMerge="1">
                  <a:tcPr/>
                </a:tc>
                <a:tc hMerge="1">
                  <a:tcPr/>
                </a:tc>
                <a:tc hMerge="1">
                  <a:tcPr/>
                </a:tc>
              </a:tr>
              <a:tr h="457200">
                <a:tc>
                  <a:txBody>
                    <a:bodyPr/>
                    <a:lstStyle/>
                    <a:p>
                      <a:pPr algn="l" indent="0" marL="0">
                        <a:buNone/>
                      </a:pPr>
                      <a:r>
                        <a:rPr lang="en-US" sz="900" b="1" dirty="0">
                          <a:solidFill>
                            <a:srgbClr val="1D8FD1"/>
                          </a:solidFill>
                          <a:latin typeface="Calibri" pitchFamily="34" charset="0"/>
                          <a:ea typeface="Calibri" pitchFamily="34" charset="-122"/>
                          <a:cs typeface="Calibri" pitchFamily="34" charset="-120"/>
                        </a:rPr>
                        <a:t>DHL Supply Chain</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gridSpan="4">
                  <a:txBody>
                    <a:bodyPr/>
                    <a:lstStyle/>
                    <a:p>
                      <a:pPr algn="ctr" indent="0" marL="0">
                        <a:buNone/>
                      </a:pPr>
                      <a:r>
                        <a:rPr lang="en-US" sz="900" dirty="0">
                          <a:solidFill>
                            <a:srgbClr val="3D4652"/>
                          </a:solidFill>
                          <a:latin typeface="Calibri" pitchFamily="34" charset="0"/>
                          <a:ea typeface="Calibri" pitchFamily="34" charset="-122"/>
                          <a:cs typeface="Calibri" pitchFamily="34" charset="-120"/>
                        </a:rPr>
                        <a:t>Not separately disclosed (global subsidiary)</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hMerge="1">
                  <a:tcPr/>
                </a:tc>
                <a:tc hMerge="1">
                  <a:tcPr/>
                </a:tc>
                <a:tc hMerge="1">
                  <a:tcPr/>
                </a:tc>
              </a:tr>
            </a:tbl>
          </a:graphicData>
        </a:graphic>
      </p:graphicFrame>
      <p:sp>
        <p:nvSpPr>
          <p:cNvPr id="5" name="Text 2"/>
          <p:cNvSpPr/>
          <p:nvPr/>
        </p:nvSpPr>
        <p:spPr>
          <a:xfrm>
            <a:off x="6675120" y="1417320"/>
            <a:ext cx="4983480" cy="256032"/>
          </a:xfrm>
          <a:prstGeom prst="rect">
            <a:avLst/>
          </a:prstGeom>
          <a:noFill/>
          <a:ln/>
        </p:spPr>
        <p:txBody>
          <a:bodyPr wrap="square" lIns="0" tIns="0" rIns="0" bIns="0" rtlCol="0" anchor="ctr"/>
          <a:lstStyle/>
          <a:p>
            <a:pPr indent="0" marL="0">
              <a:buNone/>
            </a:pPr>
            <a:r>
              <a:rPr lang="en-US" sz="1150" b="1" dirty="0">
                <a:solidFill>
                  <a:srgbClr val="0B2A4A"/>
                </a:solidFill>
                <a:latin typeface="Calibri" pitchFamily="34" charset="0"/>
                <a:ea typeface="Calibri" pitchFamily="34" charset="-122"/>
                <a:cs typeface="Calibri" pitchFamily="34" charset="-120"/>
              </a:rPr>
              <a:t>Revenue Comparison (₹ Cr., FY25)</a:t>
            </a:r>
            <a:endParaRPr lang="en-US" sz="1150" dirty="0"/>
          </a:p>
        </p:txBody>
      </p:sp>
      <p:graphicFrame>
        <p:nvGraphicFramePr>
          <p:cNvPr id="6" name="Chart 0" descr=""/>
          <p:cNvGraphicFramePr/>
          <p:nvPr/>
        </p:nvGraphicFramePr>
        <p:xfrm>
          <a:off x="6675120" y="1737360"/>
          <a:ext cx="4983480" cy="228600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675120" y="4160520"/>
            <a:ext cx="4983480" cy="1783080"/>
          </a:xfrm>
          <a:prstGeom prst="roundRect">
            <a:avLst>
              <a:gd name="adj" fmla="val 3590"/>
            </a:avLst>
          </a:prstGeom>
          <a:solidFill>
            <a:srgbClr val="F6F8FA"/>
          </a:solidFill>
          <a:ln/>
        </p:spPr>
      </p:sp>
      <p:sp>
        <p:nvSpPr>
          <p:cNvPr id="8" name="Text 4"/>
          <p:cNvSpPr/>
          <p:nvPr/>
        </p:nvSpPr>
        <p:spPr>
          <a:xfrm>
            <a:off x="6858000" y="4279392"/>
            <a:ext cx="4572000" cy="237744"/>
          </a:xfrm>
          <a:prstGeom prst="rect">
            <a:avLst/>
          </a:prstGeom>
          <a:noFill/>
          <a:ln/>
        </p:spPr>
        <p:txBody>
          <a:bodyPr wrap="square" lIns="0" tIns="0" rIns="0" bIns="0" rtlCol="0" anchor="ctr"/>
          <a:lstStyle/>
          <a:p>
            <a:pPr indent="0" marL="0">
              <a:buNone/>
            </a:pPr>
            <a:r>
              <a:rPr lang="en-US" sz="950" b="1" spc="150" kern="0" dirty="0">
                <a:solidFill>
                  <a:srgbClr val="1D8FD1"/>
                </a:solidFill>
                <a:latin typeface="Calibri" pitchFamily="34" charset="0"/>
                <a:ea typeface="Calibri" pitchFamily="34" charset="-122"/>
                <a:cs typeface="Calibri" pitchFamily="34" charset="-120"/>
              </a:rPr>
              <a:t>COMMENTARY</a:t>
            </a:r>
            <a:endParaRPr lang="en-US" sz="950" dirty="0"/>
          </a:p>
        </p:txBody>
      </p:sp>
      <p:sp>
        <p:nvSpPr>
          <p:cNvPr id="9" name="Text 5"/>
          <p:cNvSpPr/>
          <p:nvPr/>
        </p:nvSpPr>
        <p:spPr>
          <a:xfrm>
            <a:off x="6858000" y="4572000"/>
            <a:ext cx="4617720" cy="1280160"/>
          </a:xfrm>
          <a:prstGeom prst="rect">
            <a:avLst/>
          </a:prstGeom>
          <a:noFill/>
          <a:ln/>
        </p:spPr>
        <p:txBody>
          <a:bodyPr wrap="square" lIns="0" tIns="0" rIns="0" bIns="0" rtlCol="0" anchor="ctr"/>
          <a:lstStyle/>
          <a:p>
            <a:pPr marL="342900" indent="-342900">
              <a:lnSpc>
                <a:spcPts val="1250"/>
              </a:lnSpc>
              <a:spcAft>
                <a:spcPts val="500"/>
              </a:spcAft>
              <a:buSzPct val="100000"/>
              <a:buChar char="•"/>
            </a:pPr>
            <a:r>
              <a:rPr lang="en-US" sz="980" dirty="0">
                <a:solidFill>
                  <a:srgbClr val="3D4652"/>
                </a:solidFill>
                <a:latin typeface="Calibri" pitchFamily="34" charset="0"/>
                <a:ea typeface="Calibri" pitchFamily="34" charset="-122"/>
                <a:cs typeface="Calibri" pitchFamily="34" charset="-120"/>
              </a:rPr>
              <a:t>Largest by revenue: TVS Supply Chain (₹9,996 Cr) — majority international</a:t>
            </a:r>
            <a:endParaRPr lang="en-US" sz="980" dirty="0"/>
          </a:p>
          <a:p>
            <a:pPr marL="342900" indent="-342900">
              <a:lnSpc>
                <a:spcPts val="1250"/>
              </a:lnSpc>
              <a:spcAft>
                <a:spcPts val="500"/>
              </a:spcAft>
              <a:buSzPct val="100000"/>
              <a:buChar char="•"/>
            </a:pPr>
            <a:r>
              <a:rPr lang="en-US" sz="980" dirty="0">
                <a:solidFill>
                  <a:srgbClr val="3D4652"/>
                </a:solidFill>
                <a:latin typeface="Calibri" pitchFamily="34" charset="0"/>
                <a:ea typeface="Calibri" pitchFamily="34" charset="-122"/>
                <a:cs typeface="Calibri" pitchFamily="34" charset="-120"/>
              </a:rPr>
              <a:t>Most profitable margin: TCI, at 10.3% EBITDA margin</a:t>
            </a:r>
            <a:endParaRPr lang="en-US" sz="980" dirty="0"/>
          </a:p>
          <a:p>
            <a:pPr marL="342900" indent="-342900">
              <a:lnSpc>
                <a:spcPts val="1250"/>
              </a:lnSpc>
              <a:spcAft>
                <a:spcPts val="500"/>
              </a:spcAft>
              <a:buSzPct val="100000"/>
              <a:buChar char="•"/>
            </a:pPr>
            <a:r>
              <a:rPr lang="en-US" sz="980" dirty="0">
                <a:solidFill>
                  <a:srgbClr val="3D4652"/>
                </a:solidFill>
                <a:latin typeface="Calibri" pitchFamily="34" charset="0"/>
                <a:ea typeface="Calibri" pitchFamily="34" charset="-122"/>
                <a:cs typeface="Calibri" pitchFamily="34" charset="-120"/>
              </a:rPr>
              <a:t>Fastest growing: TCI Freight &amp; Mahindra Logistics, both ~11% YoY</a:t>
            </a:r>
            <a:endParaRPr lang="en-US" sz="980" dirty="0"/>
          </a:p>
        </p:txBody>
      </p:sp>
      <p:sp>
        <p:nvSpPr>
          <p:cNvPr id="10" name="Text 6"/>
          <p:cNvSpPr/>
          <p:nvPr/>
        </p:nvSpPr>
        <p:spPr>
          <a:xfrm>
            <a:off x="548640" y="6473952"/>
            <a:ext cx="9875520" cy="274320"/>
          </a:xfrm>
          <a:prstGeom prst="rect">
            <a:avLst/>
          </a:prstGeom>
          <a:noFill/>
          <a:ln/>
        </p:spPr>
        <p:txBody>
          <a:bodyPr wrap="square" lIns="0" tIns="0" rIns="0" bIns="0" rtlCol="0" anchor="ctr"/>
          <a:lstStyle/>
          <a:p>
            <a:pPr indent="0" marL="0">
              <a:buNone/>
            </a:pPr>
            <a:r>
              <a:rPr lang="en-US" sz="780" i="1" dirty="0">
                <a:solidFill>
                  <a:srgbClr val="6B7684"/>
                </a:solidFill>
                <a:latin typeface="Calibri" pitchFamily="34" charset="0"/>
                <a:ea typeface="Calibri" pitchFamily="34" charset="-122"/>
                <a:cs typeface="Calibri" pitchFamily="34" charset="-120"/>
              </a:rPr>
              <a:t>Source: CJ Darcl DRHP; TCI Q4 FY25 results; Mahindra Logistics FY25 press release; TVS SCS FY25 results (Annual Report, Allvest). All figures consolidated, FY2024-25.</a:t>
            </a:r>
            <a:endParaRPr lang="en-US" sz="780" dirty="0"/>
          </a:p>
        </p:txBody>
      </p:sp>
      <p:sp>
        <p:nvSpPr>
          <p:cNvPr id="11" name="Text 7"/>
          <p:cNvSpPr/>
          <p:nvPr/>
        </p:nvSpPr>
        <p:spPr>
          <a:xfrm>
            <a:off x="11414455" y="6473952"/>
            <a:ext cx="45720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50" b="1" spc="200" kern="0" dirty="0">
                <a:solidFill>
                  <a:srgbClr val="1D8FD1"/>
                </a:solidFill>
                <a:latin typeface="Calibri" pitchFamily="34" charset="0"/>
                <a:ea typeface="Calibri" pitchFamily="34" charset="-122"/>
                <a:cs typeface="Calibri" pitchFamily="34" charset="-120"/>
              </a:rPr>
              <a:t>PLAYBOOKS</a:t>
            </a:r>
            <a:endParaRPr lang="en-US" sz="1050" dirty="0"/>
          </a:p>
        </p:txBody>
      </p:sp>
      <p:sp>
        <p:nvSpPr>
          <p:cNvPr id="3" name="Text 1"/>
          <p:cNvSpPr/>
          <p:nvPr/>
        </p:nvSpPr>
        <p:spPr>
          <a:xfrm>
            <a:off x="548640" y="530352"/>
            <a:ext cx="10607040" cy="548640"/>
          </a:xfrm>
          <a:prstGeom prst="rect">
            <a:avLst/>
          </a:prstGeom>
          <a:noFill/>
          <a:ln/>
        </p:spPr>
        <p:txBody>
          <a:bodyPr wrap="square" lIns="0" tIns="0" rIns="0" bIns="0" rtlCol="0" anchor="ctr"/>
          <a:lstStyle/>
          <a:p>
            <a:pPr indent="0" marL="0">
              <a:buNone/>
            </a:pPr>
            <a:r>
              <a:rPr lang="en-US" sz="2400" b="1" dirty="0">
                <a:solidFill>
                  <a:srgbClr val="0B2A4A"/>
                </a:solidFill>
                <a:latin typeface="Cambria" pitchFamily="34" charset="0"/>
                <a:ea typeface="Cambria" pitchFamily="34" charset="-122"/>
                <a:cs typeface="Cambria" pitchFamily="34" charset="-120"/>
              </a:rPr>
              <a:t>How Competitors Win Business</a:t>
            </a:r>
            <a:endParaRPr lang="en-US" sz="2400" dirty="0"/>
          </a:p>
        </p:txBody>
      </p:sp>
      <p:sp>
        <p:nvSpPr>
          <p:cNvPr id="4" name="Shape 2"/>
          <p:cNvSpPr/>
          <p:nvPr/>
        </p:nvSpPr>
        <p:spPr>
          <a:xfrm>
            <a:off x="548640" y="1417320"/>
            <a:ext cx="3611880" cy="2148840"/>
          </a:xfrm>
          <a:prstGeom prst="roundRect">
            <a:avLst>
              <a:gd name="adj" fmla="val 3404"/>
            </a:avLst>
          </a:prstGeom>
          <a:solidFill>
            <a:srgbClr val="F6F8FA"/>
          </a:solidFill>
          <a:ln/>
          <a:effectLst>
            <a:outerShdw sx="100000" sy="100000" kx="0" ky="0" algn="bl" rotWithShape="0" blurRad="101600" dist="25400" dir="5400000">
              <a:srgbClr val="1A2B3C">
                <a:alpha val="10000"/>
              </a:srgbClr>
            </a:outerShdw>
          </a:effectLst>
        </p:spPr>
      </p:sp>
      <p:sp>
        <p:nvSpPr>
          <p:cNvPr id="5" name="Shape 3"/>
          <p:cNvSpPr/>
          <p:nvPr/>
        </p:nvSpPr>
        <p:spPr>
          <a:xfrm>
            <a:off x="749808" y="1600200"/>
            <a:ext cx="457200" cy="457200"/>
          </a:xfrm>
          <a:prstGeom prst="ellipse">
            <a:avLst/>
          </a:prstGeom>
          <a:solidFill>
            <a:srgbClr val="1D8FD1"/>
          </a:solidFill>
          <a:ln/>
        </p:spPr>
      </p:sp>
      <p:pic>
        <p:nvPicPr>
          <p:cNvPr id="6" name="Image 0" descr="preencoded.png">    </p:cNvPr>
          <p:cNvPicPr>
            <a:picLocks noChangeAspect="1"/>
          </p:cNvPicPr>
          <p:nvPr/>
        </p:nvPicPr>
        <p:blipFill>
          <a:blip r:embed="rId1"/>
          <a:stretch>
            <a:fillRect/>
          </a:stretch>
        </p:blipFill>
        <p:spPr>
          <a:xfrm>
            <a:off x="868680" y="1719072"/>
            <a:ext cx="219456" cy="219456"/>
          </a:xfrm>
          <a:prstGeom prst="rect">
            <a:avLst/>
          </a:prstGeom>
        </p:spPr>
      </p:pic>
      <p:sp>
        <p:nvSpPr>
          <p:cNvPr id="7" name="Text 4"/>
          <p:cNvSpPr/>
          <p:nvPr/>
        </p:nvSpPr>
        <p:spPr>
          <a:xfrm>
            <a:off x="1325880" y="1636776"/>
            <a:ext cx="2697480" cy="365760"/>
          </a:xfrm>
          <a:prstGeom prst="rect">
            <a:avLst/>
          </a:prstGeom>
          <a:noFill/>
          <a:ln/>
        </p:spPr>
        <p:txBody>
          <a:bodyPr wrap="square" lIns="0" tIns="0" rIns="0" bIns="0" rtlCol="0" anchor="ctr"/>
          <a:lstStyle/>
          <a:p>
            <a:pPr indent="0" marL="0">
              <a:buNone/>
            </a:pPr>
            <a:r>
              <a:rPr lang="en-US" sz="1450" b="1" dirty="0">
                <a:solidFill>
                  <a:srgbClr val="0B2A4A"/>
                </a:solidFill>
                <a:latin typeface="Cambria" pitchFamily="34" charset="0"/>
                <a:ea typeface="Cambria" pitchFamily="34" charset="-122"/>
                <a:cs typeface="Cambria" pitchFamily="34" charset="-120"/>
              </a:rPr>
              <a:t>TCI Freight</a:t>
            </a:r>
            <a:endParaRPr lang="en-US" sz="1450" dirty="0"/>
          </a:p>
        </p:txBody>
      </p:sp>
      <p:sp>
        <p:nvSpPr>
          <p:cNvPr id="8" name="Text 5"/>
          <p:cNvSpPr/>
          <p:nvPr/>
        </p:nvSpPr>
        <p:spPr>
          <a:xfrm>
            <a:off x="749808" y="2167128"/>
            <a:ext cx="3246120" cy="219456"/>
          </a:xfrm>
          <a:prstGeom prst="rect">
            <a:avLst/>
          </a:prstGeom>
          <a:noFill/>
          <a:ln/>
        </p:spPr>
        <p:txBody>
          <a:bodyPr wrap="square" lIns="0" tIns="0" rIns="0" bIns="0" rtlCol="0" anchor="ctr"/>
          <a:lstStyle/>
          <a:p>
            <a:pPr indent="0" marL="0">
              <a:buNone/>
            </a:pPr>
            <a:r>
              <a:rPr lang="en-US" sz="850" b="1" spc="150" kern="0" dirty="0">
                <a:solidFill>
                  <a:srgbClr val="1D8FD1"/>
                </a:solidFill>
                <a:latin typeface="Calibri" pitchFamily="34" charset="0"/>
                <a:ea typeface="Calibri" pitchFamily="34" charset="-122"/>
                <a:cs typeface="Calibri" pitchFamily="34" charset="-120"/>
              </a:rPr>
              <a:t>WINS THROUGH</a:t>
            </a:r>
            <a:endParaRPr lang="en-US" sz="850" dirty="0"/>
          </a:p>
        </p:txBody>
      </p:sp>
      <p:sp>
        <p:nvSpPr>
          <p:cNvPr id="9" name="Text 6"/>
          <p:cNvSpPr/>
          <p:nvPr/>
        </p:nvSpPr>
        <p:spPr>
          <a:xfrm>
            <a:off x="749808" y="2423160"/>
            <a:ext cx="3227832" cy="1005840"/>
          </a:xfrm>
          <a:prstGeom prst="rect">
            <a:avLst/>
          </a:prstGeom>
          <a:noFill/>
          <a:ln/>
        </p:spPr>
        <p:txBody>
          <a:bodyPr wrap="square" lIns="0" tIns="0" rIns="0" bIns="0" rtlCol="0" anchor="ctr"/>
          <a:lstStyle/>
          <a:p>
            <a:pPr marL="342900" indent="-342900">
              <a:lnSpc>
                <a:spcPts val="1300"/>
              </a:lnSpc>
              <a:spcAft>
                <a:spcPts val="400"/>
              </a:spcAft>
              <a:buSzPct val="100000"/>
              <a:buChar char="•"/>
            </a:pPr>
            <a:r>
              <a:rPr lang="en-US" sz="1000" dirty="0">
                <a:solidFill>
                  <a:srgbClr val="3D4652"/>
                </a:solidFill>
                <a:latin typeface="Calibri" pitchFamily="34" charset="0"/>
                <a:ea typeface="Calibri" pitchFamily="34" charset="-122"/>
                <a:cs typeface="Calibri" pitchFamily="34" charset="-120"/>
              </a:rPr>
              <a:t>Network density &amp; scale</a:t>
            </a:r>
            <a:endParaRPr lang="en-US" sz="1000" dirty="0"/>
          </a:p>
          <a:p>
            <a:pPr marL="342900" indent="-342900">
              <a:lnSpc>
                <a:spcPts val="1300"/>
              </a:lnSpc>
              <a:spcAft>
                <a:spcPts val="400"/>
              </a:spcAft>
              <a:buSzPct val="100000"/>
              <a:buChar char="•"/>
            </a:pPr>
            <a:r>
              <a:rPr lang="en-US" sz="1000" dirty="0">
                <a:solidFill>
                  <a:srgbClr val="3D4652"/>
                </a:solidFill>
                <a:latin typeface="Calibri" pitchFamily="34" charset="0"/>
                <a:ea typeface="Calibri" pitchFamily="34" charset="-122"/>
                <a:cs typeface="Calibri" pitchFamily="34" charset="-120"/>
              </a:rPr>
              <a:t>Relationship-driven sales</a:t>
            </a:r>
            <a:endParaRPr lang="en-US" sz="1000" dirty="0"/>
          </a:p>
          <a:p>
            <a:pPr marL="342900" indent="-342900">
              <a:lnSpc>
                <a:spcPts val="1300"/>
              </a:lnSpc>
              <a:spcAft>
                <a:spcPts val="400"/>
              </a:spcAft>
              <a:buSzPct val="100000"/>
              <a:buChar char="•"/>
            </a:pPr>
            <a:r>
              <a:rPr lang="en-US" sz="1000" dirty="0">
                <a:solidFill>
                  <a:srgbClr val="3D4652"/>
                </a:solidFill>
                <a:latin typeface="Calibri" pitchFamily="34" charset="0"/>
                <a:ea typeface="Calibri" pitchFamily="34" charset="-122"/>
                <a:cs typeface="Calibri" pitchFamily="34" charset="-120"/>
              </a:rPr>
              <a:t>Competitive pricing</a:t>
            </a:r>
            <a:endParaRPr lang="en-US" sz="1000" dirty="0"/>
          </a:p>
        </p:txBody>
      </p:sp>
      <p:sp>
        <p:nvSpPr>
          <p:cNvPr id="10" name="Shape 7"/>
          <p:cNvSpPr/>
          <p:nvPr/>
        </p:nvSpPr>
        <p:spPr>
          <a:xfrm>
            <a:off x="4297680" y="1417320"/>
            <a:ext cx="3611880" cy="2148840"/>
          </a:xfrm>
          <a:prstGeom prst="roundRect">
            <a:avLst>
              <a:gd name="adj" fmla="val 3404"/>
            </a:avLst>
          </a:prstGeom>
          <a:solidFill>
            <a:srgbClr val="F6F8FA"/>
          </a:solidFill>
          <a:ln/>
          <a:effectLst>
            <a:outerShdw sx="100000" sy="100000" kx="0" ky="0" algn="bl" rotWithShape="0" blurRad="101600" dist="25400" dir="5400000">
              <a:srgbClr val="1A2B3C">
                <a:alpha val="10000"/>
              </a:srgbClr>
            </a:outerShdw>
          </a:effectLst>
        </p:spPr>
      </p:sp>
      <p:sp>
        <p:nvSpPr>
          <p:cNvPr id="11" name="Shape 8"/>
          <p:cNvSpPr/>
          <p:nvPr/>
        </p:nvSpPr>
        <p:spPr>
          <a:xfrm>
            <a:off x="4498848" y="1600200"/>
            <a:ext cx="457200" cy="457200"/>
          </a:xfrm>
          <a:prstGeom prst="ellipse">
            <a:avLst/>
          </a:prstGeom>
          <a:solidFill>
            <a:srgbClr val="1D8FD1"/>
          </a:solidFill>
          <a:ln/>
        </p:spPr>
      </p:sp>
      <p:pic>
        <p:nvPicPr>
          <p:cNvPr id="12" name="Image 1" descr="preencoded.png">    </p:cNvPr>
          <p:cNvPicPr>
            <a:picLocks noChangeAspect="1"/>
          </p:cNvPicPr>
          <p:nvPr/>
        </p:nvPicPr>
        <p:blipFill>
          <a:blip r:embed="rId2"/>
          <a:stretch>
            <a:fillRect/>
          </a:stretch>
        </p:blipFill>
        <p:spPr>
          <a:xfrm>
            <a:off x="4617720" y="1719072"/>
            <a:ext cx="219456" cy="219456"/>
          </a:xfrm>
          <a:prstGeom prst="rect">
            <a:avLst/>
          </a:prstGeom>
        </p:spPr>
      </p:pic>
      <p:sp>
        <p:nvSpPr>
          <p:cNvPr id="13" name="Text 9"/>
          <p:cNvSpPr/>
          <p:nvPr/>
        </p:nvSpPr>
        <p:spPr>
          <a:xfrm>
            <a:off x="5074920" y="1636776"/>
            <a:ext cx="2697480" cy="365760"/>
          </a:xfrm>
          <a:prstGeom prst="rect">
            <a:avLst/>
          </a:prstGeom>
          <a:noFill/>
          <a:ln/>
        </p:spPr>
        <p:txBody>
          <a:bodyPr wrap="square" lIns="0" tIns="0" rIns="0" bIns="0" rtlCol="0" anchor="ctr"/>
          <a:lstStyle/>
          <a:p>
            <a:pPr indent="0" marL="0">
              <a:buNone/>
            </a:pPr>
            <a:r>
              <a:rPr lang="en-US" sz="1450" b="1" dirty="0">
                <a:solidFill>
                  <a:srgbClr val="0B2A4A"/>
                </a:solidFill>
                <a:latin typeface="Cambria" pitchFamily="34" charset="0"/>
                <a:ea typeface="Cambria" pitchFamily="34" charset="-122"/>
                <a:cs typeface="Cambria" pitchFamily="34" charset="-120"/>
              </a:rPr>
              <a:t>Mahindra Logistics</a:t>
            </a:r>
            <a:endParaRPr lang="en-US" sz="1450" dirty="0"/>
          </a:p>
        </p:txBody>
      </p:sp>
      <p:sp>
        <p:nvSpPr>
          <p:cNvPr id="14" name="Text 10"/>
          <p:cNvSpPr/>
          <p:nvPr/>
        </p:nvSpPr>
        <p:spPr>
          <a:xfrm>
            <a:off x="4498848" y="2167128"/>
            <a:ext cx="3246120" cy="219456"/>
          </a:xfrm>
          <a:prstGeom prst="rect">
            <a:avLst/>
          </a:prstGeom>
          <a:noFill/>
          <a:ln/>
        </p:spPr>
        <p:txBody>
          <a:bodyPr wrap="square" lIns="0" tIns="0" rIns="0" bIns="0" rtlCol="0" anchor="ctr"/>
          <a:lstStyle/>
          <a:p>
            <a:pPr indent="0" marL="0">
              <a:buNone/>
            </a:pPr>
            <a:r>
              <a:rPr lang="en-US" sz="850" b="1" spc="150" kern="0" dirty="0">
                <a:solidFill>
                  <a:srgbClr val="1D8FD1"/>
                </a:solidFill>
                <a:latin typeface="Calibri" pitchFamily="34" charset="0"/>
                <a:ea typeface="Calibri" pitchFamily="34" charset="-122"/>
                <a:cs typeface="Calibri" pitchFamily="34" charset="-120"/>
              </a:rPr>
              <a:t>WINS THROUGH</a:t>
            </a:r>
            <a:endParaRPr lang="en-US" sz="850" dirty="0"/>
          </a:p>
        </p:txBody>
      </p:sp>
      <p:sp>
        <p:nvSpPr>
          <p:cNvPr id="15" name="Text 11"/>
          <p:cNvSpPr/>
          <p:nvPr/>
        </p:nvSpPr>
        <p:spPr>
          <a:xfrm>
            <a:off x="4498848" y="2423160"/>
            <a:ext cx="3227832" cy="1005840"/>
          </a:xfrm>
          <a:prstGeom prst="rect">
            <a:avLst/>
          </a:prstGeom>
          <a:noFill/>
          <a:ln/>
        </p:spPr>
        <p:txBody>
          <a:bodyPr wrap="square" lIns="0" tIns="0" rIns="0" bIns="0" rtlCol="0" anchor="ctr"/>
          <a:lstStyle/>
          <a:p>
            <a:pPr marL="342900" indent="-342900">
              <a:lnSpc>
                <a:spcPts val="1300"/>
              </a:lnSpc>
              <a:spcAft>
                <a:spcPts val="400"/>
              </a:spcAft>
              <a:buSzPct val="100000"/>
              <a:buChar char="•"/>
            </a:pPr>
            <a:r>
              <a:rPr lang="en-US" sz="1000" dirty="0">
                <a:solidFill>
                  <a:srgbClr val="3D4652"/>
                </a:solidFill>
                <a:latin typeface="Calibri" pitchFamily="34" charset="0"/>
                <a:ea typeface="Calibri" pitchFamily="34" charset="-122"/>
                <a:cs typeface="Calibri" pitchFamily="34" charset="-120"/>
              </a:rPr>
              <a:t>Enterprise contracts</a:t>
            </a:r>
            <a:endParaRPr lang="en-US" sz="1000" dirty="0"/>
          </a:p>
          <a:p>
            <a:pPr marL="342900" indent="-342900">
              <a:lnSpc>
                <a:spcPts val="1300"/>
              </a:lnSpc>
              <a:spcAft>
                <a:spcPts val="400"/>
              </a:spcAft>
              <a:buSzPct val="100000"/>
              <a:buChar char="•"/>
            </a:pPr>
            <a:r>
              <a:rPr lang="en-US" sz="1000" dirty="0">
                <a:solidFill>
                  <a:srgbClr val="3D4652"/>
                </a:solidFill>
                <a:latin typeface="Calibri" pitchFamily="34" charset="0"/>
                <a:ea typeface="Calibri" pitchFamily="34" charset="-122"/>
                <a:cs typeface="Calibri" pitchFamily="34" charset="-120"/>
              </a:rPr>
              <a:t>Automotive expertise</a:t>
            </a:r>
            <a:endParaRPr lang="en-US" sz="1000" dirty="0"/>
          </a:p>
          <a:p>
            <a:pPr marL="342900" indent="-342900">
              <a:lnSpc>
                <a:spcPts val="1300"/>
              </a:lnSpc>
              <a:spcAft>
                <a:spcPts val="400"/>
              </a:spcAft>
              <a:buSzPct val="100000"/>
              <a:buChar char="•"/>
            </a:pPr>
            <a:r>
              <a:rPr lang="en-US" sz="1000" dirty="0">
                <a:solidFill>
                  <a:srgbClr val="3D4652"/>
                </a:solidFill>
                <a:latin typeface="Calibri" pitchFamily="34" charset="0"/>
                <a:ea typeface="Calibri" pitchFamily="34" charset="-122"/>
                <a:cs typeface="Calibri" pitchFamily="34" charset="-120"/>
              </a:rPr>
              <a:t>Integrated logistics</a:t>
            </a:r>
            <a:endParaRPr lang="en-US" sz="1000" dirty="0"/>
          </a:p>
        </p:txBody>
      </p:sp>
      <p:sp>
        <p:nvSpPr>
          <p:cNvPr id="16" name="Shape 12"/>
          <p:cNvSpPr/>
          <p:nvPr/>
        </p:nvSpPr>
        <p:spPr>
          <a:xfrm>
            <a:off x="8046720" y="1417320"/>
            <a:ext cx="3611880" cy="2148840"/>
          </a:xfrm>
          <a:prstGeom prst="roundRect">
            <a:avLst>
              <a:gd name="adj" fmla="val 3404"/>
            </a:avLst>
          </a:prstGeom>
          <a:solidFill>
            <a:srgbClr val="F6F8FA"/>
          </a:solidFill>
          <a:ln/>
          <a:effectLst>
            <a:outerShdw sx="100000" sy="100000" kx="0" ky="0" algn="bl" rotWithShape="0" blurRad="101600" dist="25400" dir="5400000">
              <a:srgbClr val="1A2B3C">
                <a:alpha val="10000"/>
              </a:srgbClr>
            </a:outerShdw>
          </a:effectLst>
        </p:spPr>
      </p:sp>
      <p:sp>
        <p:nvSpPr>
          <p:cNvPr id="17" name="Shape 13"/>
          <p:cNvSpPr/>
          <p:nvPr/>
        </p:nvSpPr>
        <p:spPr>
          <a:xfrm>
            <a:off x="8247888" y="1600200"/>
            <a:ext cx="457200" cy="457200"/>
          </a:xfrm>
          <a:prstGeom prst="ellipse">
            <a:avLst/>
          </a:prstGeom>
          <a:solidFill>
            <a:srgbClr val="1D8FD1"/>
          </a:solidFill>
          <a:ln/>
        </p:spPr>
      </p:sp>
      <p:pic>
        <p:nvPicPr>
          <p:cNvPr id="18" name="Image 2" descr="preencoded.png">    </p:cNvPr>
          <p:cNvPicPr>
            <a:picLocks noChangeAspect="1"/>
          </p:cNvPicPr>
          <p:nvPr/>
        </p:nvPicPr>
        <p:blipFill>
          <a:blip r:embed="rId3"/>
          <a:stretch>
            <a:fillRect/>
          </a:stretch>
        </p:blipFill>
        <p:spPr>
          <a:xfrm>
            <a:off x="8366760" y="1719072"/>
            <a:ext cx="219456" cy="219456"/>
          </a:xfrm>
          <a:prstGeom prst="rect">
            <a:avLst/>
          </a:prstGeom>
        </p:spPr>
      </p:pic>
      <p:sp>
        <p:nvSpPr>
          <p:cNvPr id="19" name="Text 14"/>
          <p:cNvSpPr/>
          <p:nvPr/>
        </p:nvSpPr>
        <p:spPr>
          <a:xfrm>
            <a:off x="8823960" y="1636776"/>
            <a:ext cx="2697480" cy="365760"/>
          </a:xfrm>
          <a:prstGeom prst="rect">
            <a:avLst/>
          </a:prstGeom>
          <a:noFill/>
          <a:ln/>
        </p:spPr>
        <p:txBody>
          <a:bodyPr wrap="square" lIns="0" tIns="0" rIns="0" bIns="0" rtlCol="0" anchor="ctr"/>
          <a:lstStyle/>
          <a:p>
            <a:pPr indent="0" marL="0">
              <a:buNone/>
            </a:pPr>
            <a:r>
              <a:rPr lang="en-US" sz="1450" b="1" dirty="0">
                <a:solidFill>
                  <a:srgbClr val="0B2A4A"/>
                </a:solidFill>
                <a:latin typeface="Cambria" pitchFamily="34" charset="0"/>
                <a:ea typeface="Cambria" pitchFamily="34" charset="-122"/>
                <a:cs typeface="Cambria" pitchFamily="34" charset="-120"/>
              </a:rPr>
              <a:t>Safexpress</a:t>
            </a:r>
            <a:endParaRPr lang="en-US" sz="1450" dirty="0"/>
          </a:p>
        </p:txBody>
      </p:sp>
      <p:sp>
        <p:nvSpPr>
          <p:cNvPr id="20" name="Text 15"/>
          <p:cNvSpPr/>
          <p:nvPr/>
        </p:nvSpPr>
        <p:spPr>
          <a:xfrm>
            <a:off x="8247888" y="2167128"/>
            <a:ext cx="3246120" cy="219456"/>
          </a:xfrm>
          <a:prstGeom prst="rect">
            <a:avLst/>
          </a:prstGeom>
          <a:noFill/>
          <a:ln/>
        </p:spPr>
        <p:txBody>
          <a:bodyPr wrap="square" lIns="0" tIns="0" rIns="0" bIns="0" rtlCol="0" anchor="ctr"/>
          <a:lstStyle/>
          <a:p>
            <a:pPr indent="0" marL="0">
              <a:buNone/>
            </a:pPr>
            <a:r>
              <a:rPr lang="en-US" sz="850" b="1" spc="150" kern="0" dirty="0">
                <a:solidFill>
                  <a:srgbClr val="1D8FD1"/>
                </a:solidFill>
                <a:latin typeface="Calibri" pitchFamily="34" charset="0"/>
                <a:ea typeface="Calibri" pitchFamily="34" charset="-122"/>
                <a:cs typeface="Calibri" pitchFamily="34" charset="-120"/>
              </a:rPr>
              <a:t>WINS THROUGH</a:t>
            </a:r>
            <a:endParaRPr lang="en-US" sz="850" dirty="0"/>
          </a:p>
        </p:txBody>
      </p:sp>
      <p:sp>
        <p:nvSpPr>
          <p:cNvPr id="21" name="Text 16"/>
          <p:cNvSpPr/>
          <p:nvPr/>
        </p:nvSpPr>
        <p:spPr>
          <a:xfrm>
            <a:off x="8247888" y="2423160"/>
            <a:ext cx="3227832" cy="1005840"/>
          </a:xfrm>
          <a:prstGeom prst="rect">
            <a:avLst/>
          </a:prstGeom>
          <a:noFill/>
          <a:ln/>
        </p:spPr>
        <p:txBody>
          <a:bodyPr wrap="square" lIns="0" tIns="0" rIns="0" bIns="0" rtlCol="0" anchor="ctr"/>
          <a:lstStyle/>
          <a:p>
            <a:pPr marL="342900" indent="-342900">
              <a:lnSpc>
                <a:spcPts val="1300"/>
              </a:lnSpc>
              <a:spcAft>
                <a:spcPts val="400"/>
              </a:spcAft>
              <a:buSzPct val="100000"/>
              <a:buChar char="•"/>
            </a:pPr>
            <a:r>
              <a:rPr lang="en-US" sz="1000" dirty="0">
                <a:solidFill>
                  <a:srgbClr val="3D4652"/>
                </a:solidFill>
                <a:latin typeface="Calibri" pitchFamily="34" charset="0"/>
                <a:ea typeface="Calibri" pitchFamily="34" charset="-122"/>
                <a:cs typeface="Calibri" pitchFamily="34" charset="-120"/>
              </a:rPr>
              <a:t>Distribution network depth</a:t>
            </a:r>
            <a:endParaRPr lang="en-US" sz="1000" dirty="0"/>
          </a:p>
          <a:p>
            <a:pPr marL="342900" indent="-342900">
              <a:lnSpc>
                <a:spcPts val="1300"/>
              </a:lnSpc>
              <a:spcAft>
                <a:spcPts val="400"/>
              </a:spcAft>
              <a:buSzPct val="100000"/>
              <a:buChar char="•"/>
            </a:pPr>
            <a:r>
              <a:rPr lang="en-US" sz="1000" dirty="0">
                <a:solidFill>
                  <a:srgbClr val="3D4652"/>
                </a:solidFill>
                <a:latin typeface="Calibri" pitchFamily="34" charset="0"/>
                <a:ea typeface="Calibri" pitchFamily="34" charset="-122"/>
                <a:cs typeface="Calibri" pitchFamily="34" charset="-120"/>
              </a:rPr>
              <a:t>Service reliability</a:t>
            </a:r>
            <a:endParaRPr lang="en-US" sz="1000" dirty="0"/>
          </a:p>
          <a:p>
            <a:pPr marL="342900" indent="-342900">
              <a:lnSpc>
                <a:spcPts val="1300"/>
              </a:lnSpc>
              <a:spcAft>
                <a:spcPts val="400"/>
              </a:spcAft>
              <a:buSzPct val="100000"/>
              <a:buChar char="•"/>
            </a:pPr>
            <a:r>
              <a:rPr lang="en-US" sz="1000" dirty="0">
                <a:solidFill>
                  <a:srgbClr val="3D4652"/>
                </a:solidFill>
                <a:latin typeface="Calibri" pitchFamily="34" charset="0"/>
                <a:ea typeface="Calibri" pitchFamily="34" charset="-122"/>
                <a:cs typeface="Calibri" pitchFamily="34" charset="-120"/>
              </a:rPr>
              <a:t>Warehousing integration</a:t>
            </a:r>
            <a:endParaRPr lang="en-US" sz="1000" dirty="0"/>
          </a:p>
        </p:txBody>
      </p:sp>
      <p:sp>
        <p:nvSpPr>
          <p:cNvPr id="22" name="Shape 17"/>
          <p:cNvSpPr/>
          <p:nvPr/>
        </p:nvSpPr>
        <p:spPr>
          <a:xfrm>
            <a:off x="548640" y="3749040"/>
            <a:ext cx="3611880" cy="2148840"/>
          </a:xfrm>
          <a:prstGeom prst="roundRect">
            <a:avLst>
              <a:gd name="adj" fmla="val 3404"/>
            </a:avLst>
          </a:prstGeom>
          <a:solidFill>
            <a:srgbClr val="F6F8FA"/>
          </a:solidFill>
          <a:ln/>
          <a:effectLst>
            <a:outerShdw sx="100000" sy="100000" kx="0" ky="0" algn="bl" rotWithShape="0" blurRad="101600" dist="25400" dir="5400000">
              <a:srgbClr val="1A2B3C">
                <a:alpha val="10000"/>
              </a:srgbClr>
            </a:outerShdw>
          </a:effectLst>
        </p:spPr>
      </p:sp>
      <p:sp>
        <p:nvSpPr>
          <p:cNvPr id="23" name="Shape 18"/>
          <p:cNvSpPr/>
          <p:nvPr/>
        </p:nvSpPr>
        <p:spPr>
          <a:xfrm>
            <a:off x="749808" y="3931920"/>
            <a:ext cx="457200" cy="457200"/>
          </a:xfrm>
          <a:prstGeom prst="ellipse">
            <a:avLst/>
          </a:prstGeom>
          <a:solidFill>
            <a:srgbClr val="1D8FD1"/>
          </a:solidFill>
          <a:ln/>
        </p:spPr>
      </p:sp>
      <p:pic>
        <p:nvPicPr>
          <p:cNvPr id="24" name="Image 3" descr="preencoded.png">    </p:cNvPr>
          <p:cNvPicPr>
            <a:picLocks noChangeAspect="1"/>
          </p:cNvPicPr>
          <p:nvPr/>
        </p:nvPicPr>
        <p:blipFill>
          <a:blip r:embed="rId4"/>
          <a:stretch>
            <a:fillRect/>
          </a:stretch>
        </p:blipFill>
        <p:spPr>
          <a:xfrm>
            <a:off x="868680" y="4050792"/>
            <a:ext cx="219456" cy="219456"/>
          </a:xfrm>
          <a:prstGeom prst="rect">
            <a:avLst/>
          </a:prstGeom>
        </p:spPr>
      </p:pic>
      <p:sp>
        <p:nvSpPr>
          <p:cNvPr id="25" name="Text 19"/>
          <p:cNvSpPr/>
          <p:nvPr/>
        </p:nvSpPr>
        <p:spPr>
          <a:xfrm>
            <a:off x="1325880" y="3968496"/>
            <a:ext cx="2697480" cy="365760"/>
          </a:xfrm>
          <a:prstGeom prst="rect">
            <a:avLst/>
          </a:prstGeom>
          <a:noFill/>
          <a:ln/>
        </p:spPr>
        <p:txBody>
          <a:bodyPr wrap="square" lIns="0" tIns="0" rIns="0" bIns="0" rtlCol="0" anchor="ctr"/>
          <a:lstStyle/>
          <a:p>
            <a:pPr indent="0" marL="0">
              <a:buNone/>
            </a:pPr>
            <a:r>
              <a:rPr lang="en-US" sz="1450" b="1" dirty="0">
                <a:solidFill>
                  <a:srgbClr val="0B2A4A"/>
                </a:solidFill>
                <a:latin typeface="Cambria" pitchFamily="34" charset="0"/>
                <a:ea typeface="Cambria" pitchFamily="34" charset="-122"/>
                <a:cs typeface="Cambria" pitchFamily="34" charset="-120"/>
              </a:rPr>
              <a:t>TVS SCS</a:t>
            </a:r>
            <a:endParaRPr lang="en-US" sz="1450" dirty="0"/>
          </a:p>
        </p:txBody>
      </p:sp>
      <p:sp>
        <p:nvSpPr>
          <p:cNvPr id="26" name="Text 20"/>
          <p:cNvSpPr/>
          <p:nvPr/>
        </p:nvSpPr>
        <p:spPr>
          <a:xfrm>
            <a:off x="749808" y="4498848"/>
            <a:ext cx="3246120" cy="219456"/>
          </a:xfrm>
          <a:prstGeom prst="rect">
            <a:avLst/>
          </a:prstGeom>
          <a:noFill/>
          <a:ln/>
        </p:spPr>
        <p:txBody>
          <a:bodyPr wrap="square" lIns="0" tIns="0" rIns="0" bIns="0" rtlCol="0" anchor="ctr"/>
          <a:lstStyle/>
          <a:p>
            <a:pPr indent="0" marL="0">
              <a:buNone/>
            </a:pPr>
            <a:r>
              <a:rPr lang="en-US" sz="850" b="1" spc="150" kern="0" dirty="0">
                <a:solidFill>
                  <a:srgbClr val="1D8FD1"/>
                </a:solidFill>
                <a:latin typeface="Calibri" pitchFamily="34" charset="0"/>
                <a:ea typeface="Calibri" pitchFamily="34" charset="-122"/>
                <a:cs typeface="Calibri" pitchFamily="34" charset="-120"/>
              </a:rPr>
              <a:t>WINS THROUGH</a:t>
            </a:r>
            <a:endParaRPr lang="en-US" sz="850" dirty="0"/>
          </a:p>
        </p:txBody>
      </p:sp>
      <p:sp>
        <p:nvSpPr>
          <p:cNvPr id="27" name="Text 21"/>
          <p:cNvSpPr/>
          <p:nvPr/>
        </p:nvSpPr>
        <p:spPr>
          <a:xfrm>
            <a:off x="749808" y="4754880"/>
            <a:ext cx="3227832" cy="1005840"/>
          </a:xfrm>
          <a:prstGeom prst="rect">
            <a:avLst/>
          </a:prstGeom>
          <a:noFill/>
          <a:ln/>
        </p:spPr>
        <p:txBody>
          <a:bodyPr wrap="square" lIns="0" tIns="0" rIns="0" bIns="0" rtlCol="0" anchor="ctr"/>
          <a:lstStyle/>
          <a:p>
            <a:pPr marL="342900" indent="-342900">
              <a:lnSpc>
                <a:spcPts val="1300"/>
              </a:lnSpc>
              <a:spcAft>
                <a:spcPts val="400"/>
              </a:spcAft>
              <a:buSzPct val="100000"/>
              <a:buChar char="•"/>
            </a:pPr>
            <a:r>
              <a:rPr lang="en-US" sz="1000" dirty="0">
                <a:solidFill>
                  <a:srgbClr val="3D4652"/>
                </a:solidFill>
                <a:latin typeface="Calibri" pitchFamily="34" charset="0"/>
                <a:ea typeface="Calibri" pitchFamily="34" charset="-122"/>
                <a:cs typeface="Calibri" pitchFamily="34" charset="-120"/>
              </a:rPr>
              <a:t>Automotive specialization</a:t>
            </a:r>
            <a:endParaRPr lang="en-US" sz="1000" dirty="0"/>
          </a:p>
          <a:p>
            <a:pPr marL="342900" indent="-342900">
              <a:lnSpc>
                <a:spcPts val="1300"/>
              </a:lnSpc>
              <a:spcAft>
                <a:spcPts val="400"/>
              </a:spcAft>
              <a:buSzPct val="100000"/>
              <a:buChar char="•"/>
            </a:pPr>
            <a:r>
              <a:rPr lang="en-US" sz="1000" dirty="0">
                <a:solidFill>
                  <a:srgbClr val="3D4652"/>
                </a:solidFill>
                <a:latin typeface="Calibri" pitchFamily="34" charset="0"/>
                <a:ea typeface="Calibri" pitchFamily="34" charset="-122"/>
                <a:cs typeface="Calibri" pitchFamily="34" charset="-120"/>
              </a:rPr>
              <a:t>OEM relationships</a:t>
            </a:r>
            <a:endParaRPr lang="en-US" sz="1000" dirty="0"/>
          </a:p>
        </p:txBody>
      </p:sp>
      <p:sp>
        <p:nvSpPr>
          <p:cNvPr id="28" name="Shape 22"/>
          <p:cNvSpPr/>
          <p:nvPr/>
        </p:nvSpPr>
        <p:spPr>
          <a:xfrm>
            <a:off x="4297680" y="3749040"/>
            <a:ext cx="3611880" cy="2148840"/>
          </a:xfrm>
          <a:prstGeom prst="roundRect">
            <a:avLst>
              <a:gd name="adj" fmla="val 3404"/>
            </a:avLst>
          </a:prstGeom>
          <a:solidFill>
            <a:srgbClr val="F6F8FA"/>
          </a:solidFill>
          <a:ln/>
          <a:effectLst>
            <a:outerShdw sx="100000" sy="100000" kx="0" ky="0" algn="bl" rotWithShape="0" blurRad="101600" dist="25400" dir="5400000">
              <a:srgbClr val="1A2B3C">
                <a:alpha val="10000"/>
              </a:srgbClr>
            </a:outerShdw>
          </a:effectLst>
        </p:spPr>
      </p:sp>
      <p:sp>
        <p:nvSpPr>
          <p:cNvPr id="29" name="Shape 23"/>
          <p:cNvSpPr/>
          <p:nvPr/>
        </p:nvSpPr>
        <p:spPr>
          <a:xfrm>
            <a:off x="4498848" y="3931920"/>
            <a:ext cx="457200" cy="457200"/>
          </a:xfrm>
          <a:prstGeom prst="ellipse">
            <a:avLst/>
          </a:prstGeom>
          <a:solidFill>
            <a:srgbClr val="1D8FD1"/>
          </a:solidFill>
          <a:ln/>
        </p:spPr>
      </p:sp>
      <p:pic>
        <p:nvPicPr>
          <p:cNvPr id="30" name="Image 4" descr="preencoded.png">    </p:cNvPr>
          <p:cNvPicPr>
            <a:picLocks noChangeAspect="1"/>
          </p:cNvPicPr>
          <p:nvPr/>
        </p:nvPicPr>
        <p:blipFill>
          <a:blip r:embed="rId5"/>
          <a:stretch>
            <a:fillRect/>
          </a:stretch>
        </p:blipFill>
        <p:spPr>
          <a:xfrm>
            <a:off x="4617720" y="4050792"/>
            <a:ext cx="219456" cy="219456"/>
          </a:xfrm>
          <a:prstGeom prst="rect">
            <a:avLst/>
          </a:prstGeom>
        </p:spPr>
      </p:pic>
      <p:sp>
        <p:nvSpPr>
          <p:cNvPr id="31" name="Text 24"/>
          <p:cNvSpPr/>
          <p:nvPr/>
        </p:nvSpPr>
        <p:spPr>
          <a:xfrm>
            <a:off x="5074920" y="3968496"/>
            <a:ext cx="2697480" cy="365760"/>
          </a:xfrm>
          <a:prstGeom prst="rect">
            <a:avLst/>
          </a:prstGeom>
          <a:noFill/>
          <a:ln/>
        </p:spPr>
        <p:txBody>
          <a:bodyPr wrap="square" lIns="0" tIns="0" rIns="0" bIns="0" rtlCol="0" anchor="ctr"/>
          <a:lstStyle/>
          <a:p>
            <a:pPr indent="0" marL="0">
              <a:buNone/>
            </a:pPr>
            <a:r>
              <a:rPr lang="en-US" sz="1450" b="1" dirty="0">
                <a:solidFill>
                  <a:srgbClr val="0B2A4A"/>
                </a:solidFill>
                <a:latin typeface="Cambria" pitchFamily="34" charset="0"/>
                <a:ea typeface="Cambria" pitchFamily="34" charset="-122"/>
                <a:cs typeface="Cambria" pitchFamily="34" charset="-120"/>
              </a:rPr>
              <a:t>DHL Supply Chain</a:t>
            </a:r>
            <a:endParaRPr lang="en-US" sz="1450" dirty="0"/>
          </a:p>
        </p:txBody>
      </p:sp>
      <p:sp>
        <p:nvSpPr>
          <p:cNvPr id="32" name="Text 25"/>
          <p:cNvSpPr/>
          <p:nvPr/>
        </p:nvSpPr>
        <p:spPr>
          <a:xfrm>
            <a:off x="4498848" y="4498848"/>
            <a:ext cx="3246120" cy="219456"/>
          </a:xfrm>
          <a:prstGeom prst="rect">
            <a:avLst/>
          </a:prstGeom>
          <a:noFill/>
          <a:ln/>
        </p:spPr>
        <p:txBody>
          <a:bodyPr wrap="square" lIns="0" tIns="0" rIns="0" bIns="0" rtlCol="0" anchor="ctr"/>
          <a:lstStyle/>
          <a:p>
            <a:pPr indent="0" marL="0">
              <a:buNone/>
            </a:pPr>
            <a:r>
              <a:rPr lang="en-US" sz="850" b="1" spc="150" kern="0" dirty="0">
                <a:solidFill>
                  <a:srgbClr val="1D8FD1"/>
                </a:solidFill>
                <a:latin typeface="Calibri" pitchFamily="34" charset="0"/>
                <a:ea typeface="Calibri" pitchFamily="34" charset="-122"/>
                <a:cs typeface="Calibri" pitchFamily="34" charset="-120"/>
              </a:rPr>
              <a:t>WINS THROUGH</a:t>
            </a:r>
            <a:endParaRPr lang="en-US" sz="850" dirty="0"/>
          </a:p>
        </p:txBody>
      </p:sp>
      <p:sp>
        <p:nvSpPr>
          <p:cNvPr id="33" name="Text 26"/>
          <p:cNvSpPr/>
          <p:nvPr/>
        </p:nvSpPr>
        <p:spPr>
          <a:xfrm>
            <a:off x="4498848" y="4754880"/>
            <a:ext cx="3227832" cy="1005840"/>
          </a:xfrm>
          <a:prstGeom prst="rect">
            <a:avLst/>
          </a:prstGeom>
          <a:noFill/>
          <a:ln/>
        </p:spPr>
        <p:txBody>
          <a:bodyPr wrap="square" lIns="0" tIns="0" rIns="0" bIns="0" rtlCol="0" anchor="ctr"/>
          <a:lstStyle/>
          <a:p>
            <a:pPr marL="342900" indent="-342900">
              <a:lnSpc>
                <a:spcPts val="1300"/>
              </a:lnSpc>
              <a:spcAft>
                <a:spcPts val="400"/>
              </a:spcAft>
              <a:buSzPct val="100000"/>
              <a:buChar char="•"/>
            </a:pPr>
            <a:r>
              <a:rPr lang="en-US" sz="1000" dirty="0">
                <a:solidFill>
                  <a:srgbClr val="3D4652"/>
                </a:solidFill>
                <a:latin typeface="Calibri" pitchFamily="34" charset="0"/>
                <a:ea typeface="Calibri" pitchFamily="34" charset="-122"/>
                <a:cs typeface="Calibri" pitchFamily="34" charset="-120"/>
              </a:rPr>
              <a:t>Premium service quality</a:t>
            </a:r>
            <a:endParaRPr lang="en-US" sz="1000" dirty="0"/>
          </a:p>
          <a:p>
            <a:pPr marL="342900" indent="-342900">
              <a:lnSpc>
                <a:spcPts val="1300"/>
              </a:lnSpc>
              <a:spcAft>
                <a:spcPts val="400"/>
              </a:spcAft>
              <a:buSzPct val="100000"/>
              <a:buChar char="•"/>
            </a:pPr>
            <a:r>
              <a:rPr lang="en-US" sz="1000" dirty="0">
                <a:solidFill>
                  <a:srgbClr val="3D4652"/>
                </a:solidFill>
                <a:latin typeface="Calibri" pitchFamily="34" charset="0"/>
                <a:ea typeface="Calibri" pitchFamily="34" charset="-122"/>
                <a:cs typeface="Calibri" pitchFamily="34" charset="-120"/>
              </a:rPr>
              <a:t>Multinational customers</a:t>
            </a:r>
            <a:endParaRPr lang="en-US" sz="1000" dirty="0"/>
          </a:p>
        </p:txBody>
      </p:sp>
      <p:sp>
        <p:nvSpPr>
          <p:cNvPr id="34" name="Shape 27"/>
          <p:cNvSpPr/>
          <p:nvPr/>
        </p:nvSpPr>
        <p:spPr>
          <a:xfrm>
            <a:off x="8046720" y="3749040"/>
            <a:ext cx="3611880" cy="2148840"/>
          </a:xfrm>
          <a:prstGeom prst="roundRect">
            <a:avLst>
              <a:gd name="adj" fmla="val 3404"/>
            </a:avLst>
          </a:prstGeom>
          <a:solidFill>
            <a:srgbClr val="0B2A4A"/>
          </a:solidFill>
          <a:ln/>
          <a:effectLst>
            <a:outerShdw sx="100000" sy="100000" kx="0" ky="0" algn="bl" rotWithShape="0" blurRad="101600" dist="25400" dir="5400000">
              <a:srgbClr val="1A2B3C">
                <a:alpha val="10000"/>
              </a:srgbClr>
            </a:outerShdw>
          </a:effectLst>
        </p:spPr>
      </p:sp>
      <p:sp>
        <p:nvSpPr>
          <p:cNvPr id="35" name="Shape 28"/>
          <p:cNvSpPr/>
          <p:nvPr/>
        </p:nvSpPr>
        <p:spPr>
          <a:xfrm>
            <a:off x="8247888" y="3931920"/>
            <a:ext cx="457200" cy="457200"/>
          </a:xfrm>
          <a:prstGeom prst="ellipse">
            <a:avLst/>
          </a:prstGeom>
          <a:solidFill>
            <a:srgbClr val="F2901E"/>
          </a:solidFill>
          <a:ln/>
        </p:spPr>
      </p:sp>
      <p:pic>
        <p:nvPicPr>
          <p:cNvPr id="36" name="Image 5" descr="preencoded.png">    </p:cNvPr>
          <p:cNvPicPr>
            <a:picLocks noChangeAspect="1"/>
          </p:cNvPicPr>
          <p:nvPr/>
        </p:nvPicPr>
        <p:blipFill>
          <a:blip r:embed="rId6"/>
          <a:stretch>
            <a:fillRect/>
          </a:stretch>
        </p:blipFill>
        <p:spPr>
          <a:xfrm>
            <a:off x="8366760" y="4050792"/>
            <a:ext cx="219456" cy="219456"/>
          </a:xfrm>
          <a:prstGeom prst="rect">
            <a:avLst/>
          </a:prstGeom>
        </p:spPr>
      </p:pic>
      <p:sp>
        <p:nvSpPr>
          <p:cNvPr id="37" name="Text 29"/>
          <p:cNvSpPr/>
          <p:nvPr/>
        </p:nvSpPr>
        <p:spPr>
          <a:xfrm>
            <a:off x="8823960" y="3968496"/>
            <a:ext cx="2697480" cy="36576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CJ Darcl</a:t>
            </a:r>
            <a:endParaRPr lang="en-US" sz="1450" dirty="0"/>
          </a:p>
        </p:txBody>
      </p:sp>
      <p:sp>
        <p:nvSpPr>
          <p:cNvPr id="38" name="Text 30"/>
          <p:cNvSpPr/>
          <p:nvPr/>
        </p:nvSpPr>
        <p:spPr>
          <a:xfrm>
            <a:off x="8247888" y="4498848"/>
            <a:ext cx="3246120" cy="219456"/>
          </a:xfrm>
          <a:prstGeom prst="rect">
            <a:avLst/>
          </a:prstGeom>
          <a:noFill/>
          <a:ln/>
        </p:spPr>
        <p:txBody>
          <a:bodyPr wrap="square" lIns="0" tIns="0" rIns="0" bIns="0" rtlCol="0" anchor="ctr"/>
          <a:lstStyle/>
          <a:p>
            <a:pPr indent="0" marL="0">
              <a:buNone/>
            </a:pPr>
            <a:r>
              <a:rPr lang="en-US" sz="850" b="1" spc="150" kern="0" dirty="0">
                <a:solidFill>
                  <a:srgbClr val="F2901E"/>
                </a:solidFill>
                <a:latin typeface="Calibri" pitchFamily="34" charset="0"/>
                <a:ea typeface="Calibri" pitchFamily="34" charset="-122"/>
                <a:cs typeface="Calibri" pitchFamily="34" charset="-120"/>
              </a:rPr>
              <a:t>WINS THROUGH</a:t>
            </a:r>
            <a:endParaRPr lang="en-US" sz="850" dirty="0"/>
          </a:p>
        </p:txBody>
      </p:sp>
      <p:sp>
        <p:nvSpPr>
          <p:cNvPr id="39" name="Text 31"/>
          <p:cNvSpPr/>
          <p:nvPr/>
        </p:nvSpPr>
        <p:spPr>
          <a:xfrm>
            <a:off x="8247888" y="4754880"/>
            <a:ext cx="3227832" cy="1005840"/>
          </a:xfrm>
          <a:prstGeom prst="rect">
            <a:avLst/>
          </a:prstGeom>
          <a:noFill/>
          <a:ln/>
        </p:spPr>
        <p:txBody>
          <a:bodyPr wrap="square" lIns="0" tIns="0" rIns="0" bIns="0" rtlCol="0" anchor="ctr"/>
          <a:lstStyle/>
          <a:p>
            <a:pPr marL="342900" indent="-342900">
              <a:lnSpc>
                <a:spcPts val="1300"/>
              </a:lnSpc>
              <a:spcAft>
                <a:spcPts val="400"/>
              </a:spcAft>
              <a:buSzPct val="100000"/>
              <a:buChar char="•"/>
            </a:pPr>
            <a:r>
              <a:rPr lang="en-US" sz="1000" dirty="0">
                <a:solidFill>
                  <a:srgbClr val="E7EEF6"/>
                </a:solidFill>
                <a:latin typeface="Calibri" pitchFamily="34" charset="0"/>
                <a:ea typeface="Calibri" pitchFamily="34" charset="-122"/>
                <a:cs typeface="Calibri" pitchFamily="34" charset="-120"/>
              </a:rPr>
              <a:t>Heavy industrial freight expertise</a:t>
            </a:r>
            <a:endParaRPr lang="en-US" sz="1000" dirty="0"/>
          </a:p>
          <a:p>
            <a:pPr marL="342900" indent="-342900">
              <a:lnSpc>
                <a:spcPts val="1300"/>
              </a:lnSpc>
              <a:spcAft>
                <a:spcPts val="400"/>
              </a:spcAft>
              <a:buSzPct val="100000"/>
              <a:buChar char="•"/>
            </a:pPr>
            <a:r>
              <a:rPr lang="en-US" sz="1000" dirty="0">
                <a:solidFill>
                  <a:srgbClr val="E7EEF6"/>
                </a:solidFill>
                <a:latin typeface="Calibri" pitchFamily="34" charset="0"/>
                <a:ea typeface="Calibri" pitchFamily="34" charset="-122"/>
                <a:cs typeface="Calibri" pitchFamily="34" charset="-120"/>
              </a:rPr>
              <a:t>Steel &amp; mining specialization</a:t>
            </a:r>
            <a:endParaRPr lang="en-US" sz="1000" dirty="0"/>
          </a:p>
          <a:p>
            <a:pPr marL="342900" indent="-342900">
              <a:lnSpc>
                <a:spcPts val="1300"/>
              </a:lnSpc>
              <a:spcAft>
                <a:spcPts val="400"/>
              </a:spcAft>
              <a:buSzPct val="100000"/>
              <a:buChar char="•"/>
            </a:pPr>
            <a:r>
              <a:rPr lang="en-US" sz="1000" dirty="0">
                <a:solidFill>
                  <a:srgbClr val="E7EEF6"/>
                </a:solidFill>
                <a:latin typeface="Calibri" pitchFamily="34" charset="0"/>
                <a:ea typeface="Calibri" pitchFamily="34" charset="-122"/>
                <a:cs typeface="Calibri" pitchFamily="34" charset="-120"/>
              </a:rPr>
              <a:t>Long-haul + customized solutions</a:t>
            </a:r>
            <a:endParaRPr lang="en-US" sz="1000" dirty="0"/>
          </a:p>
        </p:txBody>
      </p:sp>
      <p:sp>
        <p:nvSpPr>
          <p:cNvPr id="40" name="Text 32"/>
          <p:cNvSpPr/>
          <p:nvPr/>
        </p:nvSpPr>
        <p:spPr>
          <a:xfrm>
            <a:off x="548640" y="6473952"/>
            <a:ext cx="9875520" cy="274320"/>
          </a:xfrm>
          <a:prstGeom prst="rect">
            <a:avLst/>
          </a:prstGeom>
          <a:noFill/>
          <a:ln/>
        </p:spPr>
        <p:txBody>
          <a:bodyPr wrap="square" lIns="0" tIns="0" rIns="0" bIns="0" rtlCol="0" anchor="ctr"/>
          <a:lstStyle/>
          <a:p>
            <a:pPr indent="0" marL="0">
              <a:buNone/>
            </a:pPr>
            <a:r>
              <a:rPr lang="en-US" sz="780" i="1" dirty="0">
                <a:solidFill>
                  <a:srgbClr val="6B7684"/>
                </a:solidFill>
                <a:latin typeface="Calibri" pitchFamily="34" charset="0"/>
                <a:ea typeface="Calibri" pitchFamily="34" charset="-122"/>
                <a:cs typeface="Calibri" pitchFamily="34" charset="-120"/>
              </a:rPr>
              <a:t>Source: CJ Darcl strategic analysis, based on company disclosures, investor presentations and market positioning.</a:t>
            </a:r>
            <a:endParaRPr lang="en-US" sz="780" dirty="0"/>
          </a:p>
        </p:txBody>
      </p:sp>
      <p:sp>
        <p:nvSpPr>
          <p:cNvPr id="41" name="Text 33"/>
          <p:cNvSpPr/>
          <p:nvPr/>
        </p:nvSpPr>
        <p:spPr>
          <a:xfrm>
            <a:off x="11414455" y="6473952"/>
            <a:ext cx="45720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50" b="1" spc="200" kern="0" dirty="0">
                <a:solidFill>
                  <a:srgbClr val="1D8FD1"/>
                </a:solidFill>
                <a:latin typeface="Calibri" pitchFamily="34" charset="0"/>
                <a:ea typeface="Calibri" pitchFamily="34" charset="-122"/>
                <a:cs typeface="Calibri" pitchFamily="34" charset="-120"/>
              </a:rPr>
              <a:t>OPERATIONAL CAPABILITY</a:t>
            </a:r>
            <a:endParaRPr lang="en-US" sz="1050" dirty="0"/>
          </a:p>
        </p:txBody>
      </p:sp>
      <p:sp>
        <p:nvSpPr>
          <p:cNvPr id="3" name="Text 1"/>
          <p:cNvSpPr/>
          <p:nvPr/>
        </p:nvSpPr>
        <p:spPr>
          <a:xfrm>
            <a:off x="548640" y="530352"/>
            <a:ext cx="10607040" cy="548640"/>
          </a:xfrm>
          <a:prstGeom prst="rect">
            <a:avLst/>
          </a:prstGeom>
          <a:noFill/>
          <a:ln/>
        </p:spPr>
        <p:txBody>
          <a:bodyPr wrap="square" lIns="0" tIns="0" rIns="0" bIns="0" rtlCol="0" anchor="ctr"/>
          <a:lstStyle/>
          <a:p>
            <a:pPr indent="0" marL="0">
              <a:buNone/>
            </a:pPr>
            <a:r>
              <a:rPr lang="en-US" sz="2400" b="1" dirty="0">
                <a:solidFill>
                  <a:srgbClr val="0B2A4A"/>
                </a:solidFill>
                <a:latin typeface="Cambria" pitchFamily="34" charset="0"/>
                <a:ea typeface="Cambria" pitchFamily="34" charset="-122"/>
                <a:cs typeface="Cambria" pitchFamily="34" charset="-120"/>
              </a:rPr>
              <a:t>Who Has the Strongest Network?</a:t>
            </a:r>
            <a:endParaRPr lang="en-US" sz="2400" dirty="0"/>
          </a:p>
        </p:txBody>
      </p:sp>
      <p:sp>
        <p:nvSpPr>
          <p:cNvPr id="4" name="Text 2"/>
          <p:cNvSpPr/>
          <p:nvPr/>
        </p:nvSpPr>
        <p:spPr>
          <a:xfrm>
            <a:off x="548640" y="1371600"/>
            <a:ext cx="5394960" cy="256032"/>
          </a:xfrm>
          <a:prstGeom prst="rect">
            <a:avLst/>
          </a:prstGeom>
          <a:noFill/>
          <a:ln/>
        </p:spPr>
        <p:txBody>
          <a:bodyPr wrap="square" lIns="0" tIns="0" rIns="0" bIns="0" rtlCol="0" anchor="ctr"/>
          <a:lstStyle/>
          <a:p>
            <a:pPr indent="0" marL="0">
              <a:buNone/>
            </a:pPr>
            <a:r>
              <a:rPr lang="en-US" sz="1150" b="1" dirty="0">
                <a:solidFill>
                  <a:srgbClr val="0B2A4A"/>
                </a:solidFill>
                <a:latin typeface="Calibri" pitchFamily="34" charset="0"/>
                <a:ea typeface="Calibri" pitchFamily="34" charset="-122"/>
                <a:cs typeface="Calibri" pitchFamily="34" charset="-120"/>
              </a:rPr>
              <a:t>Network Footprint Snapshot</a:t>
            </a:r>
            <a:endParaRPr lang="en-US" sz="1150" dirty="0"/>
          </a:p>
        </p:txBody>
      </p:sp>
      <p:sp>
        <p:nvSpPr>
          <p:cNvPr id="5" name="Shape 3"/>
          <p:cNvSpPr/>
          <p:nvPr/>
        </p:nvSpPr>
        <p:spPr>
          <a:xfrm>
            <a:off x="548640" y="1737360"/>
            <a:ext cx="5394960" cy="804672"/>
          </a:xfrm>
          <a:prstGeom prst="roundRect">
            <a:avLst>
              <a:gd name="adj" fmla="val 6818"/>
            </a:avLst>
          </a:prstGeom>
          <a:solidFill>
            <a:srgbClr val="F6F8FA"/>
          </a:solidFill>
          <a:ln/>
        </p:spPr>
      </p:sp>
      <p:sp>
        <p:nvSpPr>
          <p:cNvPr id="6" name="Text 4"/>
          <p:cNvSpPr/>
          <p:nvPr/>
        </p:nvSpPr>
        <p:spPr>
          <a:xfrm>
            <a:off x="731520" y="1810512"/>
            <a:ext cx="5029200" cy="274320"/>
          </a:xfrm>
          <a:prstGeom prst="rect">
            <a:avLst/>
          </a:prstGeom>
          <a:noFill/>
          <a:ln/>
        </p:spPr>
        <p:txBody>
          <a:bodyPr wrap="square" lIns="0" tIns="0" rIns="0" bIns="0" rtlCol="0" anchor="ctr"/>
          <a:lstStyle/>
          <a:p>
            <a:pPr indent="0" marL="0">
              <a:buNone/>
            </a:pPr>
            <a:r>
              <a:rPr lang="en-US" sz="1200" b="1" dirty="0">
                <a:solidFill>
                  <a:srgbClr val="1D8FD1"/>
                </a:solidFill>
                <a:latin typeface="Calibri" pitchFamily="34" charset="0"/>
                <a:ea typeface="Calibri" pitchFamily="34" charset="-122"/>
                <a:cs typeface="Calibri" pitchFamily="34" charset="-120"/>
              </a:rPr>
              <a:t>CJ Darcl</a:t>
            </a:r>
            <a:endParaRPr lang="en-US" sz="1200" dirty="0"/>
          </a:p>
        </p:txBody>
      </p:sp>
      <p:sp>
        <p:nvSpPr>
          <p:cNvPr id="7" name="Text 5"/>
          <p:cNvSpPr/>
          <p:nvPr/>
        </p:nvSpPr>
        <p:spPr>
          <a:xfrm>
            <a:off x="731520" y="2103120"/>
            <a:ext cx="5029200" cy="402336"/>
          </a:xfrm>
          <a:prstGeom prst="rect">
            <a:avLst/>
          </a:prstGeom>
          <a:noFill/>
          <a:ln/>
        </p:spPr>
        <p:txBody>
          <a:bodyPr wrap="square" lIns="0" tIns="0" rIns="0" bIns="0" rtlCol="0" anchor="ctr"/>
          <a:lstStyle/>
          <a:p>
            <a:pPr indent="0" marL="0">
              <a:lnSpc>
                <a:spcPts val="1200"/>
              </a:lnSpc>
              <a:buNone/>
            </a:pPr>
            <a:r>
              <a:rPr lang="en-US" sz="980" dirty="0">
                <a:solidFill>
                  <a:srgbClr val="3D4652"/>
                </a:solidFill>
                <a:latin typeface="Calibri" pitchFamily="34" charset="0"/>
                <a:ea typeface="Calibri" pitchFamily="34" charset="-122"/>
                <a:cs typeface="Calibri" pitchFamily="34" charset="-120"/>
              </a:rPr>
              <a:t>202 offices · 6,691 locations · 14 warehouses · 955K+ partnered fleet</a:t>
            </a:r>
            <a:endParaRPr lang="en-US" sz="980" dirty="0"/>
          </a:p>
        </p:txBody>
      </p:sp>
      <p:sp>
        <p:nvSpPr>
          <p:cNvPr id="8" name="Shape 6"/>
          <p:cNvSpPr/>
          <p:nvPr/>
        </p:nvSpPr>
        <p:spPr>
          <a:xfrm>
            <a:off x="548640" y="2761488"/>
            <a:ext cx="5394960" cy="804672"/>
          </a:xfrm>
          <a:prstGeom prst="roundRect">
            <a:avLst>
              <a:gd name="adj" fmla="val 6818"/>
            </a:avLst>
          </a:prstGeom>
          <a:solidFill>
            <a:srgbClr val="F6F8FA"/>
          </a:solidFill>
          <a:ln/>
        </p:spPr>
      </p:sp>
      <p:sp>
        <p:nvSpPr>
          <p:cNvPr id="9" name="Text 7"/>
          <p:cNvSpPr/>
          <p:nvPr/>
        </p:nvSpPr>
        <p:spPr>
          <a:xfrm>
            <a:off x="731520" y="2834640"/>
            <a:ext cx="5029200" cy="274320"/>
          </a:xfrm>
          <a:prstGeom prst="rect">
            <a:avLst/>
          </a:prstGeom>
          <a:noFill/>
          <a:ln/>
        </p:spPr>
        <p:txBody>
          <a:bodyPr wrap="square" lIns="0" tIns="0" rIns="0" bIns="0" rtlCol="0" anchor="ctr"/>
          <a:lstStyle/>
          <a:p>
            <a:pPr indent="0" marL="0">
              <a:buNone/>
            </a:pPr>
            <a:r>
              <a:rPr lang="en-US" sz="1200" b="1" dirty="0">
                <a:solidFill>
                  <a:srgbClr val="1D8FD1"/>
                </a:solidFill>
                <a:latin typeface="Calibri" pitchFamily="34" charset="0"/>
                <a:ea typeface="Calibri" pitchFamily="34" charset="-122"/>
                <a:cs typeface="Calibri" pitchFamily="34" charset="-120"/>
              </a:rPr>
              <a:t>Safexpress</a:t>
            </a:r>
            <a:endParaRPr lang="en-US" sz="1200" dirty="0"/>
          </a:p>
        </p:txBody>
      </p:sp>
      <p:sp>
        <p:nvSpPr>
          <p:cNvPr id="10" name="Text 8"/>
          <p:cNvSpPr/>
          <p:nvPr/>
        </p:nvSpPr>
        <p:spPr>
          <a:xfrm>
            <a:off x="731520" y="3127248"/>
            <a:ext cx="5029200" cy="402336"/>
          </a:xfrm>
          <a:prstGeom prst="rect">
            <a:avLst/>
          </a:prstGeom>
          <a:noFill/>
          <a:ln/>
        </p:spPr>
        <p:txBody>
          <a:bodyPr wrap="square" lIns="0" tIns="0" rIns="0" bIns="0" rtlCol="0" anchor="ctr"/>
          <a:lstStyle/>
          <a:p>
            <a:pPr indent="0" marL="0">
              <a:lnSpc>
                <a:spcPts val="1200"/>
              </a:lnSpc>
              <a:buNone/>
            </a:pPr>
            <a:r>
              <a:rPr lang="en-US" sz="980" dirty="0">
                <a:solidFill>
                  <a:srgbClr val="3D4652"/>
                </a:solidFill>
                <a:latin typeface="Calibri" pitchFamily="34" charset="0"/>
                <a:ea typeface="Calibri" pitchFamily="34" charset="-122"/>
                <a:cs typeface="Calibri" pitchFamily="34" charset="-120"/>
              </a:rPr>
              <a:t>340 area offices · 847 gateways · 21.2 Mn sq. ft. · 14,076 GPS vehicles</a:t>
            </a:r>
            <a:endParaRPr lang="en-US" sz="980" dirty="0"/>
          </a:p>
        </p:txBody>
      </p:sp>
      <p:sp>
        <p:nvSpPr>
          <p:cNvPr id="11" name="Shape 9"/>
          <p:cNvSpPr/>
          <p:nvPr/>
        </p:nvSpPr>
        <p:spPr>
          <a:xfrm>
            <a:off x="548640" y="3785616"/>
            <a:ext cx="5394960" cy="804672"/>
          </a:xfrm>
          <a:prstGeom prst="roundRect">
            <a:avLst>
              <a:gd name="adj" fmla="val 6818"/>
            </a:avLst>
          </a:prstGeom>
          <a:solidFill>
            <a:srgbClr val="F6F8FA"/>
          </a:solidFill>
          <a:ln/>
        </p:spPr>
      </p:sp>
      <p:sp>
        <p:nvSpPr>
          <p:cNvPr id="12" name="Text 10"/>
          <p:cNvSpPr/>
          <p:nvPr/>
        </p:nvSpPr>
        <p:spPr>
          <a:xfrm>
            <a:off x="731520" y="3858768"/>
            <a:ext cx="5029200" cy="274320"/>
          </a:xfrm>
          <a:prstGeom prst="rect">
            <a:avLst/>
          </a:prstGeom>
          <a:noFill/>
          <a:ln/>
        </p:spPr>
        <p:txBody>
          <a:bodyPr wrap="square" lIns="0" tIns="0" rIns="0" bIns="0" rtlCol="0" anchor="ctr"/>
          <a:lstStyle/>
          <a:p>
            <a:pPr indent="0" marL="0">
              <a:buNone/>
            </a:pPr>
            <a:r>
              <a:rPr lang="en-US" sz="1200" b="1" dirty="0">
                <a:solidFill>
                  <a:srgbClr val="1D8FD1"/>
                </a:solidFill>
                <a:latin typeface="Calibri" pitchFamily="34" charset="0"/>
                <a:ea typeface="Calibri" pitchFamily="34" charset="-122"/>
                <a:cs typeface="Calibri" pitchFamily="34" charset="-120"/>
              </a:rPr>
              <a:t>Mahindra Logistics</a:t>
            </a:r>
            <a:endParaRPr lang="en-US" sz="1200" dirty="0"/>
          </a:p>
        </p:txBody>
      </p:sp>
      <p:sp>
        <p:nvSpPr>
          <p:cNvPr id="13" name="Text 11"/>
          <p:cNvSpPr/>
          <p:nvPr/>
        </p:nvSpPr>
        <p:spPr>
          <a:xfrm>
            <a:off x="731520" y="4151376"/>
            <a:ext cx="5029200" cy="402336"/>
          </a:xfrm>
          <a:prstGeom prst="rect">
            <a:avLst/>
          </a:prstGeom>
          <a:noFill/>
          <a:ln/>
        </p:spPr>
        <p:txBody>
          <a:bodyPr wrap="square" lIns="0" tIns="0" rIns="0" bIns="0" rtlCol="0" anchor="ctr"/>
          <a:lstStyle/>
          <a:p>
            <a:pPr indent="0" marL="0">
              <a:lnSpc>
                <a:spcPts val="1200"/>
              </a:lnSpc>
              <a:buNone/>
            </a:pPr>
            <a:r>
              <a:rPr lang="en-US" sz="980" dirty="0">
                <a:solidFill>
                  <a:srgbClr val="3D4652"/>
                </a:solidFill>
                <a:latin typeface="Calibri" pitchFamily="34" charset="0"/>
                <a:ea typeface="Calibri" pitchFamily="34" charset="-122"/>
                <a:cs typeface="Calibri" pitchFamily="34" charset="-120"/>
              </a:rPr>
              <a:t>20.8 Mn sq. ft. warehousing under management (FY25)</a:t>
            </a:r>
            <a:endParaRPr lang="en-US" sz="980" dirty="0"/>
          </a:p>
        </p:txBody>
      </p:sp>
      <p:sp>
        <p:nvSpPr>
          <p:cNvPr id="14" name="Shape 12"/>
          <p:cNvSpPr/>
          <p:nvPr/>
        </p:nvSpPr>
        <p:spPr>
          <a:xfrm>
            <a:off x="548640" y="4809744"/>
            <a:ext cx="5394960" cy="804672"/>
          </a:xfrm>
          <a:prstGeom prst="roundRect">
            <a:avLst>
              <a:gd name="adj" fmla="val 6818"/>
            </a:avLst>
          </a:prstGeom>
          <a:solidFill>
            <a:srgbClr val="F6F8FA"/>
          </a:solidFill>
          <a:ln/>
        </p:spPr>
      </p:sp>
      <p:sp>
        <p:nvSpPr>
          <p:cNvPr id="15" name="Text 13"/>
          <p:cNvSpPr/>
          <p:nvPr/>
        </p:nvSpPr>
        <p:spPr>
          <a:xfrm>
            <a:off x="731520" y="4882896"/>
            <a:ext cx="5029200" cy="274320"/>
          </a:xfrm>
          <a:prstGeom prst="rect">
            <a:avLst/>
          </a:prstGeom>
          <a:noFill/>
          <a:ln/>
        </p:spPr>
        <p:txBody>
          <a:bodyPr wrap="square" lIns="0" tIns="0" rIns="0" bIns="0" rtlCol="0" anchor="ctr"/>
          <a:lstStyle/>
          <a:p>
            <a:pPr indent="0" marL="0">
              <a:buNone/>
            </a:pPr>
            <a:r>
              <a:rPr lang="en-US" sz="1200" b="1" dirty="0">
                <a:solidFill>
                  <a:srgbClr val="1D8FD1"/>
                </a:solidFill>
                <a:latin typeface="Calibri" pitchFamily="34" charset="0"/>
                <a:ea typeface="Calibri" pitchFamily="34" charset="-122"/>
                <a:cs typeface="Calibri" pitchFamily="34" charset="-120"/>
              </a:rPr>
              <a:t>TCI (Group)</a:t>
            </a:r>
            <a:endParaRPr lang="en-US" sz="1200" dirty="0"/>
          </a:p>
        </p:txBody>
      </p:sp>
      <p:sp>
        <p:nvSpPr>
          <p:cNvPr id="16" name="Text 14"/>
          <p:cNvSpPr/>
          <p:nvPr/>
        </p:nvSpPr>
        <p:spPr>
          <a:xfrm>
            <a:off x="731520" y="5175504"/>
            <a:ext cx="5029200" cy="402336"/>
          </a:xfrm>
          <a:prstGeom prst="rect">
            <a:avLst/>
          </a:prstGeom>
          <a:noFill/>
          <a:ln/>
        </p:spPr>
        <p:txBody>
          <a:bodyPr wrap="square" lIns="0" tIns="0" rIns="0" bIns="0" rtlCol="0" anchor="ctr"/>
          <a:lstStyle/>
          <a:p>
            <a:pPr indent="0" marL="0">
              <a:lnSpc>
                <a:spcPts val="1200"/>
              </a:lnSpc>
              <a:buNone/>
            </a:pPr>
            <a:r>
              <a:rPr lang="en-US" sz="980" dirty="0">
                <a:solidFill>
                  <a:srgbClr val="3D4652"/>
                </a:solidFill>
                <a:latin typeface="Calibri" pitchFamily="34" charset="0"/>
                <a:ea typeface="Calibri" pitchFamily="34" charset="-122"/>
                <a:cs typeface="Calibri" pitchFamily="34" charset="-120"/>
              </a:rPr>
              <a:t>15+ Mn sq. ft. warehousing · Group revenue &gt;₹7,000 Cr</a:t>
            </a:r>
            <a:endParaRPr lang="en-US" sz="980" dirty="0"/>
          </a:p>
        </p:txBody>
      </p:sp>
      <p:sp>
        <p:nvSpPr>
          <p:cNvPr id="17" name="Text 15"/>
          <p:cNvSpPr/>
          <p:nvPr/>
        </p:nvSpPr>
        <p:spPr>
          <a:xfrm>
            <a:off x="6492240" y="1371600"/>
            <a:ext cx="5166360" cy="256032"/>
          </a:xfrm>
          <a:prstGeom prst="rect">
            <a:avLst/>
          </a:prstGeom>
          <a:noFill/>
          <a:ln/>
        </p:spPr>
        <p:txBody>
          <a:bodyPr wrap="square" lIns="0" tIns="0" rIns="0" bIns="0" rtlCol="0" anchor="ctr"/>
          <a:lstStyle/>
          <a:p>
            <a:pPr indent="0" marL="0">
              <a:buNone/>
            </a:pPr>
            <a:r>
              <a:rPr lang="en-US" sz="1150" b="1" dirty="0">
                <a:solidFill>
                  <a:srgbClr val="0B2A4A"/>
                </a:solidFill>
                <a:latin typeface="Calibri" pitchFamily="34" charset="0"/>
                <a:ea typeface="Calibri" pitchFamily="34" charset="-122"/>
                <a:cs typeface="Calibri" pitchFamily="34" charset="-120"/>
              </a:rPr>
              <a:t>Capability Radar — CJ Darcl vs. Peer Average</a:t>
            </a:r>
            <a:endParaRPr lang="en-US" sz="1150" dirty="0"/>
          </a:p>
        </p:txBody>
      </p:sp>
      <p:graphicFrame>
        <p:nvGraphicFramePr>
          <p:cNvPr id="18" name="Chart 0" descr=""/>
          <p:cNvGraphicFramePr/>
          <p:nvPr/>
        </p:nvGraphicFramePr>
        <p:xfrm>
          <a:off x="6309360" y="1691640"/>
          <a:ext cx="5394960" cy="393192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p:nvPr/>
        </p:nvSpPr>
        <p:spPr>
          <a:xfrm>
            <a:off x="6309360" y="5669280"/>
            <a:ext cx="5394960" cy="320040"/>
          </a:xfrm>
          <a:prstGeom prst="rect">
            <a:avLst/>
          </a:prstGeom>
          <a:noFill/>
          <a:ln/>
        </p:spPr>
        <p:txBody>
          <a:bodyPr wrap="square" lIns="0" tIns="0" rIns="0" bIns="0" rtlCol="0" anchor="ctr"/>
          <a:lstStyle/>
          <a:p>
            <a:pPr indent="0" marL="0">
              <a:lnSpc>
                <a:spcPts val="1000"/>
              </a:lnSpc>
              <a:buNone/>
            </a:pPr>
            <a:r>
              <a:rPr lang="en-US" sz="800" i="1" dirty="0">
                <a:solidFill>
                  <a:srgbClr val="6B7684"/>
                </a:solidFill>
                <a:latin typeface="Calibri" pitchFamily="34" charset="0"/>
                <a:ea typeface="Calibri" pitchFamily="34" charset="-122"/>
                <a:cs typeface="Calibri" pitchFamily="34" charset="-120"/>
              </a:rPr>
              <a:t>Indexed 0–100; a qualitative assessment based on publicly available network data (not a standardized industry index).</a:t>
            </a:r>
            <a:endParaRPr lang="en-US" sz="800" dirty="0"/>
          </a:p>
        </p:txBody>
      </p:sp>
      <p:sp>
        <p:nvSpPr>
          <p:cNvPr id="20" name="Text 17"/>
          <p:cNvSpPr/>
          <p:nvPr/>
        </p:nvSpPr>
        <p:spPr>
          <a:xfrm>
            <a:off x="548640" y="6473952"/>
            <a:ext cx="9875520" cy="274320"/>
          </a:xfrm>
          <a:prstGeom prst="rect">
            <a:avLst/>
          </a:prstGeom>
          <a:noFill/>
          <a:ln/>
        </p:spPr>
        <p:txBody>
          <a:bodyPr wrap="square" lIns="0" tIns="0" rIns="0" bIns="0" rtlCol="0" anchor="ctr"/>
          <a:lstStyle/>
          <a:p>
            <a:pPr indent="0" marL="0">
              <a:buNone/>
            </a:pPr>
            <a:r>
              <a:rPr lang="en-US" sz="780" i="1" dirty="0">
                <a:solidFill>
                  <a:srgbClr val="6B7684"/>
                </a:solidFill>
                <a:latin typeface="Calibri" pitchFamily="34" charset="0"/>
                <a:ea typeface="Calibri" pitchFamily="34" charset="-122"/>
                <a:cs typeface="Calibri" pitchFamily="34" charset="-120"/>
              </a:rPr>
              <a:t>Source: CJ Darcl DRHP; Safexpress company updates (2026); Mahindra Logistics FY25 press release; TCI Group company website.</a:t>
            </a:r>
            <a:endParaRPr lang="en-US" sz="780" dirty="0"/>
          </a:p>
        </p:txBody>
      </p:sp>
      <p:sp>
        <p:nvSpPr>
          <p:cNvPr id="21" name="Text 18"/>
          <p:cNvSpPr/>
          <p:nvPr/>
        </p:nvSpPr>
        <p:spPr>
          <a:xfrm>
            <a:off x="11414455" y="6473952"/>
            <a:ext cx="45720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50" b="1" spc="200" kern="0" dirty="0">
                <a:solidFill>
                  <a:srgbClr val="1D8FD1"/>
                </a:solidFill>
                <a:latin typeface="Calibri" pitchFamily="34" charset="0"/>
                <a:ea typeface="Calibri" pitchFamily="34" charset="-122"/>
                <a:cs typeface="Calibri" pitchFamily="34" charset="-120"/>
              </a:rPr>
              <a:t>PRICING</a:t>
            </a:r>
            <a:endParaRPr lang="en-US" sz="1050" dirty="0"/>
          </a:p>
        </p:txBody>
      </p:sp>
      <p:sp>
        <p:nvSpPr>
          <p:cNvPr id="3" name="Text 1"/>
          <p:cNvSpPr/>
          <p:nvPr/>
        </p:nvSpPr>
        <p:spPr>
          <a:xfrm>
            <a:off x="548640" y="530352"/>
            <a:ext cx="10607040" cy="548640"/>
          </a:xfrm>
          <a:prstGeom prst="rect">
            <a:avLst/>
          </a:prstGeom>
          <a:noFill/>
          <a:ln/>
        </p:spPr>
        <p:txBody>
          <a:bodyPr wrap="square" lIns="0" tIns="0" rIns="0" bIns="0" rtlCol="0" anchor="ctr"/>
          <a:lstStyle/>
          <a:p>
            <a:pPr indent="0" marL="0">
              <a:buNone/>
            </a:pPr>
            <a:r>
              <a:rPr lang="en-US" sz="2400" b="1" dirty="0">
                <a:solidFill>
                  <a:srgbClr val="0B2A4A"/>
                </a:solidFill>
                <a:latin typeface="Cambria" pitchFamily="34" charset="0"/>
                <a:ea typeface="Cambria" pitchFamily="34" charset="-122"/>
                <a:cs typeface="Cambria" pitchFamily="34" charset="-120"/>
              </a:rPr>
              <a:t>How Competitors Price</a:t>
            </a:r>
            <a:endParaRPr lang="en-US" sz="2400" dirty="0"/>
          </a:p>
        </p:txBody>
      </p:sp>
      <p:sp>
        <p:nvSpPr>
          <p:cNvPr id="4" name="Shape 2"/>
          <p:cNvSpPr/>
          <p:nvPr/>
        </p:nvSpPr>
        <p:spPr>
          <a:xfrm>
            <a:off x="548640" y="2194560"/>
            <a:ext cx="2766060" cy="457200"/>
          </a:xfrm>
          <a:prstGeom prst="rect">
            <a:avLst/>
          </a:prstGeom>
          <a:solidFill>
            <a:srgbClr val="E23A5E"/>
          </a:solidFill>
          <a:ln w="19050">
            <a:solidFill>
              <a:srgbClr val="FFFFFF"/>
            </a:solidFill>
            <a:prstDash val="solid"/>
          </a:ln>
        </p:spPr>
      </p:sp>
      <p:sp>
        <p:nvSpPr>
          <p:cNvPr id="5" name="Text 3"/>
          <p:cNvSpPr/>
          <p:nvPr/>
        </p:nvSpPr>
        <p:spPr>
          <a:xfrm>
            <a:off x="548640" y="2706624"/>
            <a:ext cx="2766060" cy="256032"/>
          </a:xfrm>
          <a:prstGeom prst="rect">
            <a:avLst/>
          </a:prstGeom>
          <a:noFill/>
          <a:ln/>
        </p:spPr>
        <p:txBody>
          <a:bodyPr wrap="square" lIns="0" tIns="0" rIns="0" bIns="0" rtlCol="0" anchor="ctr"/>
          <a:lstStyle/>
          <a:p>
            <a:pPr algn="ctr" indent="0" marL="0">
              <a:buNone/>
            </a:pPr>
            <a:r>
              <a:rPr lang="en-US" sz="1050" b="1" dirty="0">
                <a:solidFill>
                  <a:srgbClr val="0B2A4A"/>
                </a:solidFill>
                <a:latin typeface="Calibri" pitchFamily="34" charset="0"/>
                <a:ea typeface="Calibri" pitchFamily="34" charset="-122"/>
                <a:cs typeface="Calibri" pitchFamily="34" charset="-120"/>
              </a:rPr>
              <a:t>Premium</a:t>
            </a:r>
            <a:endParaRPr lang="en-US" sz="1050" dirty="0"/>
          </a:p>
        </p:txBody>
      </p:sp>
      <p:sp>
        <p:nvSpPr>
          <p:cNvPr id="6" name="Shape 4"/>
          <p:cNvSpPr/>
          <p:nvPr/>
        </p:nvSpPr>
        <p:spPr>
          <a:xfrm>
            <a:off x="3314700" y="2194560"/>
            <a:ext cx="2766060" cy="457200"/>
          </a:xfrm>
          <a:prstGeom prst="rect">
            <a:avLst/>
          </a:prstGeom>
          <a:solidFill>
            <a:srgbClr val="F2901E"/>
          </a:solidFill>
          <a:ln w="19050">
            <a:solidFill>
              <a:srgbClr val="FFFFFF"/>
            </a:solidFill>
            <a:prstDash val="solid"/>
          </a:ln>
        </p:spPr>
      </p:sp>
      <p:sp>
        <p:nvSpPr>
          <p:cNvPr id="7" name="Text 5"/>
          <p:cNvSpPr/>
          <p:nvPr/>
        </p:nvSpPr>
        <p:spPr>
          <a:xfrm>
            <a:off x="3314700" y="2706624"/>
            <a:ext cx="2766060" cy="256032"/>
          </a:xfrm>
          <a:prstGeom prst="rect">
            <a:avLst/>
          </a:prstGeom>
          <a:noFill/>
          <a:ln/>
        </p:spPr>
        <p:txBody>
          <a:bodyPr wrap="square" lIns="0" tIns="0" rIns="0" bIns="0" rtlCol="0" anchor="ctr"/>
          <a:lstStyle/>
          <a:p>
            <a:pPr algn="ctr" indent="0" marL="0">
              <a:buNone/>
            </a:pPr>
            <a:r>
              <a:rPr lang="en-US" sz="1050" b="1" dirty="0">
                <a:solidFill>
                  <a:srgbClr val="0B2A4A"/>
                </a:solidFill>
                <a:latin typeface="Calibri" pitchFamily="34" charset="0"/>
                <a:ea typeface="Calibri" pitchFamily="34" charset="-122"/>
                <a:cs typeface="Calibri" pitchFamily="34" charset="-120"/>
              </a:rPr>
              <a:t>Mid-Premium</a:t>
            </a:r>
            <a:endParaRPr lang="en-US" sz="1050" dirty="0"/>
          </a:p>
        </p:txBody>
      </p:sp>
      <p:sp>
        <p:nvSpPr>
          <p:cNvPr id="8" name="Shape 6"/>
          <p:cNvSpPr/>
          <p:nvPr/>
        </p:nvSpPr>
        <p:spPr>
          <a:xfrm>
            <a:off x="6080760" y="2194560"/>
            <a:ext cx="2766060" cy="457200"/>
          </a:xfrm>
          <a:prstGeom prst="rect">
            <a:avLst/>
          </a:prstGeom>
          <a:solidFill>
            <a:srgbClr val="1D8FD1"/>
          </a:solidFill>
          <a:ln w="19050">
            <a:solidFill>
              <a:srgbClr val="FFFFFF"/>
            </a:solidFill>
            <a:prstDash val="solid"/>
          </a:ln>
        </p:spPr>
      </p:sp>
      <p:sp>
        <p:nvSpPr>
          <p:cNvPr id="9" name="Text 7"/>
          <p:cNvSpPr/>
          <p:nvPr/>
        </p:nvSpPr>
        <p:spPr>
          <a:xfrm>
            <a:off x="6080760" y="2706624"/>
            <a:ext cx="2766060" cy="256032"/>
          </a:xfrm>
          <a:prstGeom prst="rect">
            <a:avLst/>
          </a:prstGeom>
          <a:noFill/>
          <a:ln/>
        </p:spPr>
        <p:txBody>
          <a:bodyPr wrap="square" lIns="0" tIns="0" rIns="0" bIns="0" rtlCol="0" anchor="ctr"/>
          <a:lstStyle/>
          <a:p>
            <a:pPr algn="ctr" indent="0" marL="0">
              <a:buNone/>
            </a:pPr>
            <a:r>
              <a:rPr lang="en-US" sz="1050" b="1" dirty="0">
                <a:solidFill>
                  <a:srgbClr val="0B2A4A"/>
                </a:solidFill>
                <a:latin typeface="Calibri" pitchFamily="34" charset="0"/>
                <a:ea typeface="Calibri" pitchFamily="34" charset="-122"/>
                <a:cs typeface="Calibri" pitchFamily="34" charset="-120"/>
              </a:rPr>
              <a:t>Competitive</a:t>
            </a:r>
            <a:endParaRPr lang="en-US" sz="1050" dirty="0"/>
          </a:p>
        </p:txBody>
      </p:sp>
      <p:sp>
        <p:nvSpPr>
          <p:cNvPr id="10" name="Shape 8"/>
          <p:cNvSpPr/>
          <p:nvPr/>
        </p:nvSpPr>
        <p:spPr>
          <a:xfrm>
            <a:off x="8846820" y="2194560"/>
            <a:ext cx="2766060" cy="457200"/>
          </a:xfrm>
          <a:prstGeom prst="rect">
            <a:avLst/>
          </a:prstGeom>
          <a:solidFill>
            <a:srgbClr val="0B2A4A"/>
          </a:solidFill>
          <a:ln w="19050">
            <a:solidFill>
              <a:srgbClr val="FFFFFF"/>
            </a:solidFill>
            <a:prstDash val="solid"/>
          </a:ln>
        </p:spPr>
      </p:sp>
      <p:sp>
        <p:nvSpPr>
          <p:cNvPr id="11" name="Text 9"/>
          <p:cNvSpPr/>
          <p:nvPr/>
        </p:nvSpPr>
        <p:spPr>
          <a:xfrm>
            <a:off x="8846820" y="2706624"/>
            <a:ext cx="2766060" cy="256032"/>
          </a:xfrm>
          <a:prstGeom prst="rect">
            <a:avLst/>
          </a:prstGeom>
          <a:noFill/>
          <a:ln/>
        </p:spPr>
        <p:txBody>
          <a:bodyPr wrap="square" lIns="0" tIns="0" rIns="0" bIns="0" rtlCol="0" anchor="ctr"/>
          <a:lstStyle/>
          <a:p>
            <a:pPr algn="ctr" indent="0" marL="0">
              <a:buNone/>
            </a:pPr>
            <a:r>
              <a:rPr lang="en-US" sz="1050" b="1" dirty="0">
                <a:solidFill>
                  <a:srgbClr val="0B2A4A"/>
                </a:solidFill>
                <a:latin typeface="Calibri" pitchFamily="34" charset="0"/>
                <a:ea typeface="Calibri" pitchFamily="34" charset="-122"/>
                <a:cs typeface="Calibri" pitchFamily="34" charset="-120"/>
              </a:rPr>
              <a:t>Aggressive</a:t>
            </a:r>
            <a:endParaRPr lang="en-US" sz="1050" dirty="0"/>
          </a:p>
        </p:txBody>
      </p:sp>
      <p:sp>
        <p:nvSpPr>
          <p:cNvPr id="12" name="Shape 10"/>
          <p:cNvSpPr/>
          <p:nvPr/>
        </p:nvSpPr>
        <p:spPr>
          <a:xfrm>
            <a:off x="1931670" y="2157984"/>
            <a:ext cx="0" cy="36576"/>
          </a:xfrm>
          <a:prstGeom prst="line">
            <a:avLst/>
          </a:prstGeom>
          <a:noFill/>
          <a:ln w="12700">
            <a:solidFill>
              <a:srgbClr val="E3E7EC"/>
            </a:solidFill>
            <a:prstDash val="dash"/>
          </a:ln>
        </p:spPr>
      </p:sp>
      <p:sp>
        <p:nvSpPr>
          <p:cNvPr id="13" name="Shape 11"/>
          <p:cNvSpPr/>
          <p:nvPr/>
        </p:nvSpPr>
        <p:spPr>
          <a:xfrm>
            <a:off x="1849374" y="1993392"/>
            <a:ext cx="164592" cy="164592"/>
          </a:xfrm>
          <a:prstGeom prst="ellipse">
            <a:avLst/>
          </a:prstGeom>
          <a:solidFill>
            <a:srgbClr val="FFFFFF"/>
          </a:solidFill>
          <a:ln w="19050">
            <a:solidFill>
              <a:srgbClr val="0B2A4A"/>
            </a:solidFill>
            <a:prstDash val="solid"/>
          </a:ln>
        </p:spPr>
      </p:sp>
      <p:sp>
        <p:nvSpPr>
          <p:cNvPr id="14" name="Text 12"/>
          <p:cNvSpPr/>
          <p:nvPr/>
        </p:nvSpPr>
        <p:spPr>
          <a:xfrm>
            <a:off x="1245870" y="1728216"/>
            <a:ext cx="1371600" cy="237744"/>
          </a:xfrm>
          <a:prstGeom prst="rect">
            <a:avLst/>
          </a:prstGeom>
          <a:noFill/>
          <a:ln/>
        </p:spPr>
        <p:txBody>
          <a:bodyPr wrap="square" lIns="0" tIns="0" rIns="0" bIns="0" rtlCol="0" anchor="ctr"/>
          <a:lstStyle/>
          <a:p>
            <a:pPr algn="ctr" indent="0" marL="0">
              <a:buNone/>
            </a:pPr>
            <a:r>
              <a:rPr lang="en-US" sz="900" dirty="0">
                <a:solidFill>
                  <a:srgbClr val="0B2A4A"/>
                </a:solidFill>
                <a:latin typeface="Calibri" pitchFamily="34" charset="0"/>
                <a:ea typeface="Calibri" pitchFamily="34" charset="-122"/>
                <a:cs typeface="Calibri" pitchFamily="34" charset="-120"/>
              </a:rPr>
              <a:t>DHL Supply Chain</a:t>
            </a:r>
            <a:endParaRPr lang="en-US" sz="900" dirty="0"/>
          </a:p>
        </p:txBody>
      </p:sp>
      <p:sp>
        <p:nvSpPr>
          <p:cNvPr id="15" name="Shape 13"/>
          <p:cNvSpPr/>
          <p:nvPr/>
        </p:nvSpPr>
        <p:spPr>
          <a:xfrm>
            <a:off x="4697730" y="1792224"/>
            <a:ext cx="0" cy="402336"/>
          </a:xfrm>
          <a:prstGeom prst="line">
            <a:avLst/>
          </a:prstGeom>
          <a:noFill/>
          <a:ln w="12700">
            <a:solidFill>
              <a:srgbClr val="E3E7EC"/>
            </a:solidFill>
            <a:prstDash val="dash"/>
          </a:ln>
        </p:spPr>
      </p:sp>
      <p:sp>
        <p:nvSpPr>
          <p:cNvPr id="16" name="Shape 14"/>
          <p:cNvSpPr/>
          <p:nvPr/>
        </p:nvSpPr>
        <p:spPr>
          <a:xfrm>
            <a:off x="4615434" y="1627632"/>
            <a:ext cx="164592" cy="164592"/>
          </a:xfrm>
          <a:prstGeom prst="ellipse">
            <a:avLst/>
          </a:prstGeom>
          <a:solidFill>
            <a:srgbClr val="FFFFFF"/>
          </a:solidFill>
          <a:ln w="19050">
            <a:solidFill>
              <a:srgbClr val="0B2A4A"/>
            </a:solidFill>
            <a:prstDash val="solid"/>
          </a:ln>
        </p:spPr>
      </p:sp>
      <p:sp>
        <p:nvSpPr>
          <p:cNvPr id="17" name="Text 15"/>
          <p:cNvSpPr/>
          <p:nvPr/>
        </p:nvSpPr>
        <p:spPr>
          <a:xfrm>
            <a:off x="4011930" y="1362456"/>
            <a:ext cx="1371600" cy="237744"/>
          </a:xfrm>
          <a:prstGeom prst="rect">
            <a:avLst/>
          </a:prstGeom>
          <a:noFill/>
          <a:ln/>
        </p:spPr>
        <p:txBody>
          <a:bodyPr wrap="square" lIns="0" tIns="0" rIns="0" bIns="0" rtlCol="0" anchor="ctr"/>
          <a:lstStyle/>
          <a:p>
            <a:pPr algn="ctr" indent="0" marL="0">
              <a:buNone/>
            </a:pPr>
            <a:r>
              <a:rPr lang="en-US" sz="900" dirty="0">
                <a:solidFill>
                  <a:srgbClr val="0B2A4A"/>
                </a:solidFill>
                <a:latin typeface="Calibri" pitchFamily="34" charset="0"/>
                <a:ea typeface="Calibri" pitchFamily="34" charset="-122"/>
                <a:cs typeface="Calibri" pitchFamily="34" charset="-120"/>
              </a:rPr>
              <a:t>TVS SCS</a:t>
            </a:r>
            <a:endParaRPr lang="en-US" sz="900" dirty="0"/>
          </a:p>
        </p:txBody>
      </p:sp>
      <p:sp>
        <p:nvSpPr>
          <p:cNvPr id="18" name="Shape 16"/>
          <p:cNvSpPr/>
          <p:nvPr/>
        </p:nvSpPr>
        <p:spPr>
          <a:xfrm>
            <a:off x="5665851" y="2157984"/>
            <a:ext cx="0" cy="36576"/>
          </a:xfrm>
          <a:prstGeom prst="line">
            <a:avLst/>
          </a:prstGeom>
          <a:noFill/>
          <a:ln w="12700">
            <a:solidFill>
              <a:srgbClr val="E3E7EC"/>
            </a:solidFill>
            <a:prstDash val="dash"/>
          </a:ln>
        </p:spPr>
      </p:sp>
      <p:sp>
        <p:nvSpPr>
          <p:cNvPr id="19" name="Shape 17"/>
          <p:cNvSpPr/>
          <p:nvPr/>
        </p:nvSpPr>
        <p:spPr>
          <a:xfrm>
            <a:off x="5583555" y="1993392"/>
            <a:ext cx="164592" cy="164592"/>
          </a:xfrm>
          <a:prstGeom prst="ellipse">
            <a:avLst/>
          </a:prstGeom>
          <a:solidFill>
            <a:srgbClr val="FFFFFF"/>
          </a:solidFill>
          <a:ln w="19050">
            <a:solidFill>
              <a:srgbClr val="0B2A4A"/>
            </a:solidFill>
            <a:prstDash val="solid"/>
          </a:ln>
        </p:spPr>
      </p:sp>
      <p:sp>
        <p:nvSpPr>
          <p:cNvPr id="20" name="Text 18"/>
          <p:cNvSpPr/>
          <p:nvPr/>
        </p:nvSpPr>
        <p:spPr>
          <a:xfrm>
            <a:off x="4980051" y="1728216"/>
            <a:ext cx="1371600" cy="237744"/>
          </a:xfrm>
          <a:prstGeom prst="rect">
            <a:avLst/>
          </a:prstGeom>
          <a:noFill/>
          <a:ln/>
        </p:spPr>
        <p:txBody>
          <a:bodyPr wrap="square" lIns="0" tIns="0" rIns="0" bIns="0" rtlCol="0" anchor="ctr"/>
          <a:lstStyle/>
          <a:p>
            <a:pPr algn="ctr" indent="0" marL="0">
              <a:buNone/>
            </a:pPr>
            <a:r>
              <a:rPr lang="en-US" sz="900" dirty="0">
                <a:solidFill>
                  <a:srgbClr val="0B2A4A"/>
                </a:solidFill>
                <a:latin typeface="Calibri" pitchFamily="34" charset="0"/>
                <a:ea typeface="Calibri" pitchFamily="34" charset="-122"/>
                <a:cs typeface="Calibri" pitchFamily="34" charset="-120"/>
              </a:rPr>
              <a:t>Mahindra Log.</a:t>
            </a:r>
            <a:endParaRPr lang="en-US" sz="900" dirty="0"/>
          </a:p>
        </p:txBody>
      </p:sp>
      <p:sp>
        <p:nvSpPr>
          <p:cNvPr id="21" name="Shape 19"/>
          <p:cNvSpPr/>
          <p:nvPr/>
        </p:nvSpPr>
        <p:spPr>
          <a:xfrm>
            <a:off x="7048881" y="1426464"/>
            <a:ext cx="0" cy="768096"/>
          </a:xfrm>
          <a:prstGeom prst="line">
            <a:avLst/>
          </a:prstGeom>
          <a:noFill/>
          <a:ln w="12700">
            <a:solidFill>
              <a:srgbClr val="E3E7EC"/>
            </a:solidFill>
            <a:prstDash val="dash"/>
          </a:ln>
        </p:spPr>
      </p:sp>
      <p:sp>
        <p:nvSpPr>
          <p:cNvPr id="22" name="Shape 20"/>
          <p:cNvSpPr/>
          <p:nvPr/>
        </p:nvSpPr>
        <p:spPr>
          <a:xfrm>
            <a:off x="6966585" y="1261872"/>
            <a:ext cx="164592" cy="164592"/>
          </a:xfrm>
          <a:prstGeom prst="ellipse">
            <a:avLst/>
          </a:prstGeom>
          <a:solidFill>
            <a:srgbClr val="F2901E"/>
          </a:solidFill>
          <a:ln w="19050">
            <a:solidFill>
              <a:srgbClr val="0B2A4A"/>
            </a:solidFill>
            <a:prstDash val="solid"/>
          </a:ln>
        </p:spPr>
      </p:sp>
      <p:sp>
        <p:nvSpPr>
          <p:cNvPr id="23" name="Text 21"/>
          <p:cNvSpPr/>
          <p:nvPr/>
        </p:nvSpPr>
        <p:spPr>
          <a:xfrm>
            <a:off x="6363081" y="996696"/>
            <a:ext cx="1371600" cy="237744"/>
          </a:xfrm>
          <a:prstGeom prst="rect">
            <a:avLst/>
          </a:prstGeom>
          <a:noFill/>
          <a:ln/>
        </p:spPr>
        <p:txBody>
          <a:bodyPr wrap="square" lIns="0" tIns="0" rIns="0" bIns="0" rtlCol="0" anchor="ctr"/>
          <a:lstStyle/>
          <a:p>
            <a:pPr algn="ctr" indent="0" marL="0">
              <a:buNone/>
            </a:pPr>
            <a:r>
              <a:rPr lang="en-US" sz="900" b="1" dirty="0">
                <a:solidFill>
                  <a:srgbClr val="0B2A4A"/>
                </a:solidFill>
                <a:latin typeface="Calibri" pitchFamily="34" charset="0"/>
                <a:ea typeface="Calibri" pitchFamily="34" charset="-122"/>
                <a:cs typeface="Calibri" pitchFamily="34" charset="-120"/>
              </a:rPr>
              <a:t>CJ Darcl</a:t>
            </a:r>
            <a:endParaRPr lang="en-US" sz="900" dirty="0"/>
          </a:p>
        </p:txBody>
      </p:sp>
      <p:sp>
        <p:nvSpPr>
          <p:cNvPr id="24" name="Shape 22"/>
          <p:cNvSpPr/>
          <p:nvPr/>
        </p:nvSpPr>
        <p:spPr>
          <a:xfrm>
            <a:off x="7795717" y="1792224"/>
            <a:ext cx="0" cy="402336"/>
          </a:xfrm>
          <a:prstGeom prst="line">
            <a:avLst/>
          </a:prstGeom>
          <a:noFill/>
          <a:ln w="12700">
            <a:solidFill>
              <a:srgbClr val="E3E7EC"/>
            </a:solidFill>
            <a:prstDash val="dash"/>
          </a:ln>
        </p:spPr>
      </p:sp>
      <p:sp>
        <p:nvSpPr>
          <p:cNvPr id="25" name="Shape 23"/>
          <p:cNvSpPr/>
          <p:nvPr/>
        </p:nvSpPr>
        <p:spPr>
          <a:xfrm>
            <a:off x="7713421" y="1627632"/>
            <a:ext cx="164592" cy="164592"/>
          </a:xfrm>
          <a:prstGeom prst="ellipse">
            <a:avLst/>
          </a:prstGeom>
          <a:solidFill>
            <a:srgbClr val="FFFFFF"/>
          </a:solidFill>
          <a:ln w="19050">
            <a:solidFill>
              <a:srgbClr val="0B2A4A"/>
            </a:solidFill>
            <a:prstDash val="solid"/>
          </a:ln>
        </p:spPr>
      </p:sp>
      <p:sp>
        <p:nvSpPr>
          <p:cNvPr id="26" name="Text 24"/>
          <p:cNvSpPr/>
          <p:nvPr/>
        </p:nvSpPr>
        <p:spPr>
          <a:xfrm>
            <a:off x="7109917" y="1362456"/>
            <a:ext cx="1371600" cy="237744"/>
          </a:xfrm>
          <a:prstGeom prst="rect">
            <a:avLst/>
          </a:prstGeom>
          <a:noFill/>
          <a:ln/>
        </p:spPr>
        <p:txBody>
          <a:bodyPr wrap="square" lIns="0" tIns="0" rIns="0" bIns="0" rtlCol="0" anchor="ctr"/>
          <a:lstStyle/>
          <a:p>
            <a:pPr algn="ctr" indent="0" marL="0">
              <a:buNone/>
            </a:pPr>
            <a:r>
              <a:rPr lang="en-US" sz="900" dirty="0">
                <a:solidFill>
                  <a:srgbClr val="0B2A4A"/>
                </a:solidFill>
                <a:latin typeface="Calibri" pitchFamily="34" charset="0"/>
                <a:ea typeface="Calibri" pitchFamily="34" charset="-122"/>
                <a:cs typeface="Calibri" pitchFamily="34" charset="-120"/>
              </a:rPr>
              <a:t>TCI Freight</a:t>
            </a:r>
            <a:endParaRPr lang="en-US" sz="900" dirty="0"/>
          </a:p>
        </p:txBody>
      </p:sp>
      <p:sp>
        <p:nvSpPr>
          <p:cNvPr id="27" name="Shape 25"/>
          <p:cNvSpPr/>
          <p:nvPr/>
        </p:nvSpPr>
        <p:spPr>
          <a:xfrm>
            <a:off x="8514893" y="2157984"/>
            <a:ext cx="0" cy="36576"/>
          </a:xfrm>
          <a:prstGeom prst="line">
            <a:avLst/>
          </a:prstGeom>
          <a:noFill/>
          <a:ln w="12700">
            <a:solidFill>
              <a:srgbClr val="E3E7EC"/>
            </a:solidFill>
            <a:prstDash val="dash"/>
          </a:ln>
        </p:spPr>
      </p:sp>
      <p:sp>
        <p:nvSpPr>
          <p:cNvPr id="28" name="Shape 26"/>
          <p:cNvSpPr/>
          <p:nvPr/>
        </p:nvSpPr>
        <p:spPr>
          <a:xfrm>
            <a:off x="8432597" y="1993392"/>
            <a:ext cx="164592" cy="164592"/>
          </a:xfrm>
          <a:prstGeom prst="ellipse">
            <a:avLst/>
          </a:prstGeom>
          <a:solidFill>
            <a:srgbClr val="FFFFFF"/>
          </a:solidFill>
          <a:ln w="19050">
            <a:solidFill>
              <a:srgbClr val="0B2A4A"/>
            </a:solidFill>
            <a:prstDash val="solid"/>
          </a:ln>
        </p:spPr>
      </p:sp>
      <p:sp>
        <p:nvSpPr>
          <p:cNvPr id="29" name="Text 27"/>
          <p:cNvSpPr/>
          <p:nvPr/>
        </p:nvSpPr>
        <p:spPr>
          <a:xfrm>
            <a:off x="7829093" y="1728216"/>
            <a:ext cx="1371600" cy="237744"/>
          </a:xfrm>
          <a:prstGeom prst="rect">
            <a:avLst/>
          </a:prstGeom>
          <a:noFill/>
          <a:ln/>
        </p:spPr>
        <p:txBody>
          <a:bodyPr wrap="square" lIns="0" tIns="0" rIns="0" bIns="0" rtlCol="0" anchor="ctr"/>
          <a:lstStyle/>
          <a:p>
            <a:pPr algn="ctr" indent="0" marL="0">
              <a:buNone/>
            </a:pPr>
            <a:r>
              <a:rPr lang="en-US" sz="900" dirty="0">
                <a:solidFill>
                  <a:srgbClr val="0B2A4A"/>
                </a:solidFill>
                <a:latin typeface="Calibri" pitchFamily="34" charset="0"/>
                <a:ea typeface="Calibri" pitchFamily="34" charset="-122"/>
                <a:cs typeface="Calibri" pitchFamily="34" charset="-120"/>
              </a:rPr>
              <a:t>Safexpress</a:t>
            </a:r>
            <a:endParaRPr lang="en-US" sz="900" dirty="0"/>
          </a:p>
        </p:txBody>
      </p:sp>
      <p:sp>
        <p:nvSpPr>
          <p:cNvPr id="30" name="Shape 28"/>
          <p:cNvSpPr/>
          <p:nvPr/>
        </p:nvSpPr>
        <p:spPr>
          <a:xfrm>
            <a:off x="548640" y="3246120"/>
            <a:ext cx="2688336" cy="2148840"/>
          </a:xfrm>
          <a:prstGeom prst="roundRect">
            <a:avLst>
              <a:gd name="adj" fmla="val 2979"/>
            </a:avLst>
          </a:prstGeom>
          <a:solidFill>
            <a:srgbClr val="F6F8FA"/>
          </a:solidFill>
          <a:ln/>
          <a:effectLst>
            <a:outerShdw sx="100000" sy="100000" kx="0" ky="0" algn="bl" rotWithShape="0" blurRad="101600" dist="25400" dir="5400000">
              <a:srgbClr val="1A2B3C">
                <a:alpha val="10000"/>
              </a:srgbClr>
            </a:outerShdw>
          </a:effectLst>
        </p:spPr>
      </p:sp>
      <p:sp>
        <p:nvSpPr>
          <p:cNvPr id="31" name="Shape 29"/>
          <p:cNvSpPr/>
          <p:nvPr/>
        </p:nvSpPr>
        <p:spPr>
          <a:xfrm>
            <a:off x="731520" y="3429000"/>
            <a:ext cx="384048" cy="384048"/>
          </a:xfrm>
          <a:prstGeom prst="ellipse">
            <a:avLst/>
          </a:prstGeom>
          <a:solidFill>
            <a:srgbClr val="1D8FD1"/>
          </a:solidFill>
          <a:ln/>
        </p:spPr>
      </p:sp>
      <p:pic>
        <p:nvPicPr>
          <p:cNvPr id="32" name="Image 0" descr="preencoded.png">    </p:cNvPr>
          <p:cNvPicPr>
            <a:picLocks noChangeAspect="1"/>
          </p:cNvPicPr>
          <p:nvPr/>
        </p:nvPicPr>
        <p:blipFill>
          <a:blip r:embed="rId1"/>
          <a:stretch>
            <a:fillRect/>
          </a:stretch>
        </p:blipFill>
        <p:spPr>
          <a:xfrm>
            <a:off x="822960" y="3520440"/>
            <a:ext cx="201168" cy="201168"/>
          </a:xfrm>
          <a:prstGeom prst="rect">
            <a:avLst/>
          </a:prstGeom>
        </p:spPr>
      </p:pic>
      <p:sp>
        <p:nvSpPr>
          <p:cNvPr id="33" name="Text 30"/>
          <p:cNvSpPr/>
          <p:nvPr/>
        </p:nvSpPr>
        <p:spPr>
          <a:xfrm>
            <a:off x="731520" y="3867912"/>
            <a:ext cx="2322576" cy="310896"/>
          </a:xfrm>
          <a:prstGeom prst="rect">
            <a:avLst/>
          </a:prstGeom>
          <a:noFill/>
          <a:ln/>
        </p:spPr>
        <p:txBody>
          <a:bodyPr wrap="square" lIns="0" tIns="0" rIns="0" bIns="0" rtlCol="0" anchor="ctr"/>
          <a:lstStyle/>
          <a:p>
            <a:pPr indent="0" marL="0">
              <a:buNone/>
            </a:pPr>
            <a:r>
              <a:rPr lang="en-US" sz="1250" b="1" dirty="0">
                <a:solidFill>
                  <a:srgbClr val="0B2A4A"/>
                </a:solidFill>
                <a:latin typeface="Calibri" pitchFamily="34" charset="0"/>
                <a:ea typeface="Calibri" pitchFamily="34" charset="-122"/>
                <a:cs typeface="Calibri" pitchFamily="34" charset="-120"/>
              </a:rPr>
              <a:t>Spot Market</a:t>
            </a:r>
            <a:endParaRPr lang="en-US" sz="1250" dirty="0"/>
          </a:p>
        </p:txBody>
      </p:sp>
      <p:sp>
        <p:nvSpPr>
          <p:cNvPr id="34" name="Text 31"/>
          <p:cNvSpPr/>
          <p:nvPr/>
        </p:nvSpPr>
        <p:spPr>
          <a:xfrm>
            <a:off x="731520" y="4206240"/>
            <a:ext cx="2322576" cy="1097280"/>
          </a:xfrm>
          <a:prstGeom prst="rect">
            <a:avLst/>
          </a:prstGeom>
          <a:noFill/>
          <a:ln/>
        </p:spPr>
        <p:txBody>
          <a:bodyPr wrap="square" lIns="0" tIns="0" rIns="0" bIns="0" rtlCol="0" anchor="ctr"/>
          <a:lstStyle/>
          <a:p>
            <a:pPr indent="0" marL="0">
              <a:lnSpc>
                <a:spcPts val="1200"/>
              </a:lnSpc>
              <a:buNone/>
            </a:pPr>
            <a:r>
              <a:rPr lang="en-US" sz="900" dirty="0">
                <a:solidFill>
                  <a:srgbClr val="6B7684"/>
                </a:solidFill>
                <a:latin typeface="Calibri" pitchFamily="34" charset="0"/>
                <a:ea typeface="Calibri" pitchFamily="34" charset="-122"/>
                <a:cs typeface="Calibri" pitchFamily="34" charset="-120"/>
              </a:rPr>
              <a:t>Transactional, load-board driven pricing with high rate volatility; typically used by unorganized fleet owners and aggregators.</a:t>
            </a:r>
            <a:endParaRPr lang="en-US" sz="900" dirty="0"/>
          </a:p>
        </p:txBody>
      </p:sp>
      <p:sp>
        <p:nvSpPr>
          <p:cNvPr id="35" name="Shape 32"/>
          <p:cNvSpPr/>
          <p:nvPr/>
        </p:nvSpPr>
        <p:spPr>
          <a:xfrm>
            <a:off x="3374136" y="3246120"/>
            <a:ext cx="2688336" cy="2148840"/>
          </a:xfrm>
          <a:prstGeom prst="roundRect">
            <a:avLst>
              <a:gd name="adj" fmla="val 2979"/>
            </a:avLst>
          </a:prstGeom>
          <a:solidFill>
            <a:srgbClr val="F6F8FA"/>
          </a:solidFill>
          <a:ln/>
          <a:effectLst>
            <a:outerShdw sx="100000" sy="100000" kx="0" ky="0" algn="bl" rotWithShape="0" blurRad="101600" dist="25400" dir="5400000">
              <a:srgbClr val="1A2B3C">
                <a:alpha val="10000"/>
              </a:srgbClr>
            </a:outerShdw>
          </a:effectLst>
        </p:spPr>
      </p:sp>
      <p:sp>
        <p:nvSpPr>
          <p:cNvPr id="36" name="Shape 33"/>
          <p:cNvSpPr/>
          <p:nvPr/>
        </p:nvSpPr>
        <p:spPr>
          <a:xfrm>
            <a:off x="3557016" y="3429000"/>
            <a:ext cx="384048" cy="384048"/>
          </a:xfrm>
          <a:prstGeom prst="ellipse">
            <a:avLst/>
          </a:prstGeom>
          <a:solidFill>
            <a:srgbClr val="1D8FD1"/>
          </a:solidFill>
          <a:ln/>
        </p:spPr>
      </p:sp>
      <p:pic>
        <p:nvPicPr>
          <p:cNvPr id="37" name="Image 1" descr="preencoded.png">    </p:cNvPr>
          <p:cNvPicPr>
            <a:picLocks noChangeAspect="1"/>
          </p:cNvPicPr>
          <p:nvPr/>
        </p:nvPicPr>
        <p:blipFill>
          <a:blip r:embed="rId2"/>
          <a:stretch>
            <a:fillRect/>
          </a:stretch>
        </p:blipFill>
        <p:spPr>
          <a:xfrm>
            <a:off x="3648456" y="3520440"/>
            <a:ext cx="201168" cy="201168"/>
          </a:xfrm>
          <a:prstGeom prst="rect">
            <a:avLst/>
          </a:prstGeom>
        </p:spPr>
      </p:pic>
      <p:sp>
        <p:nvSpPr>
          <p:cNvPr id="38" name="Text 34"/>
          <p:cNvSpPr/>
          <p:nvPr/>
        </p:nvSpPr>
        <p:spPr>
          <a:xfrm>
            <a:off x="3557016" y="3867912"/>
            <a:ext cx="2322576" cy="310896"/>
          </a:xfrm>
          <a:prstGeom prst="rect">
            <a:avLst/>
          </a:prstGeom>
          <a:noFill/>
          <a:ln/>
        </p:spPr>
        <p:txBody>
          <a:bodyPr wrap="square" lIns="0" tIns="0" rIns="0" bIns="0" rtlCol="0" anchor="ctr"/>
          <a:lstStyle/>
          <a:p>
            <a:pPr indent="0" marL="0">
              <a:buNone/>
            </a:pPr>
            <a:r>
              <a:rPr lang="en-US" sz="1250" b="1" dirty="0">
                <a:solidFill>
                  <a:srgbClr val="0B2A4A"/>
                </a:solidFill>
                <a:latin typeface="Calibri" pitchFamily="34" charset="0"/>
                <a:ea typeface="Calibri" pitchFamily="34" charset="-122"/>
                <a:cs typeface="Calibri" pitchFamily="34" charset="-120"/>
              </a:rPr>
              <a:t>Contract Logistics</a:t>
            </a:r>
            <a:endParaRPr lang="en-US" sz="1250" dirty="0"/>
          </a:p>
        </p:txBody>
      </p:sp>
      <p:sp>
        <p:nvSpPr>
          <p:cNvPr id="39" name="Text 35"/>
          <p:cNvSpPr/>
          <p:nvPr/>
        </p:nvSpPr>
        <p:spPr>
          <a:xfrm>
            <a:off x="3557016" y="4206240"/>
            <a:ext cx="2322576" cy="1097280"/>
          </a:xfrm>
          <a:prstGeom prst="rect">
            <a:avLst/>
          </a:prstGeom>
          <a:noFill/>
          <a:ln/>
        </p:spPr>
        <p:txBody>
          <a:bodyPr wrap="square" lIns="0" tIns="0" rIns="0" bIns="0" rtlCol="0" anchor="ctr"/>
          <a:lstStyle/>
          <a:p>
            <a:pPr indent="0" marL="0">
              <a:lnSpc>
                <a:spcPts val="1200"/>
              </a:lnSpc>
              <a:buNone/>
            </a:pPr>
            <a:r>
              <a:rPr lang="en-US" sz="900" dirty="0">
                <a:solidFill>
                  <a:srgbClr val="6B7684"/>
                </a:solidFill>
                <a:latin typeface="Calibri" pitchFamily="34" charset="0"/>
                <a:ea typeface="Calibri" pitchFamily="34" charset="-122"/>
                <a:cs typeface="Calibri" pitchFamily="34" charset="-120"/>
              </a:rPr>
              <a:t>Multi-year, volume-committed pricing tied to service-level agreements; core to Mahindra Logistics, TVS SCS and DHL.</a:t>
            </a:r>
            <a:endParaRPr lang="en-US" sz="900" dirty="0"/>
          </a:p>
        </p:txBody>
      </p:sp>
      <p:sp>
        <p:nvSpPr>
          <p:cNvPr id="40" name="Shape 36"/>
          <p:cNvSpPr/>
          <p:nvPr/>
        </p:nvSpPr>
        <p:spPr>
          <a:xfrm>
            <a:off x="6199632" y="3246120"/>
            <a:ext cx="2688336" cy="2148840"/>
          </a:xfrm>
          <a:prstGeom prst="roundRect">
            <a:avLst>
              <a:gd name="adj" fmla="val 2979"/>
            </a:avLst>
          </a:prstGeom>
          <a:solidFill>
            <a:srgbClr val="F6F8FA"/>
          </a:solidFill>
          <a:ln/>
          <a:effectLst>
            <a:outerShdw sx="100000" sy="100000" kx="0" ky="0" algn="bl" rotWithShape="0" blurRad="101600" dist="25400" dir="5400000">
              <a:srgbClr val="1A2B3C">
                <a:alpha val="10000"/>
              </a:srgbClr>
            </a:outerShdw>
          </a:effectLst>
        </p:spPr>
      </p:sp>
      <p:sp>
        <p:nvSpPr>
          <p:cNvPr id="41" name="Shape 37"/>
          <p:cNvSpPr/>
          <p:nvPr/>
        </p:nvSpPr>
        <p:spPr>
          <a:xfrm>
            <a:off x="6382512" y="3429000"/>
            <a:ext cx="384048" cy="384048"/>
          </a:xfrm>
          <a:prstGeom prst="ellipse">
            <a:avLst/>
          </a:prstGeom>
          <a:solidFill>
            <a:srgbClr val="1D8FD1"/>
          </a:solidFill>
          <a:ln/>
        </p:spPr>
      </p:sp>
      <p:pic>
        <p:nvPicPr>
          <p:cNvPr id="42" name="Image 2" descr="preencoded.png">    </p:cNvPr>
          <p:cNvPicPr>
            <a:picLocks noChangeAspect="1"/>
          </p:cNvPicPr>
          <p:nvPr/>
        </p:nvPicPr>
        <p:blipFill>
          <a:blip r:embed="rId3"/>
          <a:stretch>
            <a:fillRect/>
          </a:stretch>
        </p:blipFill>
        <p:spPr>
          <a:xfrm>
            <a:off x="6473952" y="3520440"/>
            <a:ext cx="201168" cy="201168"/>
          </a:xfrm>
          <a:prstGeom prst="rect">
            <a:avLst/>
          </a:prstGeom>
        </p:spPr>
      </p:pic>
      <p:sp>
        <p:nvSpPr>
          <p:cNvPr id="43" name="Text 38"/>
          <p:cNvSpPr/>
          <p:nvPr/>
        </p:nvSpPr>
        <p:spPr>
          <a:xfrm>
            <a:off x="6382512" y="3867912"/>
            <a:ext cx="2322576" cy="310896"/>
          </a:xfrm>
          <a:prstGeom prst="rect">
            <a:avLst/>
          </a:prstGeom>
          <a:noFill/>
          <a:ln/>
        </p:spPr>
        <p:txBody>
          <a:bodyPr wrap="square" lIns="0" tIns="0" rIns="0" bIns="0" rtlCol="0" anchor="ctr"/>
          <a:lstStyle/>
          <a:p>
            <a:pPr indent="0" marL="0">
              <a:buNone/>
            </a:pPr>
            <a:r>
              <a:rPr lang="en-US" sz="1250" b="1" dirty="0">
                <a:solidFill>
                  <a:srgbClr val="0B2A4A"/>
                </a:solidFill>
                <a:latin typeface="Calibri" pitchFamily="34" charset="0"/>
                <a:ea typeface="Calibri" pitchFamily="34" charset="-122"/>
                <a:cs typeface="Calibri" pitchFamily="34" charset="-120"/>
              </a:rPr>
              <a:t>Dedicated Fleet</a:t>
            </a:r>
            <a:endParaRPr lang="en-US" sz="1250" dirty="0"/>
          </a:p>
        </p:txBody>
      </p:sp>
      <p:sp>
        <p:nvSpPr>
          <p:cNvPr id="44" name="Text 39"/>
          <p:cNvSpPr/>
          <p:nvPr/>
        </p:nvSpPr>
        <p:spPr>
          <a:xfrm>
            <a:off x="6382512" y="4206240"/>
            <a:ext cx="2322576" cy="1097280"/>
          </a:xfrm>
          <a:prstGeom prst="rect">
            <a:avLst/>
          </a:prstGeom>
          <a:noFill/>
          <a:ln/>
        </p:spPr>
        <p:txBody>
          <a:bodyPr wrap="square" lIns="0" tIns="0" rIns="0" bIns="0" rtlCol="0" anchor="ctr"/>
          <a:lstStyle/>
          <a:p>
            <a:pPr indent="0" marL="0">
              <a:lnSpc>
                <a:spcPts val="1200"/>
              </a:lnSpc>
              <a:buNone/>
            </a:pPr>
            <a:r>
              <a:rPr lang="en-US" sz="900" dirty="0">
                <a:solidFill>
                  <a:srgbClr val="6B7684"/>
                </a:solidFill>
                <a:latin typeface="Calibri" pitchFamily="34" charset="0"/>
                <a:ea typeface="Calibri" pitchFamily="34" charset="-122"/>
                <a:cs typeface="Calibri" pitchFamily="34" charset="-120"/>
              </a:rPr>
              <a:t>Fixed-capacity pricing for guaranteed availability — CJ Darcl's core model for steel, cement and mining accounts.</a:t>
            </a:r>
            <a:endParaRPr lang="en-US" sz="900" dirty="0"/>
          </a:p>
        </p:txBody>
      </p:sp>
      <p:sp>
        <p:nvSpPr>
          <p:cNvPr id="45" name="Shape 40"/>
          <p:cNvSpPr/>
          <p:nvPr/>
        </p:nvSpPr>
        <p:spPr>
          <a:xfrm>
            <a:off x="9025128" y="3246120"/>
            <a:ext cx="2688336" cy="2148840"/>
          </a:xfrm>
          <a:prstGeom prst="roundRect">
            <a:avLst>
              <a:gd name="adj" fmla="val 2979"/>
            </a:avLst>
          </a:prstGeom>
          <a:solidFill>
            <a:srgbClr val="F6F8FA"/>
          </a:solidFill>
          <a:ln/>
          <a:effectLst>
            <a:outerShdw sx="100000" sy="100000" kx="0" ky="0" algn="bl" rotWithShape="0" blurRad="101600" dist="25400" dir="5400000">
              <a:srgbClr val="1A2B3C">
                <a:alpha val="10000"/>
              </a:srgbClr>
            </a:outerShdw>
          </a:effectLst>
        </p:spPr>
      </p:sp>
      <p:sp>
        <p:nvSpPr>
          <p:cNvPr id="46" name="Shape 41"/>
          <p:cNvSpPr/>
          <p:nvPr/>
        </p:nvSpPr>
        <p:spPr>
          <a:xfrm>
            <a:off x="9208008" y="3429000"/>
            <a:ext cx="384048" cy="384048"/>
          </a:xfrm>
          <a:prstGeom prst="ellipse">
            <a:avLst/>
          </a:prstGeom>
          <a:solidFill>
            <a:srgbClr val="1D8FD1"/>
          </a:solidFill>
          <a:ln/>
        </p:spPr>
      </p:sp>
      <p:pic>
        <p:nvPicPr>
          <p:cNvPr id="47" name="Image 3" descr="preencoded.png">    </p:cNvPr>
          <p:cNvPicPr>
            <a:picLocks noChangeAspect="1"/>
          </p:cNvPicPr>
          <p:nvPr/>
        </p:nvPicPr>
        <p:blipFill>
          <a:blip r:embed="rId4"/>
          <a:stretch>
            <a:fillRect/>
          </a:stretch>
        </p:blipFill>
        <p:spPr>
          <a:xfrm>
            <a:off x="9299448" y="3520440"/>
            <a:ext cx="201168" cy="201168"/>
          </a:xfrm>
          <a:prstGeom prst="rect">
            <a:avLst/>
          </a:prstGeom>
        </p:spPr>
      </p:pic>
      <p:sp>
        <p:nvSpPr>
          <p:cNvPr id="48" name="Text 42"/>
          <p:cNvSpPr/>
          <p:nvPr/>
        </p:nvSpPr>
        <p:spPr>
          <a:xfrm>
            <a:off x="9208008" y="3867912"/>
            <a:ext cx="2322576" cy="310896"/>
          </a:xfrm>
          <a:prstGeom prst="rect">
            <a:avLst/>
          </a:prstGeom>
          <a:noFill/>
          <a:ln/>
        </p:spPr>
        <p:txBody>
          <a:bodyPr wrap="square" lIns="0" tIns="0" rIns="0" bIns="0" rtlCol="0" anchor="ctr"/>
          <a:lstStyle/>
          <a:p>
            <a:pPr indent="0" marL="0">
              <a:buNone/>
            </a:pPr>
            <a:r>
              <a:rPr lang="en-US" sz="1250" b="1" dirty="0">
                <a:solidFill>
                  <a:srgbClr val="0B2A4A"/>
                </a:solidFill>
                <a:latin typeface="Calibri" pitchFamily="34" charset="0"/>
                <a:ea typeface="Calibri" pitchFamily="34" charset="-122"/>
                <a:cs typeface="Calibri" pitchFamily="34" charset="-120"/>
              </a:rPr>
              <a:t>Value-Added Services</a:t>
            </a:r>
            <a:endParaRPr lang="en-US" sz="1250" dirty="0"/>
          </a:p>
        </p:txBody>
      </p:sp>
      <p:sp>
        <p:nvSpPr>
          <p:cNvPr id="49" name="Text 43"/>
          <p:cNvSpPr/>
          <p:nvPr/>
        </p:nvSpPr>
        <p:spPr>
          <a:xfrm>
            <a:off x="9208008" y="4206240"/>
            <a:ext cx="2322576" cy="1097280"/>
          </a:xfrm>
          <a:prstGeom prst="rect">
            <a:avLst/>
          </a:prstGeom>
          <a:noFill/>
          <a:ln/>
        </p:spPr>
        <p:txBody>
          <a:bodyPr wrap="square" lIns="0" tIns="0" rIns="0" bIns="0" rtlCol="0" anchor="ctr"/>
          <a:lstStyle/>
          <a:p>
            <a:pPr indent="0" marL="0">
              <a:lnSpc>
                <a:spcPts val="1200"/>
              </a:lnSpc>
              <a:buNone/>
            </a:pPr>
            <a:r>
              <a:rPr lang="en-US" sz="900" dirty="0">
                <a:solidFill>
                  <a:srgbClr val="6B7684"/>
                </a:solidFill>
                <a:latin typeface="Calibri" pitchFamily="34" charset="0"/>
                <a:ea typeface="Calibri" pitchFamily="34" charset="-122"/>
                <a:cs typeface="Calibri" pitchFamily="34" charset="-120"/>
              </a:rPr>
              <a:t>Premium pricing for tracking, multimodal integration, and customized handling of specialized/ODC cargo.</a:t>
            </a:r>
            <a:endParaRPr lang="en-US" sz="900" dirty="0"/>
          </a:p>
        </p:txBody>
      </p:sp>
      <p:sp>
        <p:nvSpPr>
          <p:cNvPr id="50" name="Text 44"/>
          <p:cNvSpPr/>
          <p:nvPr/>
        </p:nvSpPr>
        <p:spPr>
          <a:xfrm>
            <a:off x="548640" y="6473952"/>
            <a:ext cx="9875520" cy="274320"/>
          </a:xfrm>
          <a:prstGeom prst="rect">
            <a:avLst/>
          </a:prstGeom>
          <a:noFill/>
          <a:ln/>
        </p:spPr>
        <p:txBody>
          <a:bodyPr wrap="square" lIns="0" tIns="0" rIns="0" bIns="0" rtlCol="0" anchor="ctr"/>
          <a:lstStyle/>
          <a:p>
            <a:pPr indent="0" marL="0">
              <a:buNone/>
            </a:pPr>
            <a:r>
              <a:rPr lang="en-US" sz="780" i="1" dirty="0">
                <a:solidFill>
                  <a:srgbClr val="6B7684"/>
                </a:solidFill>
                <a:latin typeface="Calibri" pitchFamily="34" charset="0"/>
                <a:ea typeface="Calibri" pitchFamily="34" charset="-122"/>
                <a:cs typeface="Calibri" pitchFamily="34" charset="-120"/>
              </a:rPr>
              <a:t>Source: CJ Darcl strategic analysis, based on qualitative assessment of publicly disclosed business models; not derived from published price data.</a:t>
            </a:r>
            <a:endParaRPr lang="en-US" sz="780" dirty="0"/>
          </a:p>
        </p:txBody>
      </p:sp>
      <p:sp>
        <p:nvSpPr>
          <p:cNvPr id="51" name="Text 45"/>
          <p:cNvSpPr/>
          <p:nvPr/>
        </p:nvSpPr>
        <p:spPr>
          <a:xfrm>
            <a:off x="11414455" y="6473952"/>
            <a:ext cx="45720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50" b="1" spc="200" kern="0" dirty="0">
                <a:solidFill>
                  <a:srgbClr val="1D8FD1"/>
                </a:solidFill>
                <a:latin typeface="Calibri" pitchFamily="34" charset="0"/>
                <a:ea typeface="Calibri" pitchFamily="34" charset="-122"/>
                <a:cs typeface="Calibri" pitchFamily="34" charset="-120"/>
              </a:rPr>
              <a:t>ASSESSMENT</a:t>
            </a:r>
            <a:endParaRPr lang="en-US" sz="1050" dirty="0"/>
          </a:p>
        </p:txBody>
      </p:sp>
      <p:sp>
        <p:nvSpPr>
          <p:cNvPr id="3" name="Text 1"/>
          <p:cNvSpPr/>
          <p:nvPr/>
        </p:nvSpPr>
        <p:spPr>
          <a:xfrm>
            <a:off x="548640" y="530352"/>
            <a:ext cx="10607040" cy="548640"/>
          </a:xfrm>
          <a:prstGeom prst="rect">
            <a:avLst/>
          </a:prstGeom>
          <a:noFill/>
          <a:ln/>
        </p:spPr>
        <p:txBody>
          <a:bodyPr wrap="square" lIns="0" tIns="0" rIns="0" bIns="0" rtlCol="0" anchor="ctr"/>
          <a:lstStyle/>
          <a:p>
            <a:pPr indent="0" marL="0">
              <a:buNone/>
            </a:pPr>
            <a:r>
              <a:rPr lang="en-US" sz="2400" b="1" dirty="0">
                <a:solidFill>
                  <a:srgbClr val="0B2A4A"/>
                </a:solidFill>
                <a:latin typeface="Cambria" pitchFamily="34" charset="0"/>
                <a:ea typeface="Cambria" pitchFamily="34" charset="-122"/>
                <a:cs typeface="Cambria" pitchFamily="34" charset="-120"/>
              </a:rPr>
              <a:t>Competitive Strengths &amp; Weaknesses</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828800"/>
                <a:gridCol w="4617720"/>
                <a:gridCol w="4617720"/>
              </a:tblGrid>
              <a:tr h="56692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Company</a:t>
                      </a:r>
                      <a:endParaRPr lang="en-US" sz="95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Strengths</a:t>
                      </a:r>
                      <a:endParaRPr lang="en-US" sz="95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solidFill>
                      <a:srgbClr val="0B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Weaknesses</a:t>
                      </a:r>
                      <a:endParaRPr lang="en-US" sz="95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solidFill>
                      <a:srgbClr val="0B2A4A"/>
                    </a:solidFill>
                  </a:tcPr>
                </a:tc>
              </a:tr>
              <a:tr h="566928">
                <a:tc>
                  <a:txBody>
                    <a:bodyPr/>
                    <a:lstStyle/>
                    <a:p>
                      <a:pPr indent="0" marL="0">
                        <a:buNone/>
                      </a:pPr>
                      <a:r>
                        <a:rPr lang="en-US" sz="900" b="1" dirty="0">
                          <a:solidFill>
                            <a:srgbClr val="1D8FD1"/>
                          </a:solidFill>
                          <a:latin typeface="Calibri" pitchFamily="34" charset="0"/>
                          <a:ea typeface="Calibri" pitchFamily="34" charset="-122"/>
                          <a:cs typeface="Calibri" pitchFamily="34" charset="-120"/>
                        </a:rPr>
                        <a:t>CJ Darcl</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900" dirty="0">
                          <a:solidFill>
                            <a:srgbClr val="3D4652"/>
                          </a:solidFill>
                          <a:latin typeface="Calibri" pitchFamily="34" charset="0"/>
                          <a:ea typeface="Calibri" pitchFamily="34" charset="-122"/>
                          <a:cs typeface="Calibri" pitchFamily="34" charset="-120"/>
                        </a:rPr>
                        <a:t>Industrial freight expertise; long-haul &amp; heavy cargo capability</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900" dirty="0">
                          <a:solidFill>
                            <a:srgbClr val="3D4652"/>
                          </a:solidFill>
                          <a:latin typeface="Calibri" pitchFamily="34" charset="0"/>
                          <a:ea typeface="Calibri" pitchFamily="34" charset="-122"/>
                          <a:cs typeface="Calibri" pitchFamily="34" charset="-120"/>
                        </a:rPr>
                        <a:t>Lower brand visibility; smaller scale than national peers</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r h="566928">
                <a:tc>
                  <a:txBody>
                    <a:bodyPr/>
                    <a:lstStyle/>
                    <a:p>
                      <a:pPr indent="0" marL="0">
                        <a:buNone/>
                      </a:pPr>
                      <a:r>
                        <a:rPr lang="en-US" sz="900" dirty="0">
                          <a:solidFill>
                            <a:srgbClr val="3D4652"/>
                          </a:solidFill>
                          <a:latin typeface="Calibri" pitchFamily="34" charset="0"/>
                          <a:ea typeface="Calibri" pitchFamily="34" charset="-122"/>
                          <a:cs typeface="Calibri" pitchFamily="34" charset="-120"/>
                        </a:rPr>
                        <a:t>TCI Freight</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900" dirty="0">
                          <a:solidFill>
                            <a:srgbClr val="3D4652"/>
                          </a:solidFill>
                          <a:latin typeface="Calibri" pitchFamily="34" charset="0"/>
                          <a:ea typeface="Calibri" pitchFamily="34" charset="-122"/>
                          <a:cs typeface="Calibri" pitchFamily="34" charset="-120"/>
                        </a:rPr>
                        <a:t>Network density; multimodal (road+rail+sea) integration</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900" dirty="0">
                          <a:solidFill>
                            <a:srgbClr val="3D4652"/>
                          </a:solidFill>
                          <a:latin typeface="Calibri" pitchFamily="34" charset="0"/>
                          <a:ea typeface="Calibri" pitchFamily="34" charset="-122"/>
                          <a:cs typeface="Calibri" pitchFamily="34" charset="-120"/>
                        </a:rPr>
                        <a:t>Freight segment margin structurally thin (~4%)</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r h="566928">
                <a:tc>
                  <a:txBody>
                    <a:bodyPr/>
                    <a:lstStyle/>
                    <a:p>
                      <a:pPr indent="0" marL="0">
                        <a:buNone/>
                      </a:pPr>
                      <a:r>
                        <a:rPr lang="en-US" sz="900" dirty="0">
                          <a:solidFill>
                            <a:srgbClr val="3D4652"/>
                          </a:solidFill>
                          <a:latin typeface="Calibri" pitchFamily="34" charset="0"/>
                          <a:ea typeface="Calibri" pitchFamily="34" charset="-122"/>
                          <a:cs typeface="Calibri" pitchFamily="34" charset="-120"/>
                        </a:rPr>
                        <a:t>Mahindra Logistics</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900" dirty="0">
                          <a:solidFill>
                            <a:srgbClr val="3D4652"/>
                          </a:solidFill>
                          <a:latin typeface="Calibri" pitchFamily="34" charset="0"/>
                          <a:ea typeface="Calibri" pitchFamily="34" charset="-122"/>
                          <a:cs typeface="Calibri" pitchFamily="34" charset="-120"/>
                        </a:rPr>
                        <a:t>Enterprise &amp; automotive relationships; strong 3PL brand</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900" dirty="0">
                          <a:solidFill>
                            <a:srgbClr val="3D4652"/>
                          </a:solidFill>
                          <a:latin typeface="Calibri" pitchFamily="34" charset="0"/>
                          <a:ea typeface="Calibri" pitchFamily="34" charset="-122"/>
                          <a:cs typeface="Calibri" pitchFamily="34" charset="-120"/>
                        </a:rPr>
                        <a:t>Persistent losses; Express segment still loss-making</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r h="566928">
                <a:tc>
                  <a:txBody>
                    <a:bodyPr/>
                    <a:lstStyle/>
                    <a:p>
                      <a:pPr indent="0" marL="0">
                        <a:buNone/>
                      </a:pPr>
                      <a:r>
                        <a:rPr lang="en-US" sz="900" dirty="0">
                          <a:solidFill>
                            <a:srgbClr val="3D4652"/>
                          </a:solidFill>
                          <a:latin typeface="Calibri" pitchFamily="34" charset="0"/>
                          <a:ea typeface="Calibri" pitchFamily="34" charset="-122"/>
                          <a:cs typeface="Calibri" pitchFamily="34" charset="-120"/>
                        </a:rPr>
                        <a:t>Safexpress</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900" dirty="0">
                          <a:solidFill>
                            <a:srgbClr val="3D4652"/>
                          </a:solidFill>
                          <a:latin typeface="Calibri" pitchFamily="34" charset="0"/>
                          <a:ea typeface="Calibri" pitchFamily="34" charset="-122"/>
                          <a:cs typeface="Calibri" pitchFamily="34" charset="-120"/>
                        </a:rPr>
                        <a:t>Dense distribution network; fast transit times</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900" dirty="0">
                          <a:solidFill>
                            <a:srgbClr val="3D4652"/>
                          </a:solidFill>
                          <a:latin typeface="Calibri" pitchFamily="34" charset="0"/>
                          <a:ea typeface="Calibri" pitchFamily="34" charset="-122"/>
                          <a:cs typeface="Calibri" pitchFamily="34" charset="-120"/>
                        </a:rPr>
                        <a:t>Limited industrial/heavy-freight specialization</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r h="566928">
                <a:tc>
                  <a:txBody>
                    <a:bodyPr/>
                    <a:lstStyle/>
                    <a:p>
                      <a:pPr indent="0" marL="0">
                        <a:buNone/>
                      </a:pPr>
                      <a:r>
                        <a:rPr lang="en-US" sz="900" dirty="0">
                          <a:solidFill>
                            <a:srgbClr val="3D4652"/>
                          </a:solidFill>
                          <a:latin typeface="Calibri" pitchFamily="34" charset="0"/>
                          <a:ea typeface="Calibri" pitchFamily="34" charset="-122"/>
                          <a:cs typeface="Calibri" pitchFamily="34" charset="-120"/>
                        </a:rPr>
                        <a:t>TVS SCS</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900" dirty="0">
                          <a:solidFill>
                            <a:srgbClr val="3D4652"/>
                          </a:solidFill>
                          <a:latin typeface="Calibri" pitchFamily="34" charset="0"/>
                          <a:ea typeface="Calibri" pitchFamily="34" charset="-122"/>
                          <a:cs typeface="Calibri" pitchFamily="34" charset="-120"/>
                        </a:rPr>
                        <a:t>Automotive OEM relationships; global ISCS scale</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900" dirty="0">
                          <a:solidFill>
                            <a:srgbClr val="3D4652"/>
                          </a:solidFill>
                          <a:latin typeface="Calibri" pitchFamily="34" charset="0"/>
                          <a:ea typeface="Calibri" pitchFamily="34" charset="-122"/>
                          <a:cs typeface="Calibri" pitchFamily="34" charset="-120"/>
                        </a:rPr>
                        <a:t>Thin consolidated margins; India ISCS under pressure</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r h="566928">
                <a:tc>
                  <a:txBody>
                    <a:bodyPr/>
                    <a:lstStyle/>
                    <a:p>
                      <a:pPr indent="0" marL="0">
                        <a:buNone/>
                      </a:pPr>
                      <a:r>
                        <a:rPr lang="en-US" sz="900" dirty="0">
                          <a:solidFill>
                            <a:srgbClr val="3D4652"/>
                          </a:solidFill>
                          <a:latin typeface="Calibri" pitchFamily="34" charset="0"/>
                          <a:ea typeface="Calibri" pitchFamily="34" charset="-122"/>
                          <a:cs typeface="Calibri" pitchFamily="34" charset="-120"/>
                        </a:rPr>
                        <a:t>DHL Supply Chain</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900" dirty="0">
                          <a:solidFill>
                            <a:srgbClr val="3D4652"/>
                          </a:solidFill>
                          <a:latin typeface="Calibri" pitchFamily="34" charset="0"/>
                          <a:ea typeface="Calibri" pitchFamily="34" charset="-122"/>
                          <a:cs typeface="Calibri" pitchFamily="34" charset="-120"/>
                        </a:rPr>
                        <a:t>Premium service; multinational customer base</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indent="0" marL="0">
                        <a:buNone/>
                      </a:pPr>
                      <a:r>
                        <a:rPr lang="en-US" sz="900" dirty="0">
                          <a:solidFill>
                            <a:srgbClr val="3D4652"/>
                          </a:solidFill>
                          <a:latin typeface="Calibri" pitchFamily="34" charset="0"/>
                          <a:ea typeface="Calibri" pitchFamily="34" charset="-122"/>
                          <a:cs typeface="Calibri" pitchFamily="34" charset="-120"/>
                        </a:rPr>
                        <a:t>Limited India-specific industrial freight focus</a:t>
                      </a:r>
                      <a:endParaRPr lang="en-US" sz="900" dirty="0">
                        <a:latin typeface="Calibri" charset="0"/>
                        <a:ea typeface="Calibri" charset="0"/>
                        <a:cs typeface="Calibri" charset="0"/>
                      </a:endParaRPr>
                    </a:p>
                  </a:txBody>
                  <a:tcPr marL="91440" marR="91440" marT="45720" marB="45720"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bl>
          </a:graphicData>
        </a:graphic>
      </p:graphicFrame>
      <p:sp>
        <p:nvSpPr>
          <p:cNvPr id="5" name="Shape 2"/>
          <p:cNvSpPr/>
          <p:nvPr/>
        </p:nvSpPr>
        <p:spPr>
          <a:xfrm>
            <a:off x="548640" y="5532120"/>
            <a:ext cx="11064240" cy="685800"/>
          </a:xfrm>
          <a:prstGeom prst="roundRect">
            <a:avLst>
              <a:gd name="adj" fmla="val 8000"/>
            </a:avLst>
          </a:prstGeom>
          <a:solidFill>
            <a:srgbClr val="EAF4FB"/>
          </a:solidFill>
          <a:ln/>
        </p:spPr>
      </p:sp>
      <p:pic>
        <p:nvPicPr>
          <p:cNvPr id="6" name="Image 0" descr="preencoded.png">    </p:cNvPr>
          <p:cNvPicPr>
            <a:picLocks noChangeAspect="1"/>
          </p:cNvPicPr>
          <p:nvPr/>
        </p:nvPicPr>
        <p:blipFill>
          <a:blip r:embed="rId1"/>
          <a:stretch>
            <a:fillRect/>
          </a:stretch>
        </p:blipFill>
        <p:spPr>
          <a:xfrm>
            <a:off x="713232" y="5715000"/>
            <a:ext cx="292608" cy="292608"/>
          </a:xfrm>
          <a:prstGeom prst="rect">
            <a:avLst/>
          </a:prstGeom>
        </p:spPr>
      </p:pic>
      <p:sp>
        <p:nvSpPr>
          <p:cNvPr id="7" name="Text 3"/>
          <p:cNvSpPr/>
          <p:nvPr/>
        </p:nvSpPr>
        <p:spPr>
          <a:xfrm>
            <a:off x="1115568" y="5669280"/>
            <a:ext cx="10332720" cy="365760"/>
          </a:xfrm>
          <a:prstGeom prst="rect">
            <a:avLst/>
          </a:prstGeom>
          <a:noFill/>
          <a:ln/>
        </p:spPr>
        <p:txBody>
          <a:bodyPr wrap="square" lIns="0" tIns="0" rIns="0" bIns="0" rtlCol="0" anchor="ctr"/>
          <a:lstStyle/>
          <a:p>
            <a:pPr indent="0" marL="0">
              <a:buNone/>
            </a:pPr>
            <a:r>
              <a:rPr lang="en-US" sz="1050" b="1" dirty="0">
                <a:solidFill>
                  <a:srgbClr val="0B2A4A"/>
                </a:solidFill>
                <a:latin typeface="Calibri" pitchFamily="34" charset="0"/>
                <a:ea typeface="Calibri" pitchFamily="34" charset="-122"/>
                <a:cs typeface="Calibri" pitchFamily="34" charset="-120"/>
              </a:rPr>
              <a:t>CJ Darcl advantage: deep specialization in steel, cement &amp; mining — a barrier few competitors can replicate at scale.</a:t>
            </a:r>
            <a:endParaRPr lang="en-US" sz="1050" dirty="0"/>
          </a:p>
        </p:txBody>
      </p:sp>
      <p:sp>
        <p:nvSpPr>
          <p:cNvPr id="8" name="Text 4"/>
          <p:cNvSpPr/>
          <p:nvPr/>
        </p:nvSpPr>
        <p:spPr>
          <a:xfrm>
            <a:off x="548640" y="6473952"/>
            <a:ext cx="9875520" cy="274320"/>
          </a:xfrm>
          <a:prstGeom prst="rect">
            <a:avLst/>
          </a:prstGeom>
          <a:noFill/>
          <a:ln/>
        </p:spPr>
        <p:txBody>
          <a:bodyPr wrap="square" lIns="0" tIns="0" rIns="0" bIns="0" rtlCol="0" anchor="ctr"/>
          <a:lstStyle/>
          <a:p>
            <a:pPr indent="0" marL="0">
              <a:buNone/>
            </a:pPr>
            <a:r>
              <a:rPr lang="en-US" sz="780" i="1" dirty="0">
                <a:solidFill>
                  <a:srgbClr val="6B7684"/>
                </a:solidFill>
                <a:latin typeface="Calibri" pitchFamily="34" charset="0"/>
                <a:ea typeface="Calibri" pitchFamily="34" charset="-122"/>
                <a:cs typeface="Calibri" pitchFamily="34" charset="-120"/>
              </a:rPr>
              <a:t>Source: CJ Darcl strategic analysis, based on company disclosures, investor presentations and FY25 financial results.</a:t>
            </a:r>
            <a:endParaRPr lang="en-US" sz="780" dirty="0"/>
          </a:p>
        </p:txBody>
      </p:sp>
      <p:sp>
        <p:nvSpPr>
          <p:cNvPr id="9" name="Text 5"/>
          <p:cNvSpPr/>
          <p:nvPr/>
        </p:nvSpPr>
        <p:spPr>
          <a:xfrm>
            <a:off x="11414455" y="6473952"/>
            <a:ext cx="45720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50" b="1" spc="200" kern="0" dirty="0">
                <a:solidFill>
                  <a:srgbClr val="1D8FD1"/>
                </a:solidFill>
                <a:latin typeface="Calibri" pitchFamily="34" charset="0"/>
                <a:ea typeface="Calibri" pitchFamily="34" charset="-122"/>
                <a:cs typeface="Calibri" pitchFamily="34" charset="-120"/>
              </a:rPr>
              <a:t>RISK ASSESSMENT</a:t>
            </a:r>
            <a:endParaRPr lang="en-US" sz="1050" dirty="0"/>
          </a:p>
        </p:txBody>
      </p:sp>
      <p:sp>
        <p:nvSpPr>
          <p:cNvPr id="3" name="Text 1"/>
          <p:cNvSpPr/>
          <p:nvPr/>
        </p:nvSpPr>
        <p:spPr>
          <a:xfrm>
            <a:off x="548640" y="530352"/>
            <a:ext cx="10607040" cy="548640"/>
          </a:xfrm>
          <a:prstGeom prst="rect">
            <a:avLst/>
          </a:prstGeom>
          <a:noFill/>
          <a:ln/>
        </p:spPr>
        <p:txBody>
          <a:bodyPr wrap="square" lIns="0" tIns="0" rIns="0" bIns="0" rtlCol="0" anchor="ctr"/>
          <a:lstStyle/>
          <a:p>
            <a:pPr indent="0" marL="0">
              <a:buNone/>
            </a:pPr>
            <a:r>
              <a:rPr lang="en-US" sz="2400" b="1" dirty="0">
                <a:solidFill>
                  <a:srgbClr val="0B2A4A"/>
                </a:solidFill>
                <a:latin typeface="Cambria" pitchFamily="34" charset="0"/>
                <a:ea typeface="Cambria" pitchFamily="34" charset="-122"/>
                <a:cs typeface="Cambria" pitchFamily="34" charset="-120"/>
              </a:rPr>
              <a:t>Where Is CJ Darcl Most Exposed?</a:t>
            </a:r>
            <a:endParaRPr lang="en-US" sz="2400" dirty="0"/>
          </a:p>
        </p:txBody>
      </p:sp>
      <p:sp>
        <p:nvSpPr>
          <p:cNvPr id="4" name="Text 2"/>
          <p:cNvSpPr/>
          <p:nvPr/>
        </p:nvSpPr>
        <p:spPr>
          <a:xfrm>
            <a:off x="548640" y="1417320"/>
            <a:ext cx="5760720" cy="274320"/>
          </a:xfrm>
          <a:prstGeom prst="rect">
            <a:avLst/>
          </a:prstGeom>
          <a:noFill/>
          <a:ln/>
        </p:spPr>
        <p:txBody>
          <a:bodyPr wrap="square" lIns="0" tIns="0" rIns="0" bIns="0" rtlCol="0" anchor="ctr"/>
          <a:lstStyle/>
          <a:p>
            <a:pPr indent="0" marL="0">
              <a:buNone/>
            </a:pPr>
            <a:r>
              <a:rPr lang="en-US" sz="1200" b="1" dirty="0">
                <a:solidFill>
                  <a:srgbClr val="0B2A4A"/>
                </a:solidFill>
                <a:latin typeface="Calibri" pitchFamily="34" charset="0"/>
                <a:ea typeface="Calibri" pitchFamily="34" charset="-122"/>
                <a:cs typeface="Calibri" pitchFamily="34" charset="-120"/>
              </a:rPr>
              <a:t>Competitive Exposure by Sector</a:t>
            </a:r>
            <a:endParaRPr lang="en-US" sz="1200" dirty="0"/>
          </a:p>
        </p:txBody>
      </p:sp>
      <p:sp>
        <p:nvSpPr>
          <p:cNvPr id="5" name="Text 3"/>
          <p:cNvSpPr/>
          <p:nvPr/>
        </p:nvSpPr>
        <p:spPr>
          <a:xfrm>
            <a:off x="1691640" y="1828800"/>
            <a:ext cx="1024128" cy="274320"/>
          </a:xfrm>
          <a:prstGeom prst="rect">
            <a:avLst/>
          </a:prstGeom>
          <a:noFill/>
          <a:ln/>
        </p:spPr>
        <p:txBody>
          <a:bodyPr wrap="square" lIns="0" tIns="0" rIns="0" bIns="0" rtlCol="0" anchor="ctr"/>
          <a:lstStyle/>
          <a:p>
            <a:pPr algn="ctr" indent="0" marL="0">
              <a:buNone/>
            </a:pPr>
            <a:r>
              <a:rPr lang="en-US" sz="1000" b="1" dirty="0">
                <a:solidFill>
                  <a:srgbClr val="0B2A4A"/>
                </a:solidFill>
                <a:latin typeface="Calibri" pitchFamily="34" charset="0"/>
                <a:ea typeface="Calibri" pitchFamily="34" charset="-122"/>
                <a:cs typeface="Calibri" pitchFamily="34" charset="-120"/>
              </a:rPr>
              <a:t>TCI</a:t>
            </a:r>
            <a:endParaRPr lang="en-US" sz="1000" dirty="0"/>
          </a:p>
        </p:txBody>
      </p:sp>
      <p:sp>
        <p:nvSpPr>
          <p:cNvPr id="6" name="Text 4"/>
          <p:cNvSpPr/>
          <p:nvPr/>
        </p:nvSpPr>
        <p:spPr>
          <a:xfrm>
            <a:off x="2715768" y="1828800"/>
            <a:ext cx="1024128" cy="274320"/>
          </a:xfrm>
          <a:prstGeom prst="rect">
            <a:avLst/>
          </a:prstGeom>
          <a:noFill/>
          <a:ln/>
        </p:spPr>
        <p:txBody>
          <a:bodyPr wrap="square" lIns="0" tIns="0" rIns="0" bIns="0" rtlCol="0" anchor="ctr"/>
          <a:lstStyle/>
          <a:p>
            <a:pPr algn="ctr" indent="0" marL="0">
              <a:buNone/>
            </a:pPr>
            <a:r>
              <a:rPr lang="en-US" sz="1000" b="1" dirty="0">
                <a:solidFill>
                  <a:srgbClr val="0B2A4A"/>
                </a:solidFill>
                <a:latin typeface="Calibri" pitchFamily="34" charset="0"/>
                <a:ea typeface="Calibri" pitchFamily="34" charset="-122"/>
                <a:cs typeface="Calibri" pitchFamily="34" charset="-120"/>
              </a:rPr>
              <a:t>Mahindra</a:t>
            </a:r>
            <a:endParaRPr lang="en-US" sz="1000" dirty="0"/>
          </a:p>
        </p:txBody>
      </p:sp>
      <p:sp>
        <p:nvSpPr>
          <p:cNvPr id="7" name="Text 5"/>
          <p:cNvSpPr/>
          <p:nvPr/>
        </p:nvSpPr>
        <p:spPr>
          <a:xfrm>
            <a:off x="3739896" y="1828800"/>
            <a:ext cx="1024128" cy="274320"/>
          </a:xfrm>
          <a:prstGeom prst="rect">
            <a:avLst/>
          </a:prstGeom>
          <a:noFill/>
          <a:ln/>
        </p:spPr>
        <p:txBody>
          <a:bodyPr wrap="square" lIns="0" tIns="0" rIns="0" bIns="0" rtlCol="0" anchor="ctr"/>
          <a:lstStyle/>
          <a:p>
            <a:pPr algn="ctr" indent="0" marL="0">
              <a:buNone/>
            </a:pPr>
            <a:r>
              <a:rPr lang="en-US" sz="1000" b="1" dirty="0">
                <a:solidFill>
                  <a:srgbClr val="0B2A4A"/>
                </a:solidFill>
                <a:latin typeface="Calibri" pitchFamily="34" charset="0"/>
                <a:ea typeface="Calibri" pitchFamily="34" charset="-122"/>
                <a:cs typeface="Calibri" pitchFamily="34" charset="-120"/>
              </a:rPr>
              <a:t>Safexp.</a:t>
            </a:r>
            <a:endParaRPr lang="en-US" sz="1000" dirty="0"/>
          </a:p>
        </p:txBody>
      </p:sp>
      <p:sp>
        <p:nvSpPr>
          <p:cNvPr id="8" name="Text 6"/>
          <p:cNvSpPr/>
          <p:nvPr/>
        </p:nvSpPr>
        <p:spPr>
          <a:xfrm>
            <a:off x="4764024" y="1828800"/>
            <a:ext cx="1024128" cy="274320"/>
          </a:xfrm>
          <a:prstGeom prst="rect">
            <a:avLst/>
          </a:prstGeom>
          <a:noFill/>
          <a:ln/>
        </p:spPr>
        <p:txBody>
          <a:bodyPr wrap="square" lIns="0" tIns="0" rIns="0" bIns="0" rtlCol="0" anchor="ctr"/>
          <a:lstStyle/>
          <a:p>
            <a:pPr algn="ctr" indent="0" marL="0">
              <a:buNone/>
            </a:pPr>
            <a:r>
              <a:rPr lang="en-US" sz="1000" b="1" dirty="0">
                <a:solidFill>
                  <a:srgbClr val="0B2A4A"/>
                </a:solidFill>
                <a:latin typeface="Calibri" pitchFamily="34" charset="0"/>
                <a:ea typeface="Calibri" pitchFamily="34" charset="-122"/>
                <a:cs typeface="Calibri" pitchFamily="34" charset="-120"/>
              </a:rPr>
              <a:t>TVS</a:t>
            </a:r>
            <a:endParaRPr lang="en-US" sz="1000" dirty="0"/>
          </a:p>
        </p:txBody>
      </p:sp>
      <p:sp>
        <p:nvSpPr>
          <p:cNvPr id="9" name="Text 7"/>
          <p:cNvSpPr/>
          <p:nvPr/>
        </p:nvSpPr>
        <p:spPr>
          <a:xfrm>
            <a:off x="5788152" y="1828800"/>
            <a:ext cx="1024128" cy="274320"/>
          </a:xfrm>
          <a:prstGeom prst="rect">
            <a:avLst/>
          </a:prstGeom>
          <a:noFill/>
          <a:ln/>
        </p:spPr>
        <p:txBody>
          <a:bodyPr wrap="square" lIns="0" tIns="0" rIns="0" bIns="0" rtlCol="0" anchor="ctr"/>
          <a:lstStyle/>
          <a:p>
            <a:pPr algn="ctr" indent="0" marL="0">
              <a:buNone/>
            </a:pPr>
            <a:r>
              <a:rPr lang="en-US" sz="1000" b="1" dirty="0">
                <a:solidFill>
                  <a:srgbClr val="0B2A4A"/>
                </a:solidFill>
                <a:latin typeface="Calibri" pitchFamily="34" charset="0"/>
                <a:ea typeface="Calibri" pitchFamily="34" charset="-122"/>
                <a:cs typeface="Calibri" pitchFamily="34" charset="-120"/>
              </a:rPr>
              <a:t>DHL</a:t>
            </a:r>
            <a:endParaRPr lang="en-US" sz="1000" dirty="0"/>
          </a:p>
        </p:txBody>
      </p:sp>
      <p:sp>
        <p:nvSpPr>
          <p:cNvPr id="10" name="Text 8"/>
          <p:cNvSpPr/>
          <p:nvPr/>
        </p:nvSpPr>
        <p:spPr>
          <a:xfrm>
            <a:off x="548640" y="2176272"/>
            <a:ext cx="1143000" cy="475488"/>
          </a:xfrm>
          <a:prstGeom prst="rect">
            <a:avLst/>
          </a:prstGeom>
          <a:noFill/>
          <a:ln/>
        </p:spPr>
        <p:txBody>
          <a:bodyPr wrap="square" lIns="0" tIns="0" rIns="0" bIns="0" rtlCol="0" anchor="ctr"/>
          <a:lstStyle/>
          <a:p>
            <a:pPr indent="0" marL="0">
              <a:buNone/>
            </a:pPr>
            <a:r>
              <a:rPr lang="en-US" sz="1050" dirty="0">
                <a:solidFill>
                  <a:srgbClr val="3D4652"/>
                </a:solidFill>
                <a:latin typeface="Calibri" pitchFamily="34" charset="0"/>
                <a:ea typeface="Calibri" pitchFamily="34" charset="-122"/>
                <a:cs typeface="Calibri" pitchFamily="34" charset="-120"/>
              </a:rPr>
              <a:t>Steel</a:t>
            </a:r>
            <a:endParaRPr lang="en-US" sz="1050" dirty="0"/>
          </a:p>
        </p:txBody>
      </p:sp>
      <p:sp>
        <p:nvSpPr>
          <p:cNvPr id="11" name="Shape 9"/>
          <p:cNvSpPr/>
          <p:nvPr/>
        </p:nvSpPr>
        <p:spPr>
          <a:xfrm>
            <a:off x="1691640" y="2212848"/>
            <a:ext cx="960120" cy="411480"/>
          </a:xfrm>
          <a:prstGeom prst="rect">
            <a:avLst/>
          </a:prstGeom>
          <a:solidFill>
            <a:srgbClr val="DDEFE0"/>
          </a:solidFill>
          <a:ln w="19050">
            <a:solidFill>
              <a:srgbClr val="FFFFFF"/>
            </a:solidFill>
            <a:prstDash val="solid"/>
          </a:ln>
        </p:spPr>
      </p:sp>
      <p:sp>
        <p:nvSpPr>
          <p:cNvPr id="12" name="Shape 10"/>
          <p:cNvSpPr/>
          <p:nvPr/>
        </p:nvSpPr>
        <p:spPr>
          <a:xfrm>
            <a:off x="2715768" y="2212848"/>
            <a:ext cx="960120" cy="411480"/>
          </a:xfrm>
          <a:prstGeom prst="rect">
            <a:avLst/>
          </a:prstGeom>
          <a:solidFill>
            <a:srgbClr val="DDEFE0"/>
          </a:solidFill>
          <a:ln w="19050">
            <a:solidFill>
              <a:srgbClr val="FFFFFF"/>
            </a:solidFill>
            <a:prstDash val="solid"/>
          </a:ln>
        </p:spPr>
      </p:sp>
      <p:sp>
        <p:nvSpPr>
          <p:cNvPr id="13" name="Shape 11"/>
          <p:cNvSpPr/>
          <p:nvPr/>
        </p:nvSpPr>
        <p:spPr>
          <a:xfrm>
            <a:off x="3739896" y="2212848"/>
            <a:ext cx="960120" cy="411480"/>
          </a:xfrm>
          <a:prstGeom prst="rect">
            <a:avLst/>
          </a:prstGeom>
          <a:solidFill>
            <a:srgbClr val="DDEFE0"/>
          </a:solidFill>
          <a:ln w="19050">
            <a:solidFill>
              <a:srgbClr val="FFFFFF"/>
            </a:solidFill>
            <a:prstDash val="solid"/>
          </a:ln>
        </p:spPr>
      </p:sp>
      <p:sp>
        <p:nvSpPr>
          <p:cNvPr id="14" name="Shape 12"/>
          <p:cNvSpPr/>
          <p:nvPr/>
        </p:nvSpPr>
        <p:spPr>
          <a:xfrm>
            <a:off x="4764024" y="2212848"/>
            <a:ext cx="960120" cy="411480"/>
          </a:xfrm>
          <a:prstGeom prst="rect">
            <a:avLst/>
          </a:prstGeom>
          <a:solidFill>
            <a:srgbClr val="DDEFE0"/>
          </a:solidFill>
          <a:ln w="19050">
            <a:solidFill>
              <a:srgbClr val="FFFFFF"/>
            </a:solidFill>
            <a:prstDash val="solid"/>
          </a:ln>
        </p:spPr>
      </p:sp>
      <p:sp>
        <p:nvSpPr>
          <p:cNvPr id="15" name="Shape 13"/>
          <p:cNvSpPr/>
          <p:nvPr/>
        </p:nvSpPr>
        <p:spPr>
          <a:xfrm>
            <a:off x="5788152" y="2212848"/>
            <a:ext cx="960120" cy="411480"/>
          </a:xfrm>
          <a:prstGeom prst="rect">
            <a:avLst/>
          </a:prstGeom>
          <a:solidFill>
            <a:srgbClr val="FCE6B8"/>
          </a:solidFill>
          <a:ln w="19050">
            <a:solidFill>
              <a:srgbClr val="FFFFFF"/>
            </a:solidFill>
            <a:prstDash val="solid"/>
          </a:ln>
        </p:spPr>
      </p:sp>
      <p:sp>
        <p:nvSpPr>
          <p:cNvPr id="16" name="Text 14"/>
          <p:cNvSpPr/>
          <p:nvPr/>
        </p:nvSpPr>
        <p:spPr>
          <a:xfrm>
            <a:off x="548640" y="2651760"/>
            <a:ext cx="1143000" cy="475488"/>
          </a:xfrm>
          <a:prstGeom prst="rect">
            <a:avLst/>
          </a:prstGeom>
          <a:noFill/>
          <a:ln/>
        </p:spPr>
        <p:txBody>
          <a:bodyPr wrap="square" lIns="0" tIns="0" rIns="0" bIns="0" rtlCol="0" anchor="ctr"/>
          <a:lstStyle/>
          <a:p>
            <a:pPr indent="0" marL="0">
              <a:buNone/>
            </a:pPr>
            <a:r>
              <a:rPr lang="en-US" sz="1050" dirty="0">
                <a:solidFill>
                  <a:srgbClr val="3D4652"/>
                </a:solidFill>
                <a:latin typeface="Calibri" pitchFamily="34" charset="0"/>
                <a:ea typeface="Calibri" pitchFamily="34" charset="-122"/>
                <a:cs typeface="Calibri" pitchFamily="34" charset="-120"/>
              </a:rPr>
              <a:t>Cement</a:t>
            </a:r>
            <a:endParaRPr lang="en-US" sz="1050" dirty="0"/>
          </a:p>
        </p:txBody>
      </p:sp>
      <p:sp>
        <p:nvSpPr>
          <p:cNvPr id="17" name="Shape 15"/>
          <p:cNvSpPr/>
          <p:nvPr/>
        </p:nvSpPr>
        <p:spPr>
          <a:xfrm>
            <a:off x="1691640" y="2688336"/>
            <a:ext cx="960120" cy="411480"/>
          </a:xfrm>
          <a:prstGeom prst="rect">
            <a:avLst/>
          </a:prstGeom>
          <a:solidFill>
            <a:srgbClr val="DDEFE0"/>
          </a:solidFill>
          <a:ln w="19050">
            <a:solidFill>
              <a:srgbClr val="FFFFFF"/>
            </a:solidFill>
            <a:prstDash val="solid"/>
          </a:ln>
        </p:spPr>
      </p:sp>
      <p:sp>
        <p:nvSpPr>
          <p:cNvPr id="18" name="Shape 16"/>
          <p:cNvSpPr/>
          <p:nvPr/>
        </p:nvSpPr>
        <p:spPr>
          <a:xfrm>
            <a:off x="2715768" y="2688336"/>
            <a:ext cx="960120" cy="411480"/>
          </a:xfrm>
          <a:prstGeom prst="rect">
            <a:avLst/>
          </a:prstGeom>
          <a:solidFill>
            <a:srgbClr val="DDEFE0"/>
          </a:solidFill>
          <a:ln w="19050">
            <a:solidFill>
              <a:srgbClr val="FFFFFF"/>
            </a:solidFill>
            <a:prstDash val="solid"/>
          </a:ln>
        </p:spPr>
      </p:sp>
      <p:sp>
        <p:nvSpPr>
          <p:cNvPr id="19" name="Shape 17"/>
          <p:cNvSpPr/>
          <p:nvPr/>
        </p:nvSpPr>
        <p:spPr>
          <a:xfrm>
            <a:off x="3739896" y="2688336"/>
            <a:ext cx="960120" cy="411480"/>
          </a:xfrm>
          <a:prstGeom prst="rect">
            <a:avLst/>
          </a:prstGeom>
          <a:solidFill>
            <a:srgbClr val="FCE6B8"/>
          </a:solidFill>
          <a:ln w="19050">
            <a:solidFill>
              <a:srgbClr val="FFFFFF"/>
            </a:solidFill>
            <a:prstDash val="solid"/>
          </a:ln>
        </p:spPr>
      </p:sp>
      <p:sp>
        <p:nvSpPr>
          <p:cNvPr id="20" name="Shape 18"/>
          <p:cNvSpPr/>
          <p:nvPr/>
        </p:nvSpPr>
        <p:spPr>
          <a:xfrm>
            <a:off x="4764024" y="2688336"/>
            <a:ext cx="960120" cy="411480"/>
          </a:xfrm>
          <a:prstGeom prst="rect">
            <a:avLst/>
          </a:prstGeom>
          <a:solidFill>
            <a:srgbClr val="DDEFE0"/>
          </a:solidFill>
          <a:ln w="19050">
            <a:solidFill>
              <a:srgbClr val="FFFFFF"/>
            </a:solidFill>
            <a:prstDash val="solid"/>
          </a:ln>
        </p:spPr>
      </p:sp>
      <p:sp>
        <p:nvSpPr>
          <p:cNvPr id="21" name="Shape 19"/>
          <p:cNvSpPr/>
          <p:nvPr/>
        </p:nvSpPr>
        <p:spPr>
          <a:xfrm>
            <a:off x="5788152" y="2688336"/>
            <a:ext cx="960120" cy="411480"/>
          </a:xfrm>
          <a:prstGeom prst="rect">
            <a:avLst/>
          </a:prstGeom>
          <a:solidFill>
            <a:srgbClr val="FCE6B8"/>
          </a:solidFill>
          <a:ln w="19050">
            <a:solidFill>
              <a:srgbClr val="FFFFFF"/>
            </a:solidFill>
            <a:prstDash val="solid"/>
          </a:ln>
        </p:spPr>
      </p:sp>
      <p:sp>
        <p:nvSpPr>
          <p:cNvPr id="22" name="Text 20"/>
          <p:cNvSpPr/>
          <p:nvPr/>
        </p:nvSpPr>
        <p:spPr>
          <a:xfrm>
            <a:off x="548640" y="3127248"/>
            <a:ext cx="1143000" cy="475488"/>
          </a:xfrm>
          <a:prstGeom prst="rect">
            <a:avLst/>
          </a:prstGeom>
          <a:noFill/>
          <a:ln/>
        </p:spPr>
        <p:txBody>
          <a:bodyPr wrap="square" lIns="0" tIns="0" rIns="0" bIns="0" rtlCol="0" anchor="ctr"/>
          <a:lstStyle/>
          <a:p>
            <a:pPr indent="0" marL="0">
              <a:buNone/>
            </a:pPr>
            <a:r>
              <a:rPr lang="en-US" sz="1050" dirty="0">
                <a:solidFill>
                  <a:srgbClr val="3D4652"/>
                </a:solidFill>
                <a:latin typeface="Calibri" pitchFamily="34" charset="0"/>
                <a:ea typeface="Calibri" pitchFamily="34" charset="-122"/>
                <a:cs typeface="Calibri" pitchFamily="34" charset="-120"/>
              </a:rPr>
              <a:t>Mining</a:t>
            </a:r>
            <a:endParaRPr lang="en-US" sz="1050" dirty="0"/>
          </a:p>
        </p:txBody>
      </p:sp>
      <p:sp>
        <p:nvSpPr>
          <p:cNvPr id="23" name="Shape 21"/>
          <p:cNvSpPr/>
          <p:nvPr/>
        </p:nvSpPr>
        <p:spPr>
          <a:xfrm>
            <a:off x="1691640" y="3163824"/>
            <a:ext cx="960120" cy="411480"/>
          </a:xfrm>
          <a:prstGeom prst="rect">
            <a:avLst/>
          </a:prstGeom>
          <a:solidFill>
            <a:srgbClr val="DDEFE0"/>
          </a:solidFill>
          <a:ln w="19050">
            <a:solidFill>
              <a:srgbClr val="FFFFFF"/>
            </a:solidFill>
            <a:prstDash val="solid"/>
          </a:ln>
        </p:spPr>
      </p:sp>
      <p:sp>
        <p:nvSpPr>
          <p:cNvPr id="24" name="Shape 22"/>
          <p:cNvSpPr/>
          <p:nvPr/>
        </p:nvSpPr>
        <p:spPr>
          <a:xfrm>
            <a:off x="2715768" y="3163824"/>
            <a:ext cx="960120" cy="411480"/>
          </a:xfrm>
          <a:prstGeom prst="rect">
            <a:avLst/>
          </a:prstGeom>
          <a:solidFill>
            <a:srgbClr val="DDEFE0"/>
          </a:solidFill>
          <a:ln w="19050">
            <a:solidFill>
              <a:srgbClr val="FFFFFF"/>
            </a:solidFill>
            <a:prstDash val="solid"/>
          </a:ln>
        </p:spPr>
      </p:sp>
      <p:sp>
        <p:nvSpPr>
          <p:cNvPr id="25" name="Shape 23"/>
          <p:cNvSpPr/>
          <p:nvPr/>
        </p:nvSpPr>
        <p:spPr>
          <a:xfrm>
            <a:off x="3739896" y="3163824"/>
            <a:ext cx="960120" cy="411480"/>
          </a:xfrm>
          <a:prstGeom prst="rect">
            <a:avLst/>
          </a:prstGeom>
          <a:solidFill>
            <a:srgbClr val="DDEFE0"/>
          </a:solidFill>
          <a:ln w="19050">
            <a:solidFill>
              <a:srgbClr val="FFFFFF"/>
            </a:solidFill>
            <a:prstDash val="solid"/>
          </a:ln>
        </p:spPr>
      </p:sp>
      <p:sp>
        <p:nvSpPr>
          <p:cNvPr id="26" name="Shape 24"/>
          <p:cNvSpPr/>
          <p:nvPr/>
        </p:nvSpPr>
        <p:spPr>
          <a:xfrm>
            <a:off x="4764024" y="3163824"/>
            <a:ext cx="960120" cy="411480"/>
          </a:xfrm>
          <a:prstGeom prst="rect">
            <a:avLst/>
          </a:prstGeom>
          <a:solidFill>
            <a:srgbClr val="DDEFE0"/>
          </a:solidFill>
          <a:ln w="19050">
            <a:solidFill>
              <a:srgbClr val="FFFFFF"/>
            </a:solidFill>
            <a:prstDash val="solid"/>
          </a:ln>
        </p:spPr>
      </p:sp>
      <p:sp>
        <p:nvSpPr>
          <p:cNvPr id="27" name="Shape 25"/>
          <p:cNvSpPr/>
          <p:nvPr/>
        </p:nvSpPr>
        <p:spPr>
          <a:xfrm>
            <a:off x="5788152" y="3163824"/>
            <a:ext cx="960120" cy="411480"/>
          </a:xfrm>
          <a:prstGeom prst="rect">
            <a:avLst/>
          </a:prstGeom>
          <a:solidFill>
            <a:srgbClr val="DDEFE0"/>
          </a:solidFill>
          <a:ln w="19050">
            <a:solidFill>
              <a:srgbClr val="FFFFFF"/>
            </a:solidFill>
            <a:prstDash val="solid"/>
          </a:ln>
        </p:spPr>
      </p:sp>
      <p:sp>
        <p:nvSpPr>
          <p:cNvPr id="28" name="Text 26"/>
          <p:cNvSpPr/>
          <p:nvPr/>
        </p:nvSpPr>
        <p:spPr>
          <a:xfrm>
            <a:off x="548640" y="3602736"/>
            <a:ext cx="1143000" cy="475488"/>
          </a:xfrm>
          <a:prstGeom prst="rect">
            <a:avLst/>
          </a:prstGeom>
          <a:noFill/>
          <a:ln/>
        </p:spPr>
        <p:txBody>
          <a:bodyPr wrap="square" lIns="0" tIns="0" rIns="0" bIns="0" rtlCol="0" anchor="ctr"/>
          <a:lstStyle/>
          <a:p>
            <a:pPr indent="0" marL="0">
              <a:buNone/>
            </a:pPr>
            <a:r>
              <a:rPr lang="en-US" sz="1050" dirty="0">
                <a:solidFill>
                  <a:srgbClr val="3D4652"/>
                </a:solidFill>
                <a:latin typeface="Calibri" pitchFamily="34" charset="0"/>
                <a:ea typeface="Calibri" pitchFamily="34" charset="-122"/>
                <a:cs typeface="Calibri" pitchFamily="34" charset="-120"/>
              </a:rPr>
              <a:t>Chemicals</a:t>
            </a:r>
            <a:endParaRPr lang="en-US" sz="1050" dirty="0"/>
          </a:p>
        </p:txBody>
      </p:sp>
      <p:sp>
        <p:nvSpPr>
          <p:cNvPr id="29" name="Shape 27"/>
          <p:cNvSpPr/>
          <p:nvPr/>
        </p:nvSpPr>
        <p:spPr>
          <a:xfrm>
            <a:off x="1691640" y="3639312"/>
            <a:ext cx="960120" cy="411480"/>
          </a:xfrm>
          <a:prstGeom prst="rect">
            <a:avLst/>
          </a:prstGeom>
          <a:solidFill>
            <a:srgbClr val="FCE6B8"/>
          </a:solidFill>
          <a:ln w="19050">
            <a:solidFill>
              <a:srgbClr val="FFFFFF"/>
            </a:solidFill>
            <a:prstDash val="solid"/>
          </a:ln>
        </p:spPr>
      </p:sp>
      <p:sp>
        <p:nvSpPr>
          <p:cNvPr id="30" name="Shape 28"/>
          <p:cNvSpPr/>
          <p:nvPr/>
        </p:nvSpPr>
        <p:spPr>
          <a:xfrm>
            <a:off x="2715768" y="3639312"/>
            <a:ext cx="960120" cy="411480"/>
          </a:xfrm>
          <a:prstGeom prst="rect">
            <a:avLst/>
          </a:prstGeom>
          <a:solidFill>
            <a:srgbClr val="FCE6B8"/>
          </a:solidFill>
          <a:ln w="19050">
            <a:solidFill>
              <a:srgbClr val="FFFFFF"/>
            </a:solidFill>
            <a:prstDash val="solid"/>
          </a:ln>
        </p:spPr>
      </p:sp>
      <p:sp>
        <p:nvSpPr>
          <p:cNvPr id="31" name="Shape 29"/>
          <p:cNvSpPr/>
          <p:nvPr/>
        </p:nvSpPr>
        <p:spPr>
          <a:xfrm>
            <a:off x="3739896" y="3639312"/>
            <a:ext cx="960120" cy="411480"/>
          </a:xfrm>
          <a:prstGeom prst="rect">
            <a:avLst/>
          </a:prstGeom>
          <a:solidFill>
            <a:srgbClr val="FCE6B8"/>
          </a:solidFill>
          <a:ln w="19050">
            <a:solidFill>
              <a:srgbClr val="FFFFFF"/>
            </a:solidFill>
            <a:prstDash val="solid"/>
          </a:ln>
        </p:spPr>
      </p:sp>
      <p:sp>
        <p:nvSpPr>
          <p:cNvPr id="32" name="Shape 30"/>
          <p:cNvSpPr/>
          <p:nvPr/>
        </p:nvSpPr>
        <p:spPr>
          <a:xfrm>
            <a:off x="4764024" y="3639312"/>
            <a:ext cx="960120" cy="411480"/>
          </a:xfrm>
          <a:prstGeom prst="rect">
            <a:avLst/>
          </a:prstGeom>
          <a:solidFill>
            <a:srgbClr val="FCE6B8"/>
          </a:solidFill>
          <a:ln w="19050">
            <a:solidFill>
              <a:srgbClr val="FFFFFF"/>
            </a:solidFill>
            <a:prstDash val="solid"/>
          </a:ln>
        </p:spPr>
      </p:sp>
      <p:sp>
        <p:nvSpPr>
          <p:cNvPr id="33" name="Shape 31"/>
          <p:cNvSpPr/>
          <p:nvPr/>
        </p:nvSpPr>
        <p:spPr>
          <a:xfrm>
            <a:off x="5788152" y="3639312"/>
            <a:ext cx="960120" cy="411480"/>
          </a:xfrm>
          <a:prstGeom prst="rect">
            <a:avLst/>
          </a:prstGeom>
          <a:solidFill>
            <a:srgbClr val="FCE6B8"/>
          </a:solidFill>
          <a:ln w="19050">
            <a:solidFill>
              <a:srgbClr val="FFFFFF"/>
            </a:solidFill>
            <a:prstDash val="solid"/>
          </a:ln>
        </p:spPr>
      </p:sp>
      <p:sp>
        <p:nvSpPr>
          <p:cNvPr id="34" name="Text 32"/>
          <p:cNvSpPr/>
          <p:nvPr/>
        </p:nvSpPr>
        <p:spPr>
          <a:xfrm>
            <a:off x="548640" y="4078224"/>
            <a:ext cx="1143000" cy="475488"/>
          </a:xfrm>
          <a:prstGeom prst="rect">
            <a:avLst/>
          </a:prstGeom>
          <a:noFill/>
          <a:ln/>
        </p:spPr>
        <p:txBody>
          <a:bodyPr wrap="square" lIns="0" tIns="0" rIns="0" bIns="0" rtlCol="0" anchor="ctr"/>
          <a:lstStyle/>
          <a:p>
            <a:pPr indent="0" marL="0">
              <a:buNone/>
            </a:pPr>
            <a:r>
              <a:rPr lang="en-US" sz="1050" dirty="0">
                <a:solidFill>
                  <a:srgbClr val="3D4652"/>
                </a:solidFill>
                <a:latin typeface="Calibri" pitchFamily="34" charset="0"/>
                <a:ea typeface="Calibri" pitchFamily="34" charset="-122"/>
                <a:cs typeface="Calibri" pitchFamily="34" charset="-120"/>
              </a:rPr>
              <a:t>Automotive</a:t>
            </a:r>
            <a:endParaRPr lang="en-US" sz="1050" dirty="0"/>
          </a:p>
        </p:txBody>
      </p:sp>
      <p:sp>
        <p:nvSpPr>
          <p:cNvPr id="35" name="Shape 33"/>
          <p:cNvSpPr/>
          <p:nvPr/>
        </p:nvSpPr>
        <p:spPr>
          <a:xfrm>
            <a:off x="1691640" y="4114800"/>
            <a:ext cx="960120" cy="411480"/>
          </a:xfrm>
          <a:prstGeom prst="rect">
            <a:avLst/>
          </a:prstGeom>
          <a:solidFill>
            <a:srgbClr val="FCE6B8"/>
          </a:solidFill>
          <a:ln w="19050">
            <a:solidFill>
              <a:srgbClr val="FFFFFF"/>
            </a:solidFill>
            <a:prstDash val="solid"/>
          </a:ln>
        </p:spPr>
      </p:sp>
      <p:sp>
        <p:nvSpPr>
          <p:cNvPr id="36" name="Shape 34"/>
          <p:cNvSpPr/>
          <p:nvPr/>
        </p:nvSpPr>
        <p:spPr>
          <a:xfrm>
            <a:off x="2715768" y="4114800"/>
            <a:ext cx="960120" cy="411480"/>
          </a:xfrm>
          <a:prstGeom prst="rect">
            <a:avLst/>
          </a:prstGeom>
          <a:solidFill>
            <a:srgbClr val="F6B6B6"/>
          </a:solidFill>
          <a:ln w="19050">
            <a:solidFill>
              <a:srgbClr val="FFFFFF"/>
            </a:solidFill>
            <a:prstDash val="solid"/>
          </a:ln>
        </p:spPr>
      </p:sp>
      <p:sp>
        <p:nvSpPr>
          <p:cNvPr id="37" name="Shape 35"/>
          <p:cNvSpPr/>
          <p:nvPr/>
        </p:nvSpPr>
        <p:spPr>
          <a:xfrm>
            <a:off x="3739896" y="4114800"/>
            <a:ext cx="960120" cy="411480"/>
          </a:xfrm>
          <a:prstGeom prst="rect">
            <a:avLst/>
          </a:prstGeom>
          <a:solidFill>
            <a:srgbClr val="FCE6B8"/>
          </a:solidFill>
          <a:ln w="19050">
            <a:solidFill>
              <a:srgbClr val="FFFFFF"/>
            </a:solidFill>
            <a:prstDash val="solid"/>
          </a:ln>
        </p:spPr>
      </p:sp>
      <p:sp>
        <p:nvSpPr>
          <p:cNvPr id="38" name="Shape 36"/>
          <p:cNvSpPr/>
          <p:nvPr/>
        </p:nvSpPr>
        <p:spPr>
          <a:xfrm>
            <a:off x="4764024" y="4114800"/>
            <a:ext cx="960120" cy="411480"/>
          </a:xfrm>
          <a:prstGeom prst="rect">
            <a:avLst/>
          </a:prstGeom>
          <a:solidFill>
            <a:srgbClr val="F6B6B6"/>
          </a:solidFill>
          <a:ln w="19050">
            <a:solidFill>
              <a:srgbClr val="FFFFFF"/>
            </a:solidFill>
            <a:prstDash val="solid"/>
          </a:ln>
        </p:spPr>
      </p:sp>
      <p:sp>
        <p:nvSpPr>
          <p:cNvPr id="39" name="Shape 37"/>
          <p:cNvSpPr/>
          <p:nvPr/>
        </p:nvSpPr>
        <p:spPr>
          <a:xfrm>
            <a:off x="5788152" y="4114800"/>
            <a:ext cx="960120" cy="411480"/>
          </a:xfrm>
          <a:prstGeom prst="rect">
            <a:avLst/>
          </a:prstGeom>
          <a:solidFill>
            <a:srgbClr val="F6B6B6"/>
          </a:solidFill>
          <a:ln w="19050">
            <a:solidFill>
              <a:srgbClr val="FFFFFF"/>
            </a:solidFill>
            <a:prstDash val="solid"/>
          </a:ln>
        </p:spPr>
      </p:sp>
      <p:sp>
        <p:nvSpPr>
          <p:cNvPr id="40" name="Text 38"/>
          <p:cNvSpPr/>
          <p:nvPr/>
        </p:nvSpPr>
        <p:spPr>
          <a:xfrm>
            <a:off x="548640" y="4553712"/>
            <a:ext cx="1143000" cy="475488"/>
          </a:xfrm>
          <a:prstGeom prst="rect">
            <a:avLst/>
          </a:prstGeom>
          <a:noFill/>
          <a:ln/>
        </p:spPr>
        <p:txBody>
          <a:bodyPr wrap="square" lIns="0" tIns="0" rIns="0" bIns="0" rtlCol="0" anchor="ctr"/>
          <a:lstStyle/>
          <a:p>
            <a:pPr indent="0" marL="0">
              <a:buNone/>
            </a:pPr>
            <a:r>
              <a:rPr lang="en-US" sz="1050" dirty="0">
                <a:solidFill>
                  <a:srgbClr val="3D4652"/>
                </a:solidFill>
                <a:latin typeface="Calibri" pitchFamily="34" charset="0"/>
                <a:ea typeface="Calibri" pitchFamily="34" charset="-122"/>
                <a:cs typeface="Calibri" pitchFamily="34" charset="-120"/>
              </a:rPr>
              <a:t>Consumer</a:t>
            </a:r>
            <a:endParaRPr lang="en-US" sz="1050" dirty="0"/>
          </a:p>
        </p:txBody>
      </p:sp>
      <p:sp>
        <p:nvSpPr>
          <p:cNvPr id="41" name="Shape 39"/>
          <p:cNvSpPr/>
          <p:nvPr/>
        </p:nvSpPr>
        <p:spPr>
          <a:xfrm>
            <a:off x="1691640" y="4590288"/>
            <a:ext cx="960120" cy="411480"/>
          </a:xfrm>
          <a:prstGeom prst="rect">
            <a:avLst/>
          </a:prstGeom>
          <a:solidFill>
            <a:srgbClr val="FCE6B8"/>
          </a:solidFill>
          <a:ln w="19050">
            <a:solidFill>
              <a:srgbClr val="FFFFFF"/>
            </a:solidFill>
            <a:prstDash val="solid"/>
          </a:ln>
        </p:spPr>
      </p:sp>
      <p:sp>
        <p:nvSpPr>
          <p:cNvPr id="42" name="Shape 40"/>
          <p:cNvSpPr/>
          <p:nvPr/>
        </p:nvSpPr>
        <p:spPr>
          <a:xfrm>
            <a:off x="2715768" y="4590288"/>
            <a:ext cx="960120" cy="411480"/>
          </a:xfrm>
          <a:prstGeom prst="rect">
            <a:avLst/>
          </a:prstGeom>
          <a:solidFill>
            <a:srgbClr val="F6B6B6"/>
          </a:solidFill>
          <a:ln w="19050">
            <a:solidFill>
              <a:srgbClr val="FFFFFF"/>
            </a:solidFill>
            <a:prstDash val="solid"/>
          </a:ln>
        </p:spPr>
      </p:sp>
      <p:sp>
        <p:nvSpPr>
          <p:cNvPr id="43" name="Shape 41"/>
          <p:cNvSpPr/>
          <p:nvPr/>
        </p:nvSpPr>
        <p:spPr>
          <a:xfrm>
            <a:off x="3739896" y="4590288"/>
            <a:ext cx="960120" cy="411480"/>
          </a:xfrm>
          <a:prstGeom prst="rect">
            <a:avLst/>
          </a:prstGeom>
          <a:solidFill>
            <a:srgbClr val="F6B6B6"/>
          </a:solidFill>
          <a:ln w="19050">
            <a:solidFill>
              <a:srgbClr val="FFFFFF"/>
            </a:solidFill>
            <a:prstDash val="solid"/>
          </a:ln>
        </p:spPr>
      </p:sp>
      <p:sp>
        <p:nvSpPr>
          <p:cNvPr id="44" name="Shape 42"/>
          <p:cNvSpPr/>
          <p:nvPr/>
        </p:nvSpPr>
        <p:spPr>
          <a:xfrm>
            <a:off x="4764024" y="4590288"/>
            <a:ext cx="960120" cy="411480"/>
          </a:xfrm>
          <a:prstGeom prst="rect">
            <a:avLst/>
          </a:prstGeom>
          <a:solidFill>
            <a:srgbClr val="FCE6B8"/>
          </a:solidFill>
          <a:ln w="19050">
            <a:solidFill>
              <a:srgbClr val="FFFFFF"/>
            </a:solidFill>
            <a:prstDash val="solid"/>
          </a:ln>
        </p:spPr>
      </p:sp>
      <p:sp>
        <p:nvSpPr>
          <p:cNvPr id="45" name="Shape 43"/>
          <p:cNvSpPr/>
          <p:nvPr/>
        </p:nvSpPr>
        <p:spPr>
          <a:xfrm>
            <a:off x="5788152" y="4590288"/>
            <a:ext cx="960120" cy="411480"/>
          </a:xfrm>
          <a:prstGeom prst="rect">
            <a:avLst/>
          </a:prstGeom>
          <a:solidFill>
            <a:srgbClr val="F6B6B6"/>
          </a:solidFill>
          <a:ln w="19050">
            <a:solidFill>
              <a:srgbClr val="FFFFFF"/>
            </a:solidFill>
            <a:prstDash val="solid"/>
          </a:ln>
        </p:spPr>
      </p:sp>
      <p:sp>
        <p:nvSpPr>
          <p:cNvPr id="46" name="Shape 44"/>
          <p:cNvSpPr/>
          <p:nvPr/>
        </p:nvSpPr>
        <p:spPr>
          <a:xfrm>
            <a:off x="548640" y="5212080"/>
            <a:ext cx="237744" cy="237744"/>
          </a:xfrm>
          <a:prstGeom prst="rect">
            <a:avLst/>
          </a:prstGeom>
          <a:solidFill>
            <a:srgbClr val="DDEFE0"/>
          </a:solidFill>
          <a:ln/>
        </p:spPr>
      </p:sp>
      <p:sp>
        <p:nvSpPr>
          <p:cNvPr id="47" name="Text 45"/>
          <p:cNvSpPr/>
          <p:nvPr/>
        </p:nvSpPr>
        <p:spPr>
          <a:xfrm>
            <a:off x="850392" y="5184648"/>
            <a:ext cx="1463040" cy="274320"/>
          </a:xfrm>
          <a:prstGeom prst="rect">
            <a:avLst/>
          </a:prstGeom>
          <a:noFill/>
          <a:ln/>
        </p:spPr>
        <p:txBody>
          <a:bodyPr wrap="square" lIns="0" tIns="0" rIns="0" bIns="0" rtlCol="0" anchor="ctr"/>
          <a:lstStyle/>
          <a:p>
            <a:pPr indent="0" marL="0">
              <a:buNone/>
            </a:pPr>
            <a:r>
              <a:rPr lang="en-US" sz="1000" dirty="0">
                <a:solidFill>
                  <a:srgbClr val="3D4652"/>
                </a:solidFill>
                <a:latin typeface="Calibri" pitchFamily="34" charset="0"/>
                <a:ea typeface="Calibri" pitchFamily="34" charset="-122"/>
                <a:cs typeface="Calibri" pitchFamily="34" charset="-120"/>
              </a:rPr>
              <a:t>Low Risk</a:t>
            </a:r>
            <a:endParaRPr lang="en-US" sz="1000" dirty="0"/>
          </a:p>
        </p:txBody>
      </p:sp>
      <p:sp>
        <p:nvSpPr>
          <p:cNvPr id="48" name="Shape 46"/>
          <p:cNvSpPr/>
          <p:nvPr/>
        </p:nvSpPr>
        <p:spPr>
          <a:xfrm>
            <a:off x="2423160" y="5212080"/>
            <a:ext cx="237744" cy="237744"/>
          </a:xfrm>
          <a:prstGeom prst="rect">
            <a:avLst/>
          </a:prstGeom>
          <a:solidFill>
            <a:srgbClr val="FCE6B8"/>
          </a:solidFill>
          <a:ln/>
        </p:spPr>
      </p:sp>
      <p:sp>
        <p:nvSpPr>
          <p:cNvPr id="49" name="Text 47"/>
          <p:cNvSpPr/>
          <p:nvPr/>
        </p:nvSpPr>
        <p:spPr>
          <a:xfrm>
            <a:off x="2724912" y="5184648"/>
            <a:ext cx="1463040" cy="274320"/>
          </a:xfrm>
          <a:prstGeom prst="rect">
            <a:avLst/>
          </a:prstGeom>
          <a:noFill/>
          <a:ln/>
        </p:spPr>
        <p:txBody>
          <a:bodyPr wrap="square" lIns="0" tIns="0" rIns="0" bIns="0" rtlCol="0" anchor="ctr"/>
          <a:lstStyle/>
          <a:p>
            <a:pPr indent="0" marL="0">
              <a:buNone/>
            </a:pPr>
            <a:r>
              <a:rPr lang="en-US" sz="1000" dirty="0">
                <a:solidFill>
                  <a:srgbClr val="3D4652"/>
                </a:solidFill>
                <a:latin typeface="Calibri" pitchFamily="34" charset="0"/>
                <a:ea typeface="Calibri" pitchFamily="34" charset="-122"/>
                <a:cs typeface="Calibri" pitchFamily="34" charset="-120"/>
              </a:rPr>
              <a:t>Medium Risk</a:t>
            </a:r>
            <a:endParaRPr lang="en-US" sz="1000" dirty="0"/>
          </a:p>
        </p:txBody>
      </p:sp>
      <p:sp>
        <p:nvSpPr>
          <p:cNvPr id="50" name="Shape 48"/>
          <p:cNvSpPr/>
          <p:nvPr/>
        </p:nvSpPr>
        <p:spPr>
          <a:xfrm>
            <a:off x="4297680" y="5212080"/>
            <a:ext cx="237744" cy="237744"/>
          </a:xfrm>
          <a:prstGeom prst="rect">
            <a:avLst/>
          </a:prstGeom>
          <a:solidFill>
            <a:srgbClr val="F6B6B6"/>
          </a:solidFill>
          <a:ln/>
        </p:spPr>
      </p:sp>
      <p:sp>
        <p:nvSpPr>
          <p:cNvPr id="51" name="Text 49"/>
          <p:cNvSpPr/>
          <p:nvPr/>
        </p:nvSpPr>
        <p:spPr>
          <a:xfrm>
            <a:off x="4599432" y="5184648"/>
            <a:ext cx="1463040" cy="274320"/>
          </a:xfrm>
          <a:prstGeom prst="rect">
            <a:avLst/>
          </a:prstGeom>
          <a:noFill/>
          <a:ln/>
        </p:spPr>
        <p:txBody>
          <a:bodyPr wrap="square" lIns="0" tIns="0" rIns="0" bIns="0" rtlCol="0" anchor="ctr"/>
          <a:lstStyle/>
          <a:p>
            <a:pPr indent="0" marL="0">
              <a:buNone/>
            </a:pPr>
            <a:r>
              <a:rPr lang="en-US" sz="1000" dirty="0">
                <a:solidFill>
                  <a:srgbClr val="3D4652"/>
                </a:solidFill>
                <a:latin typeface="Calibri" pitchFamily="34" charset="0"/>
                <a:ea typeface="Calibri" pitchFamily="34" charset="-122"/>
                <a:cs typeface="Calibri" pitchFamily="34" charset="-120"/>
              </a:rPr>
              <a:t>High Risk</a:t>
            </a:r>
            <a:endParaRPr lang="en-US" sz="1000" dirty="0"/>
          </a:p>
        </p:txBody>
      </p:sp>
      <p:sp>
        <p:nvSpPr>
          <p:cNvPr id="52" name="Shape 50"/>
          <p:cNvSpPr/>
          <p:nvPr/>
        </p:nvSpPr>
        <p:spPr>
          <a:xfrm>
            <a:off x="7635240" y="1691640"/>
            <a:ext cx="0" cy="4206240"/>
          </a:xfrm>
          <a:prstGeom prst="line">
            <a:avLst/>
          </a:prstGeom>
          <a:noFill/>
          <a:ln w="12700">
            <a:solidFill>
              <a:srgbClr val="E3E7EC"/>
            </a:solidFill>
            <a:prstDash val="solid"/>
          </a:ln>
        </p:spPr>
      </p:sp>
      <p:sp>
        <p:nvSpPr>
          <p:cNvPr id="53" name="Text 51"/>
          <p:cNvSpPr/>
          <p:nvPr/>
        </p:nvSpPr>
        <p:spPr>
          <a:xfrm>
            <a:off x="7863840" y="1691640"/>
            <a:ext cx="3749040" cy="274320"/>
          </a:xfrm>
          <a:prstGeom prst="rect">
            <a:avLst/>
          </a:prstGeom>
          <a:noFill/>
          <a:ln/>
        </p:spPr>
        <p:txBody>
          <a:bodyPr wrap="square" lIns="0" tIns="0" rIns="0" bIns="0" rtlCol="0" anchor="ctr"/>
          <a:lstStyle/>
          <a:p>
            <a:pPr indent="0" marL="0">
              <a:buNone/>
            </a:pPr>
            <a:r>
              <a:rPr lang="en-US" sz="1000" b="1" spc="120" kern="0" dirty="0">
                <a:solidFill>
                  <a:srgbClr val="1D8FD1"/>
                </a:solidFill>
                <a:latin typeface="Calibri" pitchFamily="34" charset="0"/>
                <a:ea typeface="Calibri" pitchFamily="34" charset="-122"/>
                <a:cs typeface="Calibri" pitchFamily="34" charset="-120"/>
              </a:rPr>
              <a:t>WHO THREATENS US, AND WHERE</a:t>
            </a:r>
            <a:endParaRPr lang="en-US" sz="1000" dirty="0"/>
          </a:p>
        </p:txBody>
      </p:sp>
      <p:sp>
        <p:nvSpPr>
          <p:cNvPr id="54" name="Text 52"/>
          <p:cNvSpPr/>
          <p:nvPr/>
        </p:nvSpPr>
        <p:spPr>
          <a:xfrm>
            <a:off x="7863840" y="2057400"/>
            <a:ext cx="3794760" cy="3657600"/>
          </a:xfrm>
          <a:prstGeom prst="rect">
            <a:avLst/>
          </a:prstGeom>
          <a:noFill/>
          <a:ln/>
        </p:spPr>
        <p:txBody>
          <a:bodyPr wrap="square" lIns="0" tIns="0" rIns="0" bIns="0" rtlCol="0" anchor="ctr"/>
          <a:lstStyle/>
          <a:p>
            <a:pPr marL="342900" indent="-342900">
              <a:lnSpc>
                <a:spcPts val="1350"/>
              </a:lnSpc>
              <a:spcAft>
                <a:spcPts val="1000"/>
              </a:spcAft>
              <a:buSzPct val="100000"/>
              <a:buChar char="•"/>
            </a:pPr>
            <a:r>
              <a:rPr lang="en-US" sz="1000" dirty="0">
                <a:solidFill>
                  <a:srgbClr val="3D4652"/>
                </a:solidFill>
                <a:latin typeface="Calibri" pitchFamily="34" charset="0"/>
                <a:ea typeface="Calibri" pitchFamily="34" charset="-122"/>
                <a:cs typeface="Calibri" pitchFamily="34" charset="-120"/>
              </a:rPr>
              <a:t>Steel, Cement, Mining: CJ Darcl's core strongholds — low exposure across all five peers.</a:t>
            </a:r>
            <a:endParaRPr lang="en-US" sz="1000" dirty="0"/>
          </a:p>
          <a:p>
            <a:pPr marL="342900" indent="-342900">
              <a:lnSpc>
                <a:spcPts val="1350"/>
              </a:lnSpc>
              <a:spcAft>
                <a:spcPts val="1000"/>
              </a:spcAft>
              <a:buSzPct val="100000"/>
              <a:buChar char="•"/>
            </a:pPr>
            <a:r>
              <a:rPr lang="en-US" sz="1000" dirty="0">
                <a:solidFill>
                  <a:srgbClr val="3D4652"/>
                </a:solidFill>
                <a:latin typeface="Calibri" pitchFamily="34" charset="0"/>
                <a:ea typeface="Calibri" pitchFamily="34" charset="-122"/>
                <a:cs typeface="Calibri" pitchFamily="34" charset="-120"/>
              </a:rPr>
              <a:t>Chemicals: emerging medium risk as multiple players build specialized capability.</a:t>
            </a:r>
            <a:endParaRPr lang="en-US" sz="1000" dirty="0"/>
          </a:p>
          <a:p>
            <a:pPr marL="342900" indent="-342900">
              <a:lnSpc>
                <a:spcPts val="1350"/>
              </a:lnSpc>
              <a:spcAft>
                <a:spcPts val="1000"/>
              </a:spcAft>
              <a:buSzPct val="100000"/>
              <a:buChar char="•"/>
            </a:pPr>
            <a:r>
              <a:rPr lang="en-US" sz="1000" dirty="0">
                <a:solidFill>
                  <a:srgbClr val="3D4652"/>
                </a:solidFill>
                <a:latin typeface="Calibri" pitchFamily="34" charset="0"/>
                <a:ea typeface="Calibri" pitchFamily="34" charset="-122"/>
                <a:cs typeface="Calibri" pitchFamily="34" charset="-120"/>
              </a:rPr>
              <a:t>Automotive &amp; Consumer: highest exposure — Mahindra, TVS SCS and DHL hold entrenched OEM/enterprise relationships CJ Darcl does not.</a:t>
            </a:r>
            <a:endParaRPr lang="en-US" sz="1000" dirty="0"/>
          </a:p>
        </p:txBody>
      </p:sp>
      <p:sp>
        <p:nvSpPr>
          <p:cNvPr id="55" name="Text 53"/>
          <p:cNvSpPr/>
          <p:nvPr/>
        </p:nvSpPr>
        <p:spPr>
          <a:xfrm>
            <a:off x="548640" y="6473952"/>
            <a:ext cx="9875520" cy="274320"/>
          </a:xfrm>
          <a:prstGeom prst="rect">
            <a:avLst/>
          </a:prstGeom>
          <a:noFill/>
          <a:ln/>
        </p:spPr>
        <p:txBody>
          <a:bodyPr wrap="square" lIns="0" tIns="0" rIns="0" bIns="0" rtlCol="0" anchor="ctr"/>
          <a:lstStyle/>
          <a:p>
            <a:pPr indent="0" marL="0">
              <a:buNone/>
            </a:pPr>
            <a:r>
              <a:rPr lang="en-US" sz="780" i="1" dirty="0">
                <a:solidFill>
                  <a:srgbClr val="6B7684"/>
                </a:solidFill>
                <a:latin typeface="Calibri" pitchFamily="34" charset="0"/>
                <a:ea typeface="Calibri" pitchFamily="34" charset="-122"/>
                <a:cs typeface="Calibri" pitchFamily="34" charset="-120"/>
              </a:rPr>
              <a:t>Source: CJ Darcl strategic analysis, based on competitor sector focus disclosed in company profiles and investor materials.</a:t>
            </a:r>
            <a:endParaRPr lang="en-US" sz="780" dirty="0"/>
          </a:p>
        </p:txBody>
      </p:sp>
      <p:sp>
        <p:nvSpPr>
          <p:cNvPr id="56" name="Text 54"/>
          <p:cNvSpPr/>
          <p:nvPr/>
        </p:nvSpPr>
        <p:spPr>
          <a:xfrm>
            <a:off x="11414455" y="6473952"/>
            <a:ext cx="45720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50" b="1" spc="200" kern="0" dirty="0">
                <a:solidFill>
                  <a:srgbClr val="1D8FD1"/>
                </a:solidFill>
                <a:latin typeface="Calibri" pitchFamily="34" charset="0"/>
                <a:ea typeface="Calibri" pitchFamily="34" charset="-122"/>
                <a:cs typeface="Calibri" pitchFamily="34" charset="-120"/>
              </a:rPr>
              <a:t>STRATEGY</a:t>
            </a:r>
            <a:endParaRPr lang="en-US" sz="1050" dirty="0"/>
          </a:p>
        </p:txBody>
      </p:sp>
      <p:sp>
        <p:nvSpPr>
          <p:cNvPr id="3" name="Text 1"/>
          <p:cNvSpPr/>
          <p:nvPr/>
        </p:nvSpPr>
        <p:spPr>
          <a:xfrm>
            <a:off x="548640" y="530352"/>
            <a:ext cx="10607040" cy="548640"/>
          </a:xfrm>
          <a:prstGeom prst="rect">
            <a:avLst/>
          </a:prstGeom>
          <a:noFill/>
          <a:ln/>
        </p:spPr>
        <p:txBody>
          <a:bodyPr wrap="square" lIns="0" tIns="0" rIns="0" bIns="0" rtlCol="0" anchor="ctr"/>
          <a:lstStyle/>
          <a:p>
            <a:pPr indent="0" marL="0">
              <a:buNone/>
            </a:pPr>
            <a:r>
              <a:rPr lang="en-US" sz="2300" b="1" dirty="0">
                <a:solidFill>
                  <a:srgbClr val="0B2A4A"/>
                </a:solidFill>
                <a:latin typeface="Cambria" pitchFamily="34" charset="0"/>
                <a:ea typeface="Cambria" pitchFamily="34" charset="-122"/>
                <a:cs typeface="Cambria" pitchFamily="34" charset="-120"/>
              </a:rPr>
              <a:t>Strategic White Spaces &amp; Positioning</a:t>
            </a:r>
            <a:endParaRPr lang="en-US" sz="2300" dirty="0"/>
          </a:p>
        </p:txBody>
      </p:sp>
      <p:sp>
        <p:nvSpPr>
          <p:cNvPr id="4" name="Text 2"/>
          <p:cNvSpPr/>
          <p:nvPr/>
        </p:nvSpPr>
        <p:spPr>
          <a:xfrm>
            <a:off x="548640" y="1371600"/>
            <a:ext cx="6766560" cy="274320"/>
          </a:xfrm>
          <a:prstGeom prst="rect">
            <a:avLst/>
          </a:prstGeom>
          <a:noFill/>
          <a:ln/>
        </p:spPr>
        <p:txBody>
          <a:bodyPr wrap="square" lIns="0" tIns="0" rIns="0" bIns="0" rtlCol="0" anchor="ctr"/>
          <a:lstStyle/>
          <a:p>
            <a:pPr indent="0" marL="0">
              <a:buNone/>
            </a:pPr>
            <a:r>
              <a:rPr lang="en-US" sz="1250" b="1" dirty="0">
                <a:solidFill>
                  <a:srgbClr val="0B2A4A"/>
                </a:solidFill>
                <a:latin typeface="Calibri" pitchFamily="34" charset="0"/>
                <a:ea typeface="Calibri" pitchFamily="34" charset="-122"/>
                <a:cs typeface="Calibri" pitchFamily="34" charset="-120"/>
              </a:rPr>
              <a:t>Where Can CJ Darcl Win?</a:t>
            </a:r>
            <a:endParaRPr lang="en-US" sz="1250" dirty="0"/>
          </a:p>
        </p:txBody>
      </p:sp>
      <p:sp>
        <p:nvSpPr>
          <p:cNvPr id="5" name="Shape 3"/>
          <p:cNvSpPr/>
          <p:nvPr/>
        </p:nvSpPr>
        <p:spPr>
          <a:xfrm>
            <a:off x="548640" y="1737360"/>
            <a:ext cx="2628900" cy="1371600"/>
          </a:xfrm>
          <a:prstGeom prst="roundRect">
            <a:avLst>
              <a:gd name="adj" fmla="val 5333"/>
            </a:avLst>
          </a:prstGeom>
          <a:solidFill>
            <a:srgbClr val="F6F8FA"/>
          </a:solidFill>
          <a:ln/>
          <a:effectLst>
            <a:outerShdw sx="100000" sy="100000" kx="0" ky="0" algn="bl" rotWithShape="0" blurRad="101600" dist="25400" dir="5400000">
              <a:srgbClr val="1A2B3C">
                <a:alpha val="10000"/>
              </a:srgbClr>
            </a:outerShdw>
          </a:effectLst>
        </p:spPr>
      </p:sp>
      <p:sp>
        <p:nvSpPr>
          <p:cNvPr id="6" name="Shape 4"/>
          <p:cNvSpPr/>
          <p:nvPr/>
        </p:nvSpPr>
        <p:spPr>
          <a:xfrm>
            <a:off x="1643634" y="1920240"/>
            <a:ext cx="438912" cy="438912"/>
          </a:xfrm>
          <a:prstGeom prst="ellipse">
            <a:avLst/>
          </a:prstGeom>
          <a:solidFill>
            <a:srgbClr val="F2901E"/>
          </a:solidFill>
          <a:ln/>
        </p:spPr>
      </p:sp>
      <p:pic>
        <p:nvPicPr>
          <p:cNvPr id="7" name="Image 0" descr="preencoded.png">    </p:cNvPr>
          <p:cNvPicPr>
            <a:picLocks noChangeAspect="1"/>
          </p:cNvPicPr>
          <p:nvPr/>
        </p:nvPicPr>
        <p:blipFill>
          <a:blip r:embed="rId1"/>
          <a:stretch>
            <a:fillRect/>
          </a:stretch>
        </p:blipFill>
        <p:spPr>
          <a:xfrm>
            <a:off x="1744218" y="2020824"/>
            <a:ext cx="237744" cy="237744"/>
          </a:xfrm>
          <a:prstGeom prst="rect">
            <a:avLst/>
          </a:prstGeom>
        </p:spPr>
      </p:pic>
      <p:sp>
        <p:nvSpPr>
          <p:cNvPr id="8" name="Text 5"/>
          <p:cNvSpPr/>
          <p:nvPr/>
        </p:nvSpPr>
        <p:spPr>
          <a:xfrm>
            <a:off x="621792" y="2450592"/>
            <a:ext cx="2482596" cy="594360"/>
          </a:xfrm>
          <a:prstGeom prst="rect">
            <a:avLst/>
          </a:prstGeom>
          <a:noFill/>
          <a:ln/>
        </p:spPr>
        <p:txBody>
          <a:bodyPr wrap="square" lIns="0" tIns="0" rIns="0" bIns="0" rtlCol="0" anchor="ctr"/>
          <a:lstStyle/>
          <a:p>
            <a:pPr algn="ctr" indent="0" marL="0">
              <a:lnSpc>
                <a:spcPts val="1300"/>
              </a:lnSpc>
              <a:buNone/>
            </a:pPr>
            <a:r>
              <a:rPr lang="en-US" sz="1050" b="1" dirty="0">
                <a:solidFill>
                  <a:srgbClr val="0B2A4A"/>
                </a:solidFill>
                <a:latin typeface="Calibri" pitchFamily="34" charset="0"/>
                <a:ea typeface="Calibri" pitchFamily="34" charset="-122"/>
                <a:cs typeface="Calibri" pitchFamily="34" charset="-120"/>
              </a:rPr>
              <a:t>Steel Logistics</a:t>
            </a:r>
            <a:endParaRPr lang="en-US" sz="1050" dirty="0"/>
          </a:p>
        </p:txBody>
      </p:sp>
      <p:sp>
        <p:nvSpPr>
          <p:cNvPr id="9" name="Shape 6"/>
          <p:cNvSpPr/>
          <p:nvPr/>
        </p:nvSpPr>
        <p:spPr>
          <a:xfrm>
            <a:off x="3360420" y="1737360"/>
            <a:ext cx="2628900" cy="1371600"/>
          </a:xfrm>
          <a:prstGeom prst="roundRect">
            <a:avLst>
              <a:gd name="adj" fmla="val 5333"/>
            </a:avLst>
          </a:prstGeom>
          <a:solidFill>
            <a:srgbClr val="F6F8FA"/>
          </a:solidFill>
          <a:ln/>
          <a:effectLst>
            <a:outerShdw sx="100000" sy="100000" kx="0" ky="0" algn="bl" rotWithShape="0" blurRad="101600" dist="25400" dir="5400000">
              <a:srgbClr val="1A2B3C">
                <a:alpha val="10000"/>
              </a:srgbClr>
            </a:outerShdw>
          </a:effectLst>
        </p:spPr>
      </p:sp>
      <p:sp>
        <p:nvSpPr>
          <p:cNvPr id="10" name="Shape 7"/>
          <p:cNvSpPr/>
          <p:nvPr/>
        </p:nvSpPr>
        <p:spPr>
          <a:xfrm>
            <a:off x="4455414" y="1920240"/>
            <a:ext cx="438912" cy="438912"/>
          </a:xfrm>
          <a:prstGeom prst="ellipse">
            <a:avLst/>
          </a:prstGeom>
          <a:solidFill>
            <a:srgbClr val="F2901E"/>
          </a:solidFill>
          <a:ln/>
        </p:spPr>
      </p:sp>
      <p:pic>
        <p:nvPicPr>
          <p:cNvPr id="11" name="Image 1" descr="preencoded.png">    </p:cNvPr>
          <p:cNvPicPr>
            <a:picLocks noChangeAspect="1"/>
          </p:cNvPicPr>
          <p:nvPr/>
        </p:nvPicPr>
        <p:blipFill>
          <a:blip r:embed="rId2"/>
          <a:stretch>
            <a:fillRect/>
          </a:stretch>
        </p:blipFill>
        <p:spPr>
          <a:xfrm>
            <a:off x="4555998" y="2020824"/>
            <a:ext cx="237744" cy="237744"/>
          </a:xfrm>
          <a:prstGeom prst="rect">
            <a:avLst/>
          </a:prstGeom>
        </p:spPr>
      </p:pic>
      <p:sp>
        <p:nvSpPr>
          <p:cNvPr id="12" name="Text 8"/>
          <p:cNvSpPr/>
          <p:nvPr/>
        </p:nvSpPr>
        <p:spPr>
          <a:xfrm>
            <a:off x="3433572" y="2450592"/>
            <a:ext cx="2482596" cy="594360"/>
          </a:xfrm>
          <a:prstGeom prst="rect">
            <a:avLst/>
          </a:prstGeom>
          <a:noFill/>
          <a:ln/>
        </p:spPr>
        <p:txBody>
          <a:bodyPr wrap="square" lIns="0" tIns="0" rIns="0" bIns="0" rtlCol="0" anchor="ctr"/>
          <a:lstStyle/>
          <a:p>
            <a:pPr algn="ctr" indent="0" marL="0">
              <a:lnSpc>
                <a:spcPts val="1300"/>
              </a:lnSpc>
              <a:buNone/>
            </a:pPr>
            <a:r>
              <a:rPr lang="en-US" sz="1050" b="1" dirty="0">
                <a:solidFill>
                  <a:srgbClr val="0B2A4A"/>
                </a:solidFill>
                <a:latin typeface="Calibri" pitchFamily="34" charset="0"/>
                <a:ea typeface="Calibri" pitchFamily="34" charset="-122"/>
                <a:cs typeface="Calibri" pitchFamily="34" charset="-120"/>
              </a:rPr>
              <a:t>Cement Logistics</a:t>
            </a:r>
            <a:endParaRPr lang="en-US" sz="1050" dirty="0"/>
          </a:p>
        </p:txBody>
      </p:sp>
      <p:sp>
        <p:nvSpPr>
          <p:cNvPr id="13" name="Shape 9"/>
          <p:cNvSpPr/>
          <p:nvPr/>
        </p:nvSpPr>
        <p:spPr>
          <a:xfrm>
            <a:off x="6172200" y="1737360"/>
            <a:ext cx="2628900" cy="1371600"/>
          </a:xfrm>
          <a:prstGeom prst="roundRect">
            <a:avLst>
              <a:gd name="adj" fmla="val 5333"/>
            </a:avLst>
          </a:prstGeom>
          <a:solidFill>
            <a:srgbClr val="F6F8FA"/>
          </a:solidFill>
          <a:ln/>
          <a:effectLst>
            <a:outerShdw sx="100000" sy="100000" kx="0" ky="0" algn="bl" rotWithShape="0" blurRad="101600" dist="25400" dir="5400000">
              <a:srgbClr val="1A2B3C">
                <a:alpha val="10000"/>
              </a:srgbClr>
            </a:outerShdw>
          </a:effectLst>
        </p:spPr>
      </p:sp>
      <p:sp>
        <p:nvSpPr>
          <p:cNvPr id="14" name="Shape 10"/>
          <p:cNvSpPr/>
          <p:nvPr/>
        </p:nvSpPr>
        <p:spPr>
          <a:xfrm>
            <a:off x="7267194" y="1920240"/>
            <a:ext cx="438912" cy="438912"/>
          </a:xfrm>
          <a:prstGeom prst="ellipse">
            <a:avLst/>
          </a:prstGeom>
          <a:solidFill>
            <a:srgbClr val="F2901E"/>
          </a:solidFill>
          <a:ln/>
        </p:spPr>
      </p:sp>
      <p:pic>
        <p:nvPicPr>
          <p:cNvPr id="15" name="Image 2" descr="preencoded.png">    </p:cNvPr>
          <p:cNvPicPr>
            <a:picLocks noChangeAspect="1"/>
          </p:cNvPicPr>
          <p:nvPr/>
        </p:nvPicPr>
        <p:blipFill>
          <a:blip r:embed="rId3"/>
          <a:stretch>
            <a:fillRect/>
          </a:stretch>
        </p:blipFill>
        <p:spPr>
          <a:xfrm>
            <a:off x="7367778" y="2020824"/>
            <a:ext cx="237744" cy="237744"/>
          </a:xfrm>
          <a:prstGeom prst="rect">
            <a:avLst/>
          </a:prstGeom>
        </p:spPr>
      </p:pic>
      <p:sp>
        <p:nvSpPr>
          <p:cNvPr id="16" name="Text 11"/>
          <p:cNvSpPr/>
          <p:nvPr/>
        </p:nvSpPr>
        <p:spPr>
          <a:xfrm>
            <a:off x="6245352" y="2450592"/>
            <a:ext cx="2482596" cy="594360"/>
          </a:xfrm>
          <a:prstGeom prst="rect">
            <a:avLst/>
          </a:prstGeom>
          <a:noFill/>
          <a:ln/>
        </p:spPr>
        <p:txBody>
          <a:bodyPr wrap="square" lIns="0" tIns="0" rIns="0" bIns="0" rtlCol="0" anchor="ctr"/>
          <a:lstStyle/>
          <a:p>
            <a:pPr algn="ctr" indent="0" marL="0">
              <a:lnSpc>
                <a:spcPts val="1300"/>
              </a:lnSpc>
              <a:buNone/>
            </a:pPr>
            <a:r>
              <a:rPr lang="en-US" sz="1050" b="1" dirty="0">
                <a:solidFill>
                  <a:srgbClr val="0B2A4A"/>
                </a:solidFill>
                <a:latin typeface="Calibri" pitchFamily="34" charset="0"/>
                <a:ea typeface="Calibri" pitchFamily="34" charset="-122"/>
                <a:cs typeface="Calibri" pitchFamily="34" charset="-120"/>
              </a:rPr>
              <a:t>Mining Logistics</a:t>
            </a:r>
            <a:endParaRPr lang="en-US" sz="1050" dirty="0"/>
          </a:p>
        </p:txBody>
      </p:sp>
      <p:sp>
        <p:nvSpPr>
          <p:cNvPr id="17" name="Shape 12"/>
          <p:cNvSpPr/>
          <p:nvPr/>
        </p:nvSpPr>
        <p:spPr>
          <a:xfrm>
            <a:off x="8983980" y="1737360"/>
            <a:ext cx="2628900" cy="1371600"/>
          </a:xfrm>
          <a:prstGeom prst="roundRect">
            <a:avLst>
              <a:gd name="adj" fmla="val 5333"/>
            </a:avLst>
          </a:prstGeom>
          <a:solidFill>
            <a:srgbClr val="F6F8FA"/>
          </a:solidFill>
          <a:ln/>
          <a:effectLst>
            <a:outerShdw sx="100000" sy="100000" kx="0" ky="0" algn="bl" rotWithShape="0" blurRad="101600" dist="25400" dir="5400000">
              <a:srgbClr val="1A2B3C">
                <a:alpha val="10000"/>
              </a:srgbClr>
            </a:outerShdw>
          </a:effectLst>
        </p:spPr>
      </p:sp>
      <p:sp>
        <p:nvSpPr>
          <p:cNvPr id="18" name="Shape 13"/>
          <p:cNvSpPr/>
          <p:nvPr/>
        </p:nvSpPr>
        <p:spPr>
          <a:xfrm>
            <a:off x="10078974" y="1920240"/>
            <a:ext cx="438912" cy="438912"/>
          </a:xfrm>
          <a:prstGeom prst="ellipse">
            <a:avLst/>
          </a:prstGeom>
          <a:solidFill>
            <a:srgbClr val="F2901E"/>
          </a:solidFill>
          <a:ln/>
        </p:spPr>
      </p:sp>
      <p:pic>
        <p:nvPicPr>
          <p:cNvPr id="19" name="Image 3" descr="preencoded.png">    </p:cNvPr>
          <p:cNvPicPr>
            <a:picLocks noChangeAspect="1"/>
          </p:cNvPicPr>
          <p:nvPr/>
        </p:nvPicPr>
        <p:blipFill>
          <a:blip r:embed="rId4"/>
          <a:stretch>
            <a:fillRect/>
          </a:stretch>
        </p:blipFill>
        <p:spPr>
          <a:xfrm>
            <a:off x="10179558" y="2020824"/>
            <a:ext cx="237744" cy="237744"/>
          </a:xfrm>
          <a:prstGeom prst="rect">
            <a:avLst/>
          </a:prstGeom>
        </p:spPr>
      </p:pic>
      <p:sp>
        <p:nvSpPr>
          <p:cNvPr id="20" name="Text 14"/>
          <p:cNvSpPr/>
          <p:nvPr/>
        </p:nvSpPr>
        <p:spPr>
          <a:xfrm>
            <a:off x="9057132" y="2450592"/>
            <a:ext cx="2482596" cy="594360"/>
          </a:xfrm>
          <a:prstGeom prst="rect">
            <a:avLst/>
          </a:prstGeom>
          <a:noFill/>
          <a:ln/>
        </p:spPr>
        <p:txBody>
          <a:bodyPr wrap="square" lIns="0" tIns="0" rIns="0" bIns="0" rtlCol="0" anchor="ctr"/>
          <a:lstStyle/>
          <a:p>
            <a:pPr algn="ctr" indent="0" marL="0">
              <a:lnSpc>
                <a:spcPts val="1300"/>
              </a:lnSpc>
              <a:buNone/>
            </a:pPr>
            <a:r>
              <a:rPr lang="en-US" sz="1050" b="1" dirty="0">
                <a:solidFill>
                  <a:srgbClr val="0B2A4A"/>
                </a:solidFill>
                <a:latin typeface="Calibri" pitchFamily="34" charset="0"/>
                <a:ea typeface="Calibri" pitchFamily="34" charset="-122"/>
                <a:cs typeface="Calibri" pitchFamily="34" charset="-120"/>
              </a:rPr>
              <a:t>Dedicated Fleet Contracts</a:t>
            </a:r>
            <a:endParaRPr lang="en-US" sz="1050" dirty="0"/>
          </a:p>
        </p:txBody>
      </p:sp>
      <p:sp>
        <p:nvSpPr>
          <p:cNvPr id="21" name="Shape 15"/>
          <p:cNvSpPr/>
          <p:nvPr/>
        </p:nvSpPr>
        <p:spPr>
          <a:xfrm>
            <a:off x="548640" y="3291840"/>
            <a:ext cx="3566160" cy="1371600"/>
          </a:xfrm>
          <a:prstGeom prst="roundRect">
            <a:avLst>
              <a:gd name="adj" fmla="val 5333"/>
            </a:avLst>
          </a:prstGeom>
          <a:solidFill>
            <a:srgbClr val="F6F8FA"/>
          </a:solidFill>
          <a:ln/>
          <a:effectLst>
            <a:outerShdw sx="100000" sy="100000" kx="0" ky="0" algn="bl" rotWithShape="0" blurRad="101600" dist="25400" dir="5400000">
              <a:srgbClr val="1A2B3C">
                <a:alpha val="10000"/>
              </a:srgbClr>
            </a:outerShdw>
          </a:effectLst>
        </p:spPr>
      </p:sp>
      <p:sp>
        <p:nvSpPr>
          <p:cNvPr id="22" name="Shape 16"/>
          <p:cNvSpPr/>
          <p:nvPr/>
        </p:nvSpPr>
        <p:spPr>
          <a:xfrm>
            <a:off x="2112264" y="3474720"/>
            <a:ext cx="438912" cy="438912"/>
          </a:xfrm>
          <a:prstGeom prst="ellipse">
            <a:avLst/>
          </a:prstGeom>
          <a:solidFill>
            <a:srgbClr val="F2901E"/>
          </a:solidFill>
          <a:ln/>
        </p:spPr>
      </p:sp>
      <p:pic>
        <p:nvPicPr>
          <p:cNvPr id="23" name="Image 4" descr="preencoded.png">    </p:cNvPr>
          <p:cNvPicPr>
            <a:picLocks noChangeAspect="1"/>
          </p:cNvPicPr>
          <p:nvPr/>
        </p:nvPicPr>
        <p:blipFill>
          <a:blip r:embed="rId5"/>
          <a:stretch>
            <a:fillRect/>
          </a:stretch>
        </p:blipFill>
        <p:spPr>
          <a:xfrm>
            <a:off x="2212848" y="3575304"/>
            <a:ext cx="237744" cy="237744"/>
          </a:xfrm>
          <a:prstGeom prst="rect">
            <a:avLst/>
          </a:prstGeom>
        </p:spPr>
      </p:pic>
      <p:sp>
        <p:nvSpPr>
          <p:cNvPr id="24" name="Text 17"/>
          <p:cNvSpPr/>
          <p:nvPr/>
        </p:nvSpPr>
        <p:spPr>
          <a:xfrm>
            <a:off x="621792" y="4005072"/>
            <a:ext cx="3419856" cy="594360"/>
          </a:xfrm>
          <a:prstGeom prst="rect">
            <a:avLst/>
          </a:prstGeom>
          <a:noFill/>
          <a:ln/>
        </p:spPr>
        <p:txBody>
          <a:bodyPr wrap="square" lIns="0" tIns="0" rIns="0" bIns="0" rtlCol="0" anchor="ctr"/>
          <a:lstStyle/>
          <a:p>
            <a:pPr algn="ctr" indent="0" marL="0">
              <a:lnSpc>
                <a:spcPts val="1300"/>
              </a:lnSpc>
              <a:buNone/>
            </a:pPr>
            <a:r>
              <a:rPr lang="en-US" sz="1050" b="1" dirty="0">
                <a:solidFill>
                  <a:srgbClr val="0B2A4A"/>
                </a:solidFill>
                <a:latin typeface="Calibri" pitchFamily="34" charset="0"/>
                <a:ea typeface="Calibri" pitchFamily="34" charset="-122"/>
                <a:cs typeface="Calibri" pitchFamily="34" charset="-120"/>
              </a:rPr>
              <a:t>Industrial Corridors</a:t>
            </a:r>
            <a:endParaRPr lang="en-US" sz="1050" dirty="0"/>
          </a:p>
        </p:txBody>
      </p:sp>
      <p:sp>
        <p:nvSpPr>
          <p:cNvPr id="25" name="Shape 18"/>
          <p:cNvSpPr/>
          <p:nvPr/>
        </p:nvSpPr>
        <p:spPr>
          <a:xfrm>
            <a:off x="4297680" y="3291840"/>
            <a:ext cx="3566160" cy="1371600"/>
          </a:xfrm>
          <a:prstGeom prst="roundRect">
            <a:avLst>
              <a:gd name="adj" fmla="val 5333"/>
            </a:avLst>
          </a:prstGeom>
          <a:solidFill>
            <a:srgbClr val="F6F8FA"/>
          </a:solidFill>
          <a:ln/>
          <a:effectLst>
            <a:outerShdw sx="100000" sy="100000" kx="0" ky="0" algn="bl" rotWithShape="0" blurRad="101600" dist="25400" dir="5400000">
              <a:srgbClr val="1A2B3C">
                <a:alpha val="10000"/>
              </a:srgbClr>
            </a:outerShdw>
          </a:effectLst>
        </p:spPr>
      </p:sp>
      <p:sp>
        <p:nvSpPr>
          <p:cNvPr id="26" name="Shape 19"/>
          <p:cNvSpPr/>
          <p:nvPr/>
        </p:nvSpPr>
        <p:spPr>
          <a:xfrm>
            <a:off x="5861304" y="3474720"/>
            <a:ext cx="438912" cy="438912"/>
          </a:xfrm>
          <a:prstGeom prst="ellipse">
            <a:avLst/>
          </a:prstGeom>
          <a:solidFill>
            <a:srgbClr val="F2901E"/>
          </a:solidFill>
          <a:ln/>
        </p:spPr>
      </p:sp>
      <p:pic>
        <p:nvPicPr>
          <p:cNvPr id="27" name="Image 5" descr="preencoded.png">    </p:cNvPr>
          <p:cNvPicPr>
            <a:picLocks noChangeAspect="1"/>
          </p:cNvPicPr>
          <p:nvPr/>
        </p:nvPicPr>
        <p:blipFill>
          <a:blip r:embed="rId6"/>
          <a:stretch>
            <a:fillRect/>
          </a:stretch>
        </p:blipFill>
        <p:spPr>
          <a:xfrm>
            <a:off x="5961888" y="3575304"/>
            <a:ext cx="237744" cy="237744"/>
          </a:xfrm>
          <a:prstGeom prst="rect">
            <a:avLst/>
          </a:prstGeom>
        </p:spPr>
      </p:pic>
      <p:sp>
        <p:nvSpPr>
          <p:cNvPr id="28" name="Text 20"/>
          <p:cNvSpPr/>
          <p:nvPr/>
        </p:nvSpPr>
        <p:spPr>
          <a:xfrm>
            <a:off x="4370832" y="4005072"/>
            <a:ext cx="3419856" cy="594360"/>
          </a:xfrm>
          <a:prstGeom prst="rect">
            <a:avLst/>
          </a:prstGeom>
          <a:noFill/>
          <a:ln/>
        </p:spPr>
        <p:txBody>
          <a:bodyPr wrap="square" lIns="0" tIns="0" rIns="0" bIns="0" rtlCol="0" anchor="ctr"/>
          <a:lstStyle/>
          <a:p>
            <a:pPr algn="ctr" indent="0" marL="0">
              <a:lnSpc>
                <a:spcPts val="1300"/>
              </a:lnSpc>
              <a:buNone/>
            </a:pPr>
            <a:r>
              <a:rPr lang="en-US" sz="1050" b="1" dirty="0">
                <a:solidFill>
                  <a:srgbClr val="0B2A4A"/>
                </a:solidFill>
                <a:latin typeface="Calibri" pitchFamily="34" charset="0"/>
                <a:ea typeface="Calibri" pitchFamily="34" charset="-122"/>
                <a:cs typeface="Calibri" pitchFamily="34" charset="-120"/>
              </a:rPr>
              <a:t>South India Expansion</a:t>
            </a:r>
            <a:endParaRPr lang="en-US" sz="1050" dirty="0"/>
          </a:p>
        </p:txBody>
      </p:sp>
      <p:sp>
        <p:nvSpPr>
          <p:cNvPr id="29" name="Shape 21"/>
          <p:cNvSpPr/>
          <p:nvPr/>
        </p:nvSpPr>
        <p:spPr>
          <a:xfrm>
            <a:off x="8046720" y="3291840"/>
            <a:ext cx="3566160" cy="1371600"/>
          </a:xfrm>
          <a:prstGeom prst="roundRect">
            <a:avLst>
              <a:gd name="adj" fmla="val 5333"/>
            </a:avLst>
          </a:prstGeom>
          <a:solidFill>
            <a:srgbClr val="F6F8FA"/>
          </a:solidFill>
          <a:ln/>
          <a:effectLst>
            <a:outerShdw sx="100000" sy="100000" kx="0" ky="0" algn="bl" rotWithShape="0" blurRad="101600" dist="25400" dir="5400000">
              <a:srgbClr val="1A2B3C">
                <a:alpha val="10000"/>
              </a:srgbClr>
            </a:outerShdw>
          </a:effectLst>
        </p:spPr>
      </p:sp>
      <p:sp>
        <p:nvSpPr>
          <p:cNvPr id="30" name="Shape 22"/>
          <p:cNvSpPr/>
          <p:nvPr/>
        </p:nvSpPr>
        <p:spPr>
          <a:xfrm>
            <a:off x="9610344" y="3474720"/>
            <a:ext cx="438912" cy="438912"/>
          </a:xfrm>
          <a:prstGeom prst="ellipse">
            <a:avLst/>
          </a:prstGeom>
          <a:solidFill>
            <a:srgbClr val="F2901E"/>
          </a:solidFill>
          <a:ln/>
        </p:spPr>
      </p:sp>
      <p:pic>
        <p:nvPicPr>
          <p:cNvPr id="31" name="Image 6" descr="preencoded.png">    </p:cNvPr>
          <p:cNvPicPr>
            <a:picLocks noChangeAspect="1"/>
          </p:cNvPicPr>
          <p:nvPr/>
        </p:nvPicPr>
        <p:blipFill>
          <a:blip r:embed="rId7"/>
          <a:stretch>
            <a:fillRect/>
          </a:stretch>
        </p:blipFill>
        <p:spPr>
          <a:xfrm>
            <a:off x="9710928" y="3575304"/>
            <a:ext cx="237744" cy="237744"/>
          </a:xfrm>
          <a:prstGeom prst="rect">
            <a:avLst/>
          </a:prstGeom>
        </p:spPr>
      </p:pic>
      <p:sp>
        <p:nvSpPr>
          <p:cNvPr id="32" name="Text 23"/>
          <p:cNvSpPr/>
          <p:nvPr/>
        </p:nvSpPr>
        <p:spPr>
          <a:xfrm>
            <a:off x="8119872" y="4005072"/>
            <a:ext cx="3419856" cy="594360"/>
          </a:xfrm>
          <a:prstGeom prst="rect">
            <a:avLst/>
          </a:prstGeom>
          <a:noFill/>
          <a:ln/>
        </p:spPr>
        <p:txBody>
          <a:bodyPr wrap="square" lIns="0" tIns="0" rIns="0" bIns="0" rtlCol="0" anchor="ctr"/>
          <a:lstStyle/>
          <a:p>
            <a:pPr algn="ctr" indent="0" marL="0">
              <a:lnSpc>
                <a:spcPts val="1300"/>
              </a:lnSpc>
              <a:buNone/>
            </a:pPr>
            <a:r>
              <a:rPr lang="en-US" sz="1050" b="1" dirty="0">
                <a:solidFill>
                  <a:srgbClr val="0B2A4A"/>
                </a:solidFill>
                <a:latin typeface="Calibri" pitchFamily="34" charset="0"/>
                <a:ea typeface="Calibri" pitchFamily="34" charset="-122"/>
                <a:cs typeface="Calibri" pitchFamily="34" charset="-120"/>
              </a:rPr>
              <a:t>Multimodal Solutions</a:t>
            </a:r>
            <a:endParaRPr lang="en-US" sz="1050" dirty="0"/>
          </a:p>
        </p:txBody>
      </p:sp>
      <p:sp>
        <p:nvSpPr>
          <p:cNvPr id="33" name="Shape 24"/>
          <p:cNvSpPr/>
          <p:nvPr/>
        </p:nvSpPr>
        <p:spPr>
          <a:xfrm>
            <a:off x="548640" y="5074920"/>
            <a:ext cx="11064240" cy="1234440"/>
          </a:xfrm>
          <a:prstGeom prst="roundRect">
            <a:avLst>
              <a:gd name="adj" fmla="val 5926"/>
            </a:avLst>
          </a:prstGeom>
          <a:solidFill>
            <a:srgbClr val="0B2A4A"/>
          </a:solidFill>
          <a:ln/>
          <a:effectLst>
            <a:outerShdw sx="100000" sy="100000" kx="0" ky="0" algn="bl" rotWithShape="0" blurRad="101600" dist="25400" dir="5400000">
              <a:srgbClr val="1A2B3C">
                <a:alpha val="10000"/>
              </a:srgbClr>
            </a:outerShdw>
          </a:effectLst>
        </p:spPr>
      </p:sp>
      <p:sp>
        <p:nvSpPr>
          <p:cNvPr id="34" name="Shape 25"/>
          <p:cNvSpPr/>
          <p:nvPr/>
        </p:nvSpPr>
        <p:spPr>
          <a:xfrm>
            <a:off x="822960" y="5349240"/>
            <a:ext cx="548640" cy="548640"/>
          </a:xfrm>
          <a:prstGeom prst="ellipse">
            <a:avLst/>
          </a:prstGeom>
          <a:solidFill>
            <a:srgbClr val="1D8FD1"/>
          </a:solidFill>
          <a:ln/>
        </p:spPr>
      </p:sp>
      <p:pic>
        <p:nvPicPr>
          <p:cNvPr id="35" name="Image 7" descr="preencoded.png">    </p:cNvPr>
          <p:cNvPicPr>
            <a:picLocks noChangeAspect="1"/>
          </p:cNvPicPr>
          <p:nvPr/>
        </p:nvPicPr>
        <p:blipFill>
          <a:blip r:embed="rId8"/>
          <a:stretch>
            <a:fillRect/>
          </a:stretch>
        </p:blipFill>
        <p:spPr>
          <a:xfrm>
            <a:off x="950976" y="5477256"/>
            <a:ext cx="292608" cy="292608"/>
          </a:xfrm>
          <a:prstGeom prst="rect">
            <a:avLst/>
          </a:prstGeom>
        </p:spPr>
      </p:pic>
      <p:sp>
        <p:nvSpPr>
          <p:cNvPr id="36" name="Text 26"/>
          <p:cNvSpPr/>
          <p:nvPr/>
        </p:nvSpPr>
        <p:spPr>
          <a:xfrm>
            <a:off x="1554480" y="5230368"/>
            <a:ext cx="9601200"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Strategic Positioning Insight</a:t>
            </a:r>
            <a:endParaRPr lang="en-US" sz="1300" dirty="0"/>
          </a:p>
        </p:txBody>
      </p:sp>
      <p:sp>
        <p:nvSpPr>
          <p:cNvPr id="37" name="Text 27"/>
          <p:cNvSpPr/>
          <p:nvPr/>
        </p:nvSpPr>
        <p:spPr>
          <a:xfrm>
            <a:off x="1554480" y="5532120"/>
            <a:ext cx="9784080" cy="731520"/>
          </a:xfrm>
          <a:prstGeom prst="rect">
            <a:avLst/>
          </a:prstGeom>
          <a:noFill/>
          <a:ln/>
        </p:spPr>
        <p:txBody>
          <a:bodyPr wrap="square" lIns="0" tIns="0" rIns="0" bIns="0" rtlCol="0" anchor="ctr"/>
          <a:lstStyle/>
          <a:p>
            <a:pPr indent="0" marL="0">
              <a:lnSpc>
                <a:spcPts val="1400"/>
              </a:lnSpc>
              <a:buNone/>
            </a:pPr>
            <a:r>
              <a:rPr lang="en-US" sz="1050" dirty="0">
                <a:solidFill>
                  <a:srgbClr val="D7E3EF"/>
                </a:solidFill>
                <a:latin typeface="Calibri" pitchFamily="34" charset="0"/>
                <a:ea typeface="Calibri" pitchFamily="34" charset="-122"/>
                <a:cs typeface="Calibri" pitchFamily="34" charset="-120"/>
              </a:rPr>
              <a:t>On an Industrial Expertise vs. Scale matrix, CJ Darcl occupies a differentiated position: high industrial specialization with sub-scale reach relative to TCI and Mahindra. This is a defensible niche, not a weakness to fix by chasing scale alone.</a:t>
            </a:r>
            <a:endParaRPr lang="en-US" sz="1050" dirty="0"/>
          </a:p>
        </p:txBody>
      </p:sp>
      <p:sp>
        <p:nvSpPr>
          <p:cNvPr id="38" name="Text 28"/>
          <p:cNvSpPr/>
          <p:nvPr/>
        </p:nvSpPr>
        <p:spPr>
          <a:xfrm>
            <a:off x="548640" y="6473952"/>
            <a:ext cx="9875520" cy="274320"/>
          </a:xfrm>
          <a:prstGeom prst="rect">
            <a:avLst/>
          </a:prstGeom>
          <a:noFill/>
          <a:ln/>
        </p:spPr>
        <p:txBody>
          <a:bodyPr wrap="square" lIns="0" tIns="0" rIns="0" bIns="0" rtlCol="0" anchor="ctr"/>
          <a:lstStyle/>
          <a:p>
            <a:pPr indent="0" marL="0">
              <a:buNone/>
            </a:pPr>
            <a:r>
              <a:rPr lang="en-US" sz="780" i="1" dirty="0">
                <a:solidFill>
                  <a:srgbClr val="6B7684"/>
                </a:solidFill>
                <a:latin typeface="Calibri" pitchFamily="34" charset="0"/>
                <a:ea typeface="Calibri" pitchFamily="34" charset="-122"/>
                <a:cs typeface="Calibri" pitchFamily="34" charset="-120"/>
              </a:rPr>
              <a:t>Source: CJ Darcl strategic analysis.</a:t>
            </a:r>
            <a:endParaRPr lang="en-US" sz="780" dirty="0"/>
          </a:p>
        </p:txBody>
      </p:sp>
      <p:sp>
        <p:nvSpPr>
          <p:cNvPr id="39" name="Text 29"/>
          <p:cNvSpPr/>
          <p:nvPr/>
        </p:nvSpPr>
        <p:spPr>
          <a:xfrm>
            <a:off x="11414455" y="6473952"/>
            <a:ext cx="45720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229600" cy="256032"/>
          </a:xfrm>
          <a:prstGeom prst="rect">
            <a:avLst/>
          </a:prstGeom>
          <a:noFill/>
          <a:ln/>
        </p:spPr>
        <p:txBody>
          <a:bodyPr wrap="square" lIns="0" tIns="0" rIns="0" bIns="0" rtlCol="0" anchor="ctr"/>
          <a:lstStyle/>
          <a:p>
            <a:pPr indent="0" marL="0">
              <a:buNone/>
            </a:pPr>
            <a:r>
              <a:rPr lang="en-US" sz="1050" b="1" spc="200" kern="0" dirty="0">
                <a:solidFill>
                  <a:srgbClr val="1D8FD1"/>
                </a:solidFill>
                <a:latin typeface="Calibri" pitchFamily="34" charset="0"/>
                <a:ea typeface="Calibri" pitchFamily="34" charset="-122"/>
                <a:cs typeface="Calibri" pitchFamily="34" charset="-120"/>
              </a:rPr>
              <a:t>RECOMMENDATIONS</a:t>
            </a:r>
            <a:endParaRPr lang="en-US" sz="1050" dirty="0"/>
          </a:p>
        </p:txBody>
      </p:sp>
      <p:sp>
        <p:nvSpPr>
          <p:cNvPr id="3" name="Text 1"/>
          <p:cNvSpPr/>
          <p:nvPr/>
        </p:nvSpPr>
        <p:spPr>
          <a:xfrm>
            <a:off x="548640" y="530352"/>
            <a:ext cx="10607040" cy="548640"/>
          </a:xfrm>
          <a:prstGeom prst="rect">
            <a:avLst/>
          </a:prstGeom>
          <a:noFill/>
          <a:ln/>
        </p:spPr>
        <p:txBody>
          <a:bodyPr wrap="square" lIns="0" tIns="0" rIns="0" bIns="0" rtlCol="0" anchor="ctr"/>
          <a:lstStyle/>
          <a:p>
            <a:pPr indent="0" marL="0">
              <a:buNone/>
            </a:pPr>
            <a:r>
              <a:rPr lang="en-US" sz="2400" b="1" dirty="0">
                <a:solidFill>
                  <a:srgbClr val="0B2A4A"/>
                </a:solidFill>
                <a:latin typeface="Cambria" pitchFamily="34" charset="0"/>
                <a:ea typeface="Cambria" pitchFamily="34" charset="-122"/>
                <a:cs typeface="Cambria" pitchFamily="34" charset="-120"/>
              </a:rPr>
              <a:t>Strategic Recommendations</a:t>
            </a:r>
            <a:endParaRPr lang="en-US" sz="2400" dirty="0"/>
          </a:p>
        </p:txBody>
      </p:sp>
      <p:sp>
        <p:nvSpPr>
          <p:cNvPr id="4" name="Shape 2"/>
          <p:cNvSpPr/>
          <p:nvPr/>
        </p:nvSpPr>
        <p:spPr>
          <a:xfrm>
            <a:off x="548640" y="1463040"/>
            <a:ext cx="5417820" cy="2240280"/>
          </a:xfrm>
          <a:prstGeom prst="roundRect">
            <a:avLst>
              <a:gd name="adj" fmla="val 3265"/>
            </a:avLst>
          </a:prstGeom>
          <a:solidFill>
            <a:srgbClr val="F6F8FA"/>
          </a:solidFill>
          <a:ln/>
          <a:effectLst>
            <a:outerShdw sx="100000" sy="100000" kx="0" ky="0" algn="bl" rotWithShape="0" blurRad="101600" dist="25400" dir="5400000">
              <a:srgbClr val="1A2B3C">
                <a:alpha val="10000"/>
              </a:srgbClr>
            </a:outerShdw>
          </a:effectLst>
        </p:spPr>
      </p:sp>
      <p:sp>
        <p:nvSpPr>
          <p:cNvPr id="5" name="Shape 3"/>
          <p:cNvSpPr/>
          <p:nvPr/>
        </p:nvSpPr>
        <p:spPr>
          <a:xfrm>
            <a:off x="822960" y="1719072"/>
            <a:ext cx="502920" cy="502920"/>
          </a:xfrm>
          <a:prstGeom prst="ellipse">
            <a:avLst/>
          </a:prstGeom>
          <a:solidFill>
            <a:srgbClr val="1D8FD1"/>
          </a:solidFill>
          <a:ln/>
        </p:spPr>
      </p:sp>
      <p:pic>
        <p:nvPicPr>
          <p:cNvPr id="6" name="Image 0" descr="preencoded.png">    </p:cNvPr>
          <p:cNvPicPr>
            <a:picLocks noChangeAspect="1"/>
          </p:cNvPicPr>
          <p:nvPr/>
        </p:nvPicPr>
        <p:blipFill>
          <a:blip r:embed="rId1"/>
          <a:stretch>
            <a:fillRect/>
          </a:stretch>
        </p:blipFill>
        <p:spPr>
          <a:xfrm>
            <a:off x="941832" y="1837944"/>
            <a:ext cx="265176" cy="265176"/>
          </a:xfrm>
          <a:prstGeom prst="rect">
            <a:avLst/>
          </a:prstGeom>
        </p:spPr>
      </p:pic>
      <p:sp>
        <p:nvSpPr>
          <p:cNvPr id="7" name="Text 4"/>
          <p:cNvSpPr/>
          <p:nvPr/>
        </p:nvSpPr>
        <p:spPr>
          <a:xfrm>
            <a:off x="1463040" y="1737360"/>
            <a:ext cx="4320540" cy="457200"/>
          </a:xfrm>
          <a:prstGeom prst="rect">
            <a:avLst/>
          </a:prstGeom>
          <a:noFill/>
          <a:ln/>
        </p:spPr>
        <p:txBody>
          <a:bodyPr wrap="square" lIns="0" tIns="0" rIns="0" bIns="0" rtlCol="0" anchor="ctr"/>
          <a:lstStyle/>
          <a:p>
            <a:pPr indent="0" marL="0">
              <a:buNone/>
            </a:pPr>
            <a:r>
              <a:rPr lang="en-US" sz="1800" b="1" dirty="0">
                <a:solidFill>
                  <a:srgbClr val="0B2A4A"/>
                </a:solidFill>
                <a:latin typeface="Cambria" pitchFamily="34" charset="0"/>
                <a:ea typeface="Cambria" pitchFamily="34" charset="-122"/>
                <a:cs typeface="Cambria" pitchFamily="34" charset="-120"/>
              </a:rPr>
              <a:t>Defend</a:t>
            </a:r>
            <a:endParaRPr lang="en-US" sz="1800" dirty="0"/>
          </a:p>
        </p:txBody>
      </p:sp>
      <p:sp>
        <p:nvSpPr>
          <p:cNvPr id="8" name="Text 5"/>
          <p:cNvSpPr/>
          <p:nvPr/>
        </p:nvSpPr>
        <p:spPr>
          <a:xfrm>
            <a:off x="841248" y="2377440"/>
            <a:ext cx="4869180" cy="1234440"/>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3D4652"/>
                </a:solidFill>
                <a:latin typeface="Calibri" pitchFamily="34" charset="0"/>
                <a:ea typeface="Calibri" pitchFamily="34" charset="-122"/>
                <a:cs typeface="Calibri" pitchFamily="34" charset="-120"/>
              </a:rPr>
              <a:t>Steel</a:t>
            </a:r>
            <a:endParaRPr lang="en-US" sz="1250" dirty="0"/>
          </a:p>
          <a:p>
            <a:pPr marL="342900" indent="-342900">
              <a:lnSpc>
                <a:spcPts val="1600"/>
              </a:lnSpc>
              <a:spcAft>
                <a:spcPts val="600"/>
              </a:spcAft>
              <a:buSzPct val="100000"/>
              <a:buChar char="•"/>
            </a:pPr>
            <a:r>
              <a:rPr lang="en-US" sz="1250" dirty="0">
                <a:solidFill>
                  <a:srgbClr val="3D4652"/>
                </a:solidFill>
                <a:latin typeface="Calibri" pitchFamily="34" charset="0"/>
                <a:ea typeface="Calibri" pitchFamily="34" charset="-122"/>
                <a:cs typeface="Calibri" pitchFamily="34" charset="-120"/>
              </a:rPr>
              <a:t>Cement</a:t>
            </a:r>
            <a:endParaRPr lang="en-US" sz="1250" dirty="0"/>
          </a:p>
          <a:p>
            <a:pPr marL="342900" indent="-342900">
              <a:lnSpc>
                <a:spcPts val="1600"/>
              </a:lnSpc>
              <a:spcAft>
                <a:spcPts val="600"/>
              </a:spcAft>
              <a:buSzPct val="100000"/>
              <a:buChar char="•"/>
            </a:pPr>
            <a:r>
              <a:rPr lang="en-US" sz="1250" dirty="0">
                <a:solidFill>
                  <a:srgbClr val="3D4652"/>
                </a:solidFill>
                <a:latin typeface="Calibri" pitchFamily="34" charset="0"/>
                <a:ea typeface="Calibri" pitchFamily="34" charset="-122"/>
                <a:cs typeface="Calibri" pitchFamily="34" charset="-120"/>
              </a:rPr>
              <a:t>Mining</a:t>
            </a:r>
            <a:endParaRPr lang="en-US" sz="1250" dirty="0"/>
          </a:p>
        </p:txBody>
      </p:sp>
      <p:sp>
        <p:nvSpPr>
          <p:cNvPr id="9" name="Shape 6"/>
          <p:cNvSpPr/>
          <p:nvPr/>
        </p:nvSpPr>
        <p:spPr>
          <a:xfrm>
            <a:off x="6195060" y="1463040"/>
            <a:ext cx="5417820" cy="2240280"/>
          </a:xfrm>
          <a:prstGeom prst="roundRect">
            <a:avLst>
              <a:gd name="adj" fmla="val 3265"/>
            </a:avLst>
          </a:prstGeom>
          <a:solidFill>
            <a:srgbClr val="F6F8FA"/>
          </a:solidFill>
          <a:ln/>
          <a:effectLst>
            <a:outerShdw sx="100000" sy="100000" kx="0" ky="0" algn="bl" rotWithShape="0" blurRad="101600" dist="25400" dir="5400000">
              <a:srgbClr val="1A2B3C">
                <a:alpha val="10000"/>
              </a:srgbClr>
            </a:outerShdw>
          </a:effectLst>
        </p:spPr>
      </p:sp>
      <p:sp>
        <p:nvSpPr>
          <p:cNvPr id="10" name="Shape 7"/>
          <p:cNvSpPr/>
          <p:nvPr/>
        </p:nvSpPr>
        <p:spPr>
          <a:xfrm>
            <a:off x="6469380" y="1719072"/>
            <a:ext cx="502920" cy="502920"/>
          </a:xfrm>
          <a:prstGeom prst="ellipse">
            <a:avLst/>
          </a:prstGeom>
          <a:solidFill>
            <a:srgbClr val="F2901E"/>
          </a:solidFill>
          <a:ln/>
        </p:spPr>
      </p:sp>
      <p:pic>
        <p:nvPicPr>
          <p:cNvPr id="11" name="Image 1" descr="preencoded.png">    </p:cNvPr>
          <p:cNvPicPr>
            <a:picLocks noChangeAspect="1"/>
          </p:cNvPicPr>
          <p:nvPr/>
        </p:nvPicPr>
        <p:blipFill>
          <a:blip r:embed="rId2"/>
          <a:stretch>
            <a:fillRect/>
          </a:stretch>
        </p:blipFill>
        <p:spPr>
          <a:xfrm>
            <a:off x="6588252" y="1837944"/>
            <a:ext cx="265176" cy="265176"/>
          </a:xfrm>
          <a:prstGeom prst="rect">
            <a:avLst/>
          </a:prstGeom>
        </p:spPr>
      </p:pic>
      <p:sp>
        <p:nvSpPr>
          <p:cNvPr id="12" name="Text 8"/>
          <p:cNvSpPr/>
          <p:nvPr/>
        </p:nvSpPr>
        <p:spPr>
          <a:xfrm>
            <a:off x="7109460" y="1737360"/>
            <a:ext cx="4320540" cy="457200"/>
          </a:xfrm>
          <a:prstGeom prst="rect">
            <a:avLst/>
          </a:prstGeom>
          <a:noFill/>
          <a:ln/>
        </p:spPr>
        <p:txBody>
          <a:bodyPr wrap="square" lIns="0" tIns="0" rIns="0" bIns="0" rtlCol="0" anchor="ctr"/>
          <a:lstStyle/>
          <a:p>
            <a:pPr indent="0" marL="0">
              <a:buNone/>
            </a:pPr>
            <a:r>
              <a:rPr lang="en-US" sz="1800" b="1" dirty="0">
                <a:solidFill>
                  <a:srgbClr val="0B2A4A"/>
                </a:solidFill>
                <a:latin typeface="Cambria" pitchFamily="34" charset="0"/>
                <a:ea typeface="Cambria" pitchFamily="34" charset="-122"/>
                <a:cs typeface="Cambria" pitchFamily="34" charset="-120"/>
              </a:rPr>
              <a:t>Expand</a:t>
            </a:r>
            <a:endParaRPr lang="en-US" sz="1800" dirty="0"/>
          </a:p>
        </p:txBody>
      </p:sp>
      <p:sp>
        <p:nvSpPr>
          <p:cNvPr id="13" name="Text 9"/>
          <p:cNvSpPr/>
          <p:nvPr/>
        </p:nvSpPr>
        <p:spPr>
          <a:xfrm>
            <a:off x="6487668" y="2377440"/>
            <a:ext cx="4869180" cy="1234440"/>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3D4652"/>
                </a:solidFill>
                <a:latin typeface="Calibri" pitchFamily="34" charset="0"/>
                <a:ea typeface="Calibri" pitchFamily="34" charset="-122"/>
                <a:cs typeface="Calibri" pitchFamily="34" charset="-120"/>
              </a:rPr>
              <a:t>South India</a:t>
            </a:r>
            <a:endParaRPr lang="en-US" sz="1250" dirty="0"/>
          </a:p>
          <a:p>
            <a:pPr marL="342900" indent="-342900">
              <a:lnSpc>
                <a:spcPts val="1600"/>
              </a:lnSpc>
              <a:spcAft>
                <a:spcPts val="600"/>
              </a:spcAft>
              <a:buSzPct val="100000"/>
              <a:buChar char="•"/>
            </a:pPr>
            <a:r>
              <a:rPr lang="en-US" sz="1250" dirty="0">
                <a:solidFill>
                  <a:srgbClr val="3D4652"/>
                </a:solidFill>
                <a:latin typeface="Calibri" pitchFamily="34" charset="0"/>
                <a:ea typeface="Calibri" pitchFamily="34" charset="-122"/>
                <a:cs typeface="Calibri" pitchFamily="34" charset="-120"/>
              </a:rPr>
              <a:t>Dedicated transportation</a:t>
            </a:r>
            <a:endParaRPr lang="en-US" sz="1250" dirty="0"/>
          </a:p>
        </p:txBody>
      </p:sp>
      <p:sp>
        <p:nvSpPr>
          <p:cNvPr id="14" name="Shape 10"/>
          <p:cNvSpPr/>
          <p:nvPr/>
        </p:nvSpPr>
        <p:spPr>
          <a:xfrm>
            <a:off x="548640" y="3931920"/>
            <a:ext cx="5417820" cy="2240280"/>
          </a:xfrm>
          <a:prstGeom prst="roundRect">
            <a:avLst>
              <a:gd name="adj" fmla="val 3265"/>
            </a:avLst>
          </a:prstGeom>
          <a:solidFill>
            <a:srgbClr val="F6F8FA"/>
          </a:solidFill>
          <a:ln/>
          <a:effectLst>
            <a:outerShdw sx="100000" sy="100000" kx="0" ky="0" algn="bl" rotWithShape="0" blurRad="101600" dist="25400" dir="5400000">
              <a:srgbClr val="1A2B3C">
                <a:alpha val="10000"/>
              </a:srgbClr>
            </a:outerShdw>
          </a:effectLst>
        </p:spPr>
      </p:sp>
      <p:sp>
        <p:nvSpPr>
          <p:cNvPr id="15" name="Shape 11"/>
          <p:cNvSpPr/>
          <p:nvPr/>
        </p:nvSpPr>
        <p:spPr>
          <a:xfrm>
            <a:off x="822960" y="4187952"/>
            <a:ext cx="502920" cy="502920"/>
          </a:xfrm>
          <a:prstGeom prst="ellipse">
            <a:avLst/>
          </a:prstGeom>
          <a:solidFill>
            <a:srgbClr val="E23A5E"/>
          </a:solidFill>
          <a:ln/>
        </p:spPr>
      </p:sp>
      <p:pic>
        <p:nvPicPr>
          <p:cNvPr id="16" name="Image 2" descr="preencoded.png">    </p:cNvPr>
          <p:cNvPicPr>
            <a:picLocks noChangeAspect="1"/>
          </p:cNvPicPr>
          <p:nvPr/>
        </p:nvPicPr>
        <p:blipFill>
          <a:blip r:embed="rId3"/>
          <a:stretch>
            <a:fillRect/>
          </a:stretch>
        </p:blipFill>
        <p:spPr>
          <a:xfrm>
            <a:off x="941832" y="4306824"/>
            <a:ext cx="265176" cy="265176"/>
          </a:xfrm>
          <a:prstGeom prst="rect">
            <a:avLst/>
          </a:prstGeom>
        </p:spPr>
      </p:pic>
      <p:sp>
        <p:nvSpPr>
          <p:cNvPr id="17" name="Text 12"/>
          <p:cNvSpPr/>
          <p:nvPr/>
        </p:nvSpPr>
        <p:spPr>
          <a:xfrm>
            <a:off x="1463040" y="4206240"/>
            <a:ext cx="4320540" cy="457200"/>
          </a:xfrm>
          <a:prstGeom prst="rect">
            <a:avLst/>
          </a:prstGeom>
          <a:noFill/>
          <a:ln/>
        </p:spPr>
        <p:txBody>
          <a:bodyPr wrap="square" lIns="0" tIns="0" rIns="0" bIns="0" rtlCol="0" anchor="ctr"/>
          <a:lstStyle/>
          <a:p>
            <a:pPr indent="0" marL="0">
              <a:buNone/>
            </a:pPr>
            <a:r>
              <a:rPr lang="en-US" sz="1800" b="1" dirty="0">
                <a:solidFill>
                  <a:srgbClr val="0B2A4A"/>
                </a:solidFill>
                <a:latin typeface="Cambria" pitchFamily="34" charset="0"/>
                <a:ea typeface="Cambria" pitchFamily="34" charset="-122"/>
                <a:cs typeface="Cambria" pitchFamily="34" charset="-120"/>
              </a:rPr>
              <a:t>Differentiate</a:t>
            </a:r>
            <a:endParaRPr lang="en-US" sz="1800" dirty="0"/>
          </a:p>
        </p:txBody>
      </p:sp>
      <p:sp>
        <p:nvSpPr>
          <p:cNvPr id="18" name="Text 13"/>
          <p:cNvSpPr/>
          <p:nvPr/>
        </p:nvSpPr>
        <p:spPr>
          <a:xfrm>
            <a:off x="841248" y="4846320"/>
            <a:ext cx="4869180" cy="1234440"/>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3D4652"/>
                </a:solidFill>
                <a:latin typeface="Calibri" pitchFamily="34" charset="0"/>
                <a:ea typeface="Calibri" pitchFamily="34" charset="-122"/>
                <a:cs typeface="Calibri" pitchFamily="34" charset="-120"/>
              </a:rPr>
              <a:t>Industrial expertise</a:t>
            </a:r>
            <a:endParaRPr lang="en-US" sz="1250" dirty="0"/>
          </a:p>
          <a:p>
            <a:pPr marL="342900" indent="-342900">
              <a:lnSpc>
                <a:spcPts val="1600"/>
              </a:lnSpc>
              <a:spcAft>
                <a:spcPts val="600"/>
              </a:spcAft>
              <a:buSzPct val="100000"/>
              <a:buChar char="•"/>
            </a:pPr>
            <a:r>
              <a:rPr lang="en-US" sz="1250" dirty="0">
                <a:solidFill>
                  <a:srgbClr val="3D4652"/>
                </a:solidFill>
                <a:latin typeface="Calibri" pitchFamily="34" charset="0"/>
                <a:ea typeface="Calibri" pitchFamily="34" charset="-122"/>
                <a:cs typeface="Calibri" pitchFamily="34" charset="-120"/>
              </a:rPr>
              <a:t>Multimodal integration</a:t>
            </a:r>
            <a:endParaRPr lang="en-US" sz="1250" dirty="0"/>
          </a:p>
          <a:p>
            <a:pPr marL="342900" indent="-342900">
              <a:lnSpc>
                <a:spcPts val="1600"/>
              </a:lnSpc>
              <a:spcAft>
                <a:spcPts val="600"/>
              </a:spcAft>
              <a:buSzPct val="100000"/>
              <a:buChar char="•"/>
            </a:pPr>
            <a:r>
              <a:rPr lang="en-US" sz="1250" dirty="0">
                <a:solidFill>
                  <a:srgbClr val="3D4652"/>
                </a:solidFill>
                <a:latin typeface="Calibri" pitchFamily="34" charset="0"/>
                <a:ea typeface="Calibri" pitchFamily="34" charset="-122"/>
                <a:cs typeface="Calibri" pitchFamily="34" charset="-120"/>
              </a:rPr>
              <a:t>Reliability</a:t>
            </a:r>
            <a:endParaRPr lang="en-US" sz="1250" dirty="0"/>
          </a:p>
        </p:txBody>
      </p:sp>
      <p:sp>
        <p:nvSpPr>
          <p:cNvPr id="19" name="Shape 14"/>
          <p:cNvSpPr/>
          <p:nvPr/>
        </p:nvSpPr>
        <p:spPr>
          <a:xfrm>
            <a:off x="6195060" y="3931920"/>
            <a:ext cx="5417820" cy="2240280"/>
          </a:xfrm>
          <a:prstGeom prst="roundRect">
            <a:avLst>
              <a:gd name="adj" fmla="val 3265"/>
            </a:avLst>
          </a:prstGeom>
          <a:solidFill>
            <a:srgbClr val="F6F8FA"/>
          </a:solidFill>
          <a:ln/>
          <a:effectLst>
            <a:outerShdw sx="100000" sy="100000" kx="0" ky="0" algn="bl" rotWithShape="0" blurRad="101600" dist="25400" dir="5400000">
              <a:srgbClr val="1A2B3C">
                <a:alpha val="10000"/>
              </a:srgbClr>
            </a:outerShdw>
          </a:effectLst>
        </p:spPr>
      </p:sp>
      <p:sp>
        <p:nvSpPr>
          <p:cNvPr id="20" name="Shape 15"/>
          <p:cNvSpPr/>
          <p:nvPr/>
        </p:nvSpPr>
        <p:spPr>
          <a:xfrm>
            <a:off x="6469380" y="4187952"/>
            <a:ext cx="502920" cy="502920"/>
          </a:xfrm>
          <a:prstGeom prst="ellipse">
            <a:avLst/>
          </a:prstGeom>
          <a:solidFill>
            <a:srgbClr val="0B2A4A"/>
          </a:solidFill>
          <a:ln/>
        </p:spPr>
      </p:sp>
      <p:pic>
        <p:nvPicPr>
          <p:cNvPr id="21" name="Image 3" descr="preencoded.png">    </p:cNvPr>
          <p:cNvPicPr>
            <a:picLocks noChangeAspect="1"/>
          </p:cNvPicPr>
          <p:nvPr/>
        </p:nvPicPr>
        <p:blipFill>
          <a:blip r:embed="rId4"/>
          <a:stretch>
            <a:fillRect/>
          </a:stretch>
        </p:blipFill>
        <p:spPr>
          <a:xfrm>
            <a:off x="6588252" y="4306824"/>
            <a:ext cx="265176" cy="265176"/>
          </a:xfrm>
          <a:prstGeom prst="rect">
            <a:avLst/>
          </a:prstGeom>
        </p:spPr>
      </p:pic>
      <p:sp>
        <p:nvSpPr>
          <p:cNvPr id="22" name="Text 16"/>
          <p:cNvSpPr/>
          <p:nvPr/>
        </p:nvSpPr>
        <p:spPr>
          <a:xfrm>
            <a:off x="7109460" y="4206240"/>
            <a:ext cx="4320540" cy="457200"/>
          </a:xfrm>
          <a:prstGeom prst="rect">
            <a:avLst/>
          </a:prstGeom>
          <a:noFill/>
          <a:ln/>
        </p:spPr>
        <p:txBody>
          <a:bodyPr wrap="square" lIns="0" tIns="0" rIns="0" bIns="0" rtlCol="0" anchor="ctr"/>
          <a:lstStyle/>
          <a:p>
            <a:pPr indent="0" marL="0">
              <a:buNone/>
            </a:pPr>
            <a:r>
              <a:rPr lang="en-US" sz="1800" b="1" dirty="0">
                <a:solidFill>
                  <a:srgbClr val="0B2A4A"/>
                </a:solidFill>
                <a:latin typeface="Cambria" pitchFamily="34" charset="0"/>
                <a:ea typeface="Cambria" pitchFamily="34" charset="-122"/>
                <a:cs typeface="Cambria" pitchFamily="34" charset="-120"/>
              </a:rPr>
              <a:t>Invest</a:t>
            </a:r>
            <a:endParaRPr lang="en-US" sz="1800" dirty="0"/>
          </a:p>
        </p:txBody>
      </p:sp>
      <p:sp>
        <p:nvSpPr>
          <p:cNvPr id="23" name="Text 17"/>
          <p:cNvSpPr/>
          <p:nvPr/>
        </p:nvSpPr>
        <p:spPr>
          <a:xfrm>
            <a:off x="6487668" y="4846320"/>
            <a:ext cx="4869180" cy="1234440"/>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3D4652"/>
                </a:solidFill>
                <a:latin typeface="Calibri" pitchFamily="34" charset="0"/>
                <a:ea typeface="Calibri" pitchFamily="34" charset="-122"/>
                <a:cs typeface="Calibri" pitchFamily="34" charset="-120"/>
              </a:rPr>
              <a:t>Technology</a:t>
            </a:r>
            <a:endParaRPr lang="en-US" sz="1250" dirty="0"/>
          </a:p>
          <a:p>
            <a:pPr marL="342900" indent="-342900">
              <a:lnSpc>
                <a:spcPts val="1600"/>
              </a:lnSpc>
              <a:spcAft>
                <a:spcPts val="600"/>
              </a:spcAft>
              <a:buSzPct val="100000"/>
              <a:buChar char="•"/>
            </a:pPr>
            <a:r>
              <a:rPr lang="en-US" sz="1250" dirty="0">
                <a:solidFill>
                  <a:srgbClr val="3D4652"/>
                </a:solidFill>
                <a:latin typeface="Calibri" pitchFamily="34" charset="0"/>
                <a:ea typeface="Calibri" pitchFamily="34" charset="-122"/>
                <a:cs typeface="Calibri" pitchFamily="34" charset="-120"/>
              </a:rPr>
              <a:t>Key account management</a:t>
            </a:r>
            <a:endParaRPr lang="en-US" sz="1250" dirty="0"/>
          </a:p>
        </p:txBody>
      </p:sp>
      <p:sp>
        <p:nvSpPr>
          <p:cNvPr id="24" name="Text 18"/>
          <p:cNvSpPr/>
          <p:nvPr/>
        </p:nvSpPr>
        <p:spPr>
          <a:xfrm>
            <a:off x="548640" y="6473952"/>
            <a:ext cx="9875520" cy="274320"/>
          </a:xfrm>
          <a:prstGeom prst="rect">
            <a:avLst/>
          </a:prstGeom>
          <a:noFill/>
          <a:ln/>
        </p:spPr>
        <p:txBody>
          <a:bodyPr wrap="square" lIns="0" tIns="0" rIns="0" bIns="0" rtlCol="0" anchor="ctr"/>
          <a:lstStyle/>
          <a:p>
            <a:pPr indent="0" marL="0">
              <a:buNone/>
            </a:pPr>
            <a:r>
              <a:rPr lang="en-US" sz="780" i="1" dirty="0">
                <a:solidFill>
                  <a:srgbClr val="6B7684"/>
                </a:solidFill>
                <a:latin typeface="Calibri" pitchFamily="34" charset="0"/>
                <a:ea typeface="Calibri" pitchFamily="34" charset="-122"/>
                <a:cs typeface="Calibri" pitchFamily="34" charset="-120"/>
              </a:rPr>
              <a:t>Source: CJ Darcl strategic analysis and recommendations.</a:t>
            </a:r>
            <a:endParaRPr lang="en-US" sz="780" dirty="0"/>
          </a:p>
        </p:txBody>
      </p:sp>
      <p:sp>
        <p:nvSpPr>
          <p:cNvPr id="25" name="Text 19"/>
          <p:cNvSpPr/>
          <p:nvPr/>
        </p:nvSpPr>
        <p:spPr>
          <a:xfrm>
            <a:off x="11414455" y="6473952"/>
            <a:ext cx="457200" cy="274320"/>
          </a:xfrm>
          <a:prstGeom prst="rect">
            <a:avLst/>
          </a:prstGeom>
          <a:noFill/>
          <a:ln/>
        </p:spPr>
        <p:txBody>
          <a:bodyPr wrap="square" lIns="0" tIns="0" rIns="0" bIns="0" rtlCol="0" anchor="ctr"/>
          <a:lstStyle/>
          <a:p>
            <a:pPr algn="r" indent="0" marL="0">
              <a:buNone/>
            </a:pPr>
            <a:r>
              <a:rPr lang="en-US" sz="900" dirty="0">
                <a:solidFill>
                  <a:srgbClr val="6B768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A4A"/>
        </a:solidFill>
      </p:bgPr>
    </p:bg>
    <p:spTree>
      <p:nvGrpSpPr>
        <p:cNvPr id="1" name=""/>
        <p:cNvGrpSpPr/>
        <p:nvPr/>
      </p:nvGrpSpPr>
      <p:grpSpPr>
        <a:xfrm>
          <a:off x="0" y="0"/>
          <a:ext cx="0" cy="0"/>
          <a:chOff x="0" y="0"/>
          <a:chExt cx="0" cy="0"/>
        </a:xfrm>
      </p:grpSpPr>
      <p:sp>
        <p:nvSpPr>
          <p:cNvPr id="2" name="Shape 0"/>
          <p:cNvSpPr/>
          <p:nvPr/>
        </p:nvSpPr>
        <p:spPr>
          <a:xfrm>
            <a:off x="9966960" y="-1371600"/>
            <a:ext cx="4114800" cy="4114800"/>
          </a:xfrm>
          <a:prstGeom prst="ellipse">
            <a:avLst/>
          </a:prstGeom>
          <a:solidFill>
            <a:srgbClr val="1D8FD1">
              <a:alpha val="10000"/>
            </a:srgbClr>
          </a:solidFill>
          <a:ln/>
        </p:spPr>
      </p:sp>
      <p:sp>
        <p:nvSpPr>
          <p:cNvPr id="3" name="Shape 1"/>
          <p:cNvSpPr/>
          <p:nvPr/>
        </p:nvSpPr>
        <p:spPr>
          <a:xfrm>
            <a:off x="-1463040" y="4937760"/>
            <a:ext cx="3291840" cy="3291840"/>
          </a:xfrm>
          <a:prstGeom prst="ellipse">
            <a:avLst/>
          </a:prstGeom>
          <a:solidFill>
            <a:srgbClr val="E23A5E">
              <a:alpha val="8000"/>
            </a:srgbClr>
          </a:solidFill>
          <a:ln/>
        </p:spPr>
      </p:sp>
      <p:sp>
        <p:nvSpPr>
          <p:cNvPr id="4" name="Text 2"/>
          <p:cNvSpPr/>
          <p:nvPr/>
        </p:nvSpPr>
        <p:spPr>
          <a:xfrm>
            <a:off x="548640" y="411480"/>
            <a:ext cx="5486400" cy="274320"/>
          </a:xfrm>
          <a:prstGeom prst="rect">
            <a:avLst/>
          </a:prstGeom>
          <a:noFill/>
          <a:ln/>
        </p:spPr>
        <p:txBody>
          <a:bodyPr wrap="square" lIns="0" tIns="0" rIns="0" bIns="0" rtlCol="0" anchor="ctr"/>
          <a:lstStyle/>
          <a:p>
            <a:pPr indent="0" marL="0">
              <a:buNone/>
            </a:pPr>
            <a:r>
              <a:rPr lang="en-US" sz="1100" b="1" spc="300" kern="0" dirty="0">
                <a:solidFill>
                  <a:srgbClr val="F2901E"/>
                </a:solidFill>
                <a:latin typeface="Calibri" pitchFamily="34" charset="0"/>
                <a:ea typeface="Calibri" pitchFamily="34" charset="-122"/>
                <a:cs typeface="Calibri" pitchFamily="34" charset="-120"/>
              </a:rPr>
              <a:t>FINAL CONCLUSION</a:t>
            </a:r>
            <a:endParaRPr lang="en-US" sz="1100" dirty="0"/>
          </a:p>
        </p:txBody>
      </p:sp>
      <p:sp>
        <p:nvSpPr>
          <p:cNvPr id="5" name="Text 3"/>
          <p:cNvSpPr/>
          <p:nvPr/>
        </p:nvSpPr>
        <p:spPr>
          <a:xfrm>
            <a:off x="548640" y="685800"/>
            <a:ext cx="96012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Where Does CJ Darcl Stand?</a:t>
            </a:r>
            <a:endParaRPr lang="en-US" sz="2500" dirty="0"/>
          </a:p>
        </p:txBody>
      </p:sp>
      <p:sp>
        <p:nvSpPr>
          <p:cNvPr id="6" name="Text 4"/>
          <p:cNvSpPr/>
          <p:nvPr/>
        </p:nvSpPr>
        <p:spPr>
          <a:xfrm>
            <a:off x="548640" y="1298448"/>
            <a:ext cx="3246120" cy="443484"/>
          </a:xfrm>
          <a:prstGeom prst="rect">
            <a:avLst/>
          </a:prstGeom>
          <a:noFill/>
          <a:ln/>
        </p:spPr>
        <p:txBody>
          <a:bodyPr wrap="square" lIns="0" tIns="0" rIns="0" bIns="0" rtlCol="0" anchor="ctr"/>
          <a:lstStyle/>
          <a:p>
            <a:pPr indent="0" marL="0">
              <a:buNone/>
            </a:pPr>
            <a:r>
              <a:rPr lang="en-US" sz="1050" b="1" dirty="0">
                <a:solidFill>
                  <a:srgbClr val="1D8FD1"/>
                </a:solidFill>
                <a:latin typeface="Calibri" pitchFamily="34" charset="0"/>
                <a:ea typeface="Calibri" pitchFamily="34" charset="-122"/>
                <a:cs typeface="Calibri" pitchFamily="34" charset="-120"/>
              </a:rPr>
              <a:t>Who competes with us?</a:t>
            </a:r>
            <a:endParaRPr lang="en-US" sz="1050" dirty="0"/>
          </a:p>
        </p:txBody>
      </p:sp>
      <p:sp>
        <p:nvSpPr>
          <p:cNvPr id="7" name="Text 5"/>
          <p:cNvSpPr/>
          <p:nvPr/>
        </p:nvSpPr>
        <p:spPr>
          <a:xfrm>
            <a:off x="3886200" y="1298448"/>
            <a:ext cx="8138160" cy="443484"/>
          </a:xfrm>
          <a:prstGeom prst="rect">
            <a:avLst/>
          </a:prstGeom>
          <a:noFill/>
          <a:ln/>
        </p:spPr>
        <p:txBody>
          <a:bodyPr wrap="square" lIns="0" tIns="0" rIns="0" bIns="0" rtlCol="0" anchor="ctr"/>
          <a:lstStyle/>
          <a:p>
            <a:pPr indent="0" marL="0">
              <a:lnSpc>
                <a:spcPts val="1300"/>
              </a:lnSpc>
              <a:buNone/>
            </a:pPr>
            <a:r>
              <a:rPr lang="en-US" sz="1050" dirty="0">
                <a:solidFill>
                  <a:srgbClr val="E7EEF6"/>
                </a:solidFill>
                <a:latin typeface="Calibri" pitchFamily="34" charset="0"/>
                <a:ea typeface="Calibri" pitchFamily="34" charset="-122"/>
                <a:cs typeface="Calibri" pitchFamily="34" charset="-120"/>
              </a:rPr>
              <a:t>TCI Freight, Mahindra Logistics, Safexpress, TVS SCS, DHL Supply Chain (direct)</a:t>
            </a:r>
            <a:endParaRPr lang="en-US" sz="1050" dirty="0"/>
          </a:p>
        </p:txBody>
      </p:sp>
      <p:sp>
        <p:nvSpPr>
          <p:cNvPr id="8" name="Text 6"/>
          <p:cNvSpPr/>
          <p:nvPr/>
        </p:nvSpPr>
        <p:spPr>
          <a:xfrm>
            <a:off x="548640" y="1741932"/>
            <a:ext cx="3246120" cy="443484"/>
          </a:xfrm>
          <a:prstGeom prst="rect">
            <a:avLst/>
          </a:prstGeom>
          <a:noFill/>
          <a:ln/>
        </p:spPr>
        <p:txBody>
          <a:bodyPr wrap="square" lIns="0" tIns="0" rIns="0" bIns="0" rtlCol="0" anchor="ctr"/>
          <a:lstStyle/>
          <a:p>
            <a:pPr indent="0" marL="0">
              <a:buNone/>
            </a:pPr>
            <a:r>
              <a:rPr lang="en-US" sz="1050" b="1" dirty="0">
                <a:solidFill>
                  <a:srgbClr val="1D8FD1"/>
                </a:solidFill>
                <a:latin typeface="Calibri" pitchFamily="34" charset="0"/>
                <a:ea typeface="Calibri" pitchFamily="34" charset="-122"/>
                <a:cs typeface="Calibri" pitchFamily="34" charset="-120"/>
              </a:rPr>
              <a:t>How do they win?</a:t>
            </a:r>
            <a:endParaRPr lang="en-US" sz="1050" dirty="0"/>
          </a:p>
        </p:txBody>
      </p:sp>
      <p:sp>
        <p:nvSpPr>
          <p:cNvPr id="9" name="Text 7"/>
          <p:cNvSpPr/>
          <p:nvPr/>
        </p:nvSpPr>
        <p:spPr>
          <a:xfrm>
            <a:off x="3886200" y="1741932"/>
            <a:ext cx="8138160" cy="443484"/>
          </a:xfrm>
          <a:prstGeom prst="rect">
            <a:avLst/>
          </a:prstGeom>
          <a:noFill/>
          <a:ln/>
        </p:spPr>
        <p:txBody>
          <a:bodyPr wrap="square" lIns="0" tIns="0" rIns="0" bIns="0" rtlCol="0" anchor="ctr"/>
          <a:lstStyle/>
          <a:p>
            <a:pPr indent="0" marL="0">
              <a:lnSpc>
                <a:spcPts val="1300"/>
              </a:lnSpc>
              <a:buNone/>
            </a:pPr>
            <a:r>
              <a:rPr lang="en-US" sz="1050" dirty="0">
                <a:solidFill>
                  <a:srgbClr val="E7EEF6"/>
                </a:solidFill>
                <a:latin typeface="Calibri" pitchFamily="34" charset="0"/>
                <a:ea typeface="Calibri" pitchFamily="34" charset="-122"/>
                <a:cs typeface="Calibri" pitchFamily="34" charset="-120"/>
              </a:rPr>
              <a:t>Network density, pricing, customer relationships and sector specialization</a:t>
            </a:r>
            <a:endParaRPr lang="en-US" sz="1050" dirty="0"/>
          </a:p>
        </p:txBody>
      </p:sp>
      <p:sp>
        <p:nvSpPr>
          <p:cNvPr id="10" name="Text 8"/>
          <p:cNvSpPr/>
          <p:nvPr/>
        </p:nvSpPr>
        <p:spPr>
          <a:xfrm>
            <a:off x="548640" y="2185416"/>
            <a:ext cx="3246120" cy="443484"/>
          </a:xfrm>
          <a:prstGeom prst="rect">
            <a:avLst/>
          </a:prstGeom>
          <a:noFill/>
          <a:ln/>
        </p:spPr>
        <p:txBody>
          <a:bodyPr wrap="square" lIns="0" tIns="0" rIns="0" bIns="0" rtlCol="0" anchor="ctr"/>
          <a:lstStyle/>
          <a:p>
            <a:pPr indent="0" marL="0">
              <a:buNone/>
            </a:pPr>
            <a:r>
              <a:rPr lang="en-US" sz="1050" b="1" dirty="0">
                <a:solidFill>
                  <a:srgbClr val="1D8FD1"/>
                </a:solidFill>
                <a:latin typeface="Calibri" pitchFamily="34" charset="0"/>
                <a:ea typeface="Calibri" pitchFamily="34" charset="-122"/>
                <a:cs typeface="Calibri" pitchFamily="34" charset="-120"/>
              </a:rPr>
              <a:t>How are they performing?</a:t>
            </a:r>
            <a:endParaRPr lang="en-US" sz="1050" dirty="0"/>
          </a:p>
        </p:txBody>
      </p:sp>
      <p:sp>
        <p:nvSpPr>
          <p:cNvPr id="11" name="Text 9"/>
          <p:cNvSpPr/>
          <p:nvPr/>
        </p:nvSpPr>
        <p:spPr>
          <a:xfrm>
            <a:off x="3886200" y="2185416"/>
            <a:ext cx="8138160" cy="443484"/>
          </a:xfrm>
          <a:prstGeom prst="rect">
            <a:avLst/>
          </a:prstGeom>
          <a:noFill/>
          <a:ln/>
        </p:spPr>
        <p:txBody>
          <a:bodyPr wrap="square" lIns="0" tIns="0" rIns="0" bIns="0" rtlCol="0" anchor="ctr"/>
          <a:lstStyle/>
          <a:p>
            <a:pPr indent="0" marL="0">
              <a:lnSpc>
                <a:spcPts val="1300"/>
              </a:lnSpc>
              <a:buNone/>
            </a:pPr>
            <a:r>
              <a:rPr lang="en-US" sz="1050" dirty="0">
                <a:solidFill>
                  <a:srgbClr val="E7EEF6"/>
                </a:solidFill>
                <a:latin typeface="Calibri" pitchFamily="34" charset="0"/>
                <a:ea typeface="Calibri" pitchFamily="34" charset="-122"/>
                <a:cs typeface="Calibri" pitchFamily="34" charset="-120"/>
              </a:rPr>
              <a:t>Mixed: TCI leads on margin (10.3%); Mahindra &amp; TVS SCS remain loss-making</a:t>
            </a:r>
            <a:endParaRPr lang="en-US" sz="1050" dirty="0"/>
          </a:p>
        </p:txBody>
      </p:sp>
      <p:sp>
        <p:nvSpPr>
          <p:cNvPr id="12" name="Text 10"/>
          <p:cNvSpPr/>
          <p:nvPr/>
        </p:nvSpPr>
        <p:spPr>
          <a:xfrm>
            <a:off x="548640" y="2628900"/>
            <a:ext cx="3246120" cy="443484"/>
          </a:xfrm>
          <a:prstGeom prst="rect">
            <a:avLst/>
          </a:prstGeom>
          <a:noFill/>
          <a:ln/>
        </p:spPr>
        <p:txBody>
          <a:bodyPr wrap="square" lIns="0" tIns="0" rIns="0" bIns="0" rtlCol="0" anchor="ctr"/>
          <a:lstStyle/>
          <a:p>
            <a:pPr indent="0" marL="0">
              <a:buNone/>
            </a:pPr>
            <a:r>
              <a:rPr lang="en-US" sz="1050" b="1" dirty="0">
                <a:solidFill>
                  <a:srgbClr val="1D8FD1"/>
                </a:solidFill>
                <a:latin typeface="Calibri" pitchFamily="34" charset="0"/>
                <a:ea typeface="Calibri" pitchFamily="34" charset="-122"/>
                <a:cs typeface="Calibri" pitchFamily="34" charset="-120"/>
              </a:rPr>
              <a:t>Where are they strong?</a:t>
            </a:r>
            <a:endParaRPr lang="en-US" sz="1050" dirty="0"/>
          </a:p>
        </p:txBody>
      </p:sp>
      <p:sp>
        <p:nvSpPr>
          <p:cNvPr id="13" name="Text 11"/>
          <p:cNvSpPr/>
          <p:nvPr/>
        </p:nvSpPr>
        <p:spPr>
          <a:xfrm>
            <a:off x="3886200" y="2628900"/>
            <a:ext cx="8138160" cy="443484"/>
          </a:xfrm>
          <a:prstGeom prst="rect">
            <a:avLst/>
          </a:prstGeom>
          <a:noFill/>
          <a:ln/>
        </p:spPr>
        <p:txBody>
          <a:bodyPr wrap="square" lIns="0" tIns="0" rIns="0" bIns="0" rtlCol="0" anchor="ctr"/>
          <a:lstStyle/>
          <a:p>
            <a:pPr indent="0" marL="0">
              <a:lnSpc>
                <a:spcPts val="1300"/>
              </a:lnSpc>
              <a:buNone/>
            </a:pPr>
            <a:r>
              <a:rPr lang="en-US" sz="1050" dirty="0">
                <a:solidFill>
                  <a:srgbClr val="E7EEF6"/>
                </a:solidFill>
                <a:latin typeface="Calibri" pitchFamily="34" charset="0"/>
                <a:ea typeface="Calibri" pitchFamily="34" charset="-122"/>
                <a:cs typeface="Calibri" pitchFamily="34" charset="-120"/>
              </a:rPr>
              <a:t>Automotive, enterprise contracts and broad national network reach</a:t>
            </a:r>
            <a:endParaRPr lang="en-US" sz="1050" dirty="0"/>
          </a:p>
        </p:txBody>
      </p:sp>
      <p:sp>
        <p:nvSpPr>
          <p:cNvPr id="14" name="Text 12"/>
          <p:cNvSpPr/>
          <p:nvPr/>
        </p:nvSpPr>
        <p:spPr>
          <a:xfrm>
            <a:off x="548640" y="3072384"/>
            <a:ext cx="3246120" cy="443484"/>
          </a:xfrm>
          <a:prstGeom prst="rect">
            <a:avLst/>
          </a:prstGeom>
          <a:noFill/>
          <a:ln/>
        </p:spPr>
        <p:txBody>
          <a:bodyPr wrap="square" lIns="0" tIns="0" rIns="0" bIns="0" rtlCol="0" anchor="ctr"/>
          <a:lstStyle/>
          <a:p>
            <a:pPr indent="0" marL="0">
              <a:buNone/>
            </a:pPr>
            <a:r>
              <a:rPr lang="en-US" sz="1050" b="1" dirty="0">
                <a:solidFill>
                  <a:srgbClr val="1D8FD1"/>
                </a:solidFill>
                <a:latin typeface="Calibri" pitchFamily="34" charset="0"/>
                <a:ea typeface="Calibri" pitchFamily="34" charset="-122"/>
                <a:cs typeface="Calibri" pitchFamily="34" charset="-120"/>
              </a:rPr>
              <a:t>Where are they weak?</a:t>
            </a:r>
            <a:endParaRPr lang="en-US" sz="1050" dirty="0"/>
          </a:p>
        </p:txBody>
      </p:sp>
      <p:sp>
        <p:nvSpPr>
          <p:cNvPr id="15" name="Text 13"/>
          <p:cNvSpPr/>
          <p:nvPr/>
        </p:nvSpPr>
        <p:spPr>
          <a:xfrm>
            <a:off x="3886200" y="3072384"/>
            <a:ext cx="8138160" cy="443484"/>
          </a:xfrm>
          <a:prstGeom prst="rect">
            <a:avLst/>
          </a:prstGeom>
          <a:noFill/>
          <a:ln/>
        </p:spPr>
        <p:txBody>
          <a:bodyPr wrap="square" lIns="0" tIns="0" rIns="0" bIns="0" rtlCol="0" anchor="ctr"/>
          <a:lstStyle/>
          <a:p>
            <a:pPr indent="0" marL="0">
              <a:lnSpc>
                <a:spcPts val="1300"/>
              </a:lnSpc>
              <a:buNone/>
            </a:pPr>
            <a:r>
              <a:rPr lang="en-US" sz="1050" dirty="0">
                <a:solidFill>
                  <a:srgbClr val="E7EEF6"/>
                </a:solidFill>
                <a:latin typeface="Calibri" pitchFamily="34" charset="0"/>
                <a:ea typeface="Calibri" pitchFamily="34" charset="-122"/>
                <a:cs typeface="Calibri" pitchFamily="34" charset="-120"/>
              </a:rPr>
              <a:t>Limited industrial/heavy-freight specialization and coverage gaps</a:t>
            </a:r>
            <a:endParaRPr lang="en-US" sz="1050" dirty="0"/>
          </a:p>
        </p:txBody>
      </p:sp>
      <p:sp>
        <p:nvSpPr>
          <p:cNvPr id="16" name="Text 14"/>
          <p:cNvSpPr/>
          <p:nvPr/>
        </p:nvSpPr>
        <p:spPr>
          <a:xfrm>
            <a:off x="548640" y="3515868"/>
            <a:ext cx="3246120" cy="443484"/>
          </a:xfrm>
          <a:prstGeom prst="rect">
            <a:avLst/>
          </a:prstGeom>
          <a:noFill/>
          <a:ln/>
        </p:spPr>
        <p:txBody>
          <a:bodyPr wrap="square" lIns="0" tIns="0" rIns="0" bIns="0" rtlCol="0" anchor="ctr"/>
          <a:lstStyle/>
          <a:p>
            <a:pPr indent="0" marL="0">
              <a:buNone/>
            </a:pPr>
            <a:r>
              <a:rPr lang="en-US" sz="1050" b="1" dirty="0">
                <a:solidFill>
                  <a:srgbClr val="1D8FD1"/>
                </a:solidFill>
                <a:latin typeface="Calibri" pitchFamily="34" charset="0"/>
                <a:ea typeface="Calibri" pitchFamily="34" charset="-122"/>
                <a:cs typeface="Calibri" pitchFamily="34" charset="-120"/>
              </a:rPr>
              <a:t>Where are we exposed?</a:t>
            </a:r>
            <a:endParaRPr lang="en-US" sz="1050" dirty="0"/>
          </a:p>
        </p:txBody>
      </p:sp>
      <p:sp>
        <p:nvSpPr>
          <p:cNvPr id="17" name="Text 15"/>
          <p:cNvSpPr/>
          <p:nvPr/>
        </p:nvSpPr>
        <p:spPr>
          <a:xfrm>
            <a:off x="3886200" y="3515868"/>
            <a:ext cx="8138160" cy="443484"/>
          </a:xfrm>
          <a:prstGeom prst="rect">
            <a:avLst/>
          </a:prstGeom>
          <a:noFill/>
          <a:ln/>
        </p:spPr>
        <p:txBody>
          <a:bodyPr wrap="square" lIns="0" tIns="0" rIns="0" bIns="0" rtlCol="0" anchor="ctr"/>
          <a:lstStyle/>
          <a:p>
            <a:pPr indent="0" marL="0">
              <a:lnSpc>
                <a:spcPts val="1300"/>
              </a:lnSpc>
              <a:buNone/>
            </a:pPr>
            <a:r>
              <a:rPr lang="en-US" sz="1050" dirty="0">
                <a:solidFill>
                  <a:srgbClr val="E7EEF6"/>
                </a:solidFill>
                <a:latin typeface="Calibri" pitchFamily="34" charset="0"/>
                <a:ea typeface="Calibri" pitchFamily="34" charset="-122"/>
                <a:cs typeface="Calibri" pitchFamily="34" charset="-120"/>
              </a:rPr>
              <a:t>Automotive and large enterprise contract accounts</a:t>
            </a:r>
            <a:endParaRPr lang="en-US" sz="1050" dirty="0"/>
          </a:p>
        </p:txBody>
      </p:sp>
      <p:sp>
        <p:nvSpPr>
          <p:cNvPr id="18" name="Text 16"/>
          <p:cNvSpPr/>
          <p:nvPr/>
        </p:nvSpPr>
        <p:spPr>
          <a:xfrm>
            <a:off x="548640" y="3959352"/>
            <a:ext cx="3246120" cy="443484"/>
          </a:xfrm>
          <a:prstGeom prst="rect">
            <a:avLst/>
          </a:prstGeom>
          <a:noFill/>
          <a:ln/>
        </p:spPr>
        <p:txBody>
          <a:bodyPr wrap="square" lIns="0" tIns="0" rIns="0" bIns="0" rtlCol="0" anchor="ctr"/>
          <a:lstStyle/>
          <a:p>
            <a:pPr indent="0" marL="0">
              <a:buNone/>
            </a:pPr>
            <a:r>
              <a:rPr lang="en-US" sz="1050" b="1" dirty="0">
                <a:solidFill>
                  <a:srgbClr val="1D8FD1"/>
                </a:solidFill>
                <a:latin typeface="Calibri" pitchFamily="34" charset="0"/>
                <a:ea typeface="Calibri" pitchFamily="34" charset="-122"/>
                <a:cs typeface="Calibri" pitchFamily="34" charset="-120"/>
              </a:rPr>
              <a:t>Where can we win?</a:t>
            </a:r>
            <a:endParaRPr lang="en-US" sz="1050" dirty="0"/>
          </a:p>
        </p:txBody>
      </p:sp>
      <p:sp>
        <p:nvSpPr>
          <p:cNvPr id="19" name="Text 17"/>
          <p:cNvSpPr/>
          <p:nvPr/>
        </p:nvSpPr>
        <p:spPr>
          <a:xfrm>
            <a:off x="3886200" y="3959352"/>
            <a:ext cx="8138160" cy="443484"/>
          </a:xfrm>
          <a:prstGeom prst="rect">
            <a:avLst/>
          </a:prstGeom>
          <a:noFill/>
          <a:ln/>
        </p:spPr>
        <p:txBody>
          <a:bodyPr wrap="square" lIns="0" tIns="0" rIns="0" bIns="0" rtlCol="0" anchor="ctr"/>
          <a:lstStyle/>
          <a:p>
            <a:pPr indent="0" marL="0">
              <a:lnSpc>
                <a:spcPts val="1300"/>
              </a:lnSpc>
              <a:buNone/>
            </a:pPr>
            <a:r>
              <a:rPr lang="en-US" sz="1050" dirty="0">
                <a:solidFill>
                  <a:srgbClr val="E7EEF6"/>
                </a:solidFill>
                <a:latin typeface="Calibri" pitchFamily="34" charset="0"/>
                <a:ea typeface="Calibri" pitchFamily="34" charset="-122"/>
                <a:cs typeface="Calibri" pitchFamily="34" charset="-120"/>
              </a:rPr>
              <a:t>Steel, Cement, Mining, Industrial Freight and Long-haul Transportation</a:t>
            </a:r>
            <a:endParaRPr lang="en-US" sz="1050" dirty="0"/>
          </a:p>
        </p:txBody>
      </p:sp>
      <p:sp>
        <p:nvSpPr>
          <p:cNvPr id="20" name="Shape 18"/>
          <p:cNvSpPr/>
          <p:nvPr/>
        </p:nvSpPr>
        <p:spPr>
          <a:xfrm>
            <a:off x="548640" y="4539996"/>
            <a:ext cx="11064240" cy="1417320"/>
          </a:xfrm>
          <a:prstGeom prst="roundRect">
            <a:avLst>
              <a:gd name="adj" fmla="val 5161"/>
            </a:avLst>
          </a:prstGeom>
          <a:solidFill>
            <a:srgbClr val="123A63"/>
          </a:solidFill>
          <a:ln/>
        </p:spPr>
      </p:sp>
      <p:sp>
        <p:nvSpPr>
          <p:cNvPr id="21" name="Text 19"/>
          <p:cNvSpPr/>
          <p:nvPr/>
        </p:nvSpPr>
        <p:spPr>
          <a:xfrm>
            <a:off x="868680" y="4722876"/>
            <a:ext cx="10424160" cy="1051560"/>
          </a:xfrm>
          <a:prstGeom prst="rect">
            <a:avLst/>
          </a:prstGeom>
          <a:noFill/>
          <a:ln/>
        </p:spPr>
        <p:txBody>
          <a:bodyPr wrap="square" lIns="0" tIns="0" rIns="0" bIns="0" rtlCol="0" anchor="ctr"/>
          <a:lstStyle/>
          <a:p>
            <a:pPr indent="0" marL="0">
              <a:lnSpc>
                <a:spcPts val="1700"/>
              </a:lnSpc>
              <a:buNone/>
            </a:pPr>
            <a:r>
              <a:rPr lang="en-US" sz="1250" i="1" dirty="0">
                <a:solidFill>
                  <a:srgbClr val="FFFFFF"/>
                </a:solidFill>
                <a:latin typeface="Cambria" pitchFamily="34" charset="0"/>
                <a:ea typeface="Cambria" pitchFamily="34" charset="-122"/>
                <a:cs typeface="Cambria" pitchFamily="34" charset="-120"/>
              </a:rPr>
              <a:t>CJ Darcl's strongest competitive advantage is its deep industrial freight expertise. While larger competitors possess broader networks, few have equivalent positioning in Steel, Cement and Mining logistics. The most attractive growth opportunity lies in strengthening industrial accounts and expanding dedicated transportation offerings.</a:t>
            </a:r>
            <a:endParaRPr lang="en-US" sz="1250" dirty="0"/>
          </a:p>
        </p:txBody>
      </p:sp>
      <p:sp>
        <p:nvSpPr>
          <p:cNvPr id="22" name="Text 20"/>
          <p:cNvSpPr/>
          <p:nvPr/>
        </p:nvSpPr>
        <p:spPr>
          <a:xfrm>
            <a:off x="548640" y="6309360"/>
            <a:ext cx="10515600" cy="365760"/>
          </a:xfrm>
          <a:prstGeom prst="rect">
            <a:avLst/>
          </a:prstGeom>
          <a:noFill/>
          <a:ln/>
        </p:spPr>
        <p:txBody>
          <a:bodyPr wrap="square" lIns="0" tIns="0" rIns="0" bIns="0" rtlCol="0" anchor="ctr"/>
          <a:lstStyle/>
          <a:p>
            <a:pPr indent="0" marL="0">
              <a:lnSpc>
                <a:spcPts val="950"/>
              </a:lnSpc>
              <a:buNone/>
            </a:pPr>
            <a:r>
              <a:rPr lang="en-US" sz="750" i="1" dirty="0">
                <a:solidFill>
                  <a:srgbClr val="7E97B4"/>
                </a:solidFill>
                <a:latin typeface="Calibri" pitchFamily="34" charset="0"/>
                <a:ea typeface="Calibri" pitchFamily="34" charset="-122"/>
                <a:cs typeface="Calibri" pitchFamily="34" charset="-120"/>
              </a:rPr>
              <a:t>Sources: CJ Darcl DRHP (SEBI, Sep 2025); CRISIL Intelligence Industry Report; Mordor Intelligence India FTL Market Report; company filings and press releases of TCI, Mahindra Logistics, TVS Supply Chain Solutions, Safexpress, Delhivery, VRL Logistics and Allcargo Gati.</a:t>
            </a:r>
            <a:endParaRPr lang="en-US" sz="750" dirty="0"/>
          </a:p>
        </p:txBody>
      </p:sp>
      <p:sp>
        <p:nvSpPr>
          <p:cNvPr id="23" name="Text 21"/>
          <p:cNvSpPr/>
          <p:nvPr/>
        </p:nvSpPr>
        <p:spPr>
          <a:xfrm>
            <a:off x="11414455" y="6473952"/>
            <a:ext cx="457200" cy="274320"/>
          </a:xfrm>
          <a:prstGeom prst="rect">
            <a:avLst/>
          </a:prstGeom>
          <a:noFill/>
          <a:ln/>
        </p:spPr>
        <p:txBody>
          <a:bodyPr wrap="square" lIns="0" tIns="0" rIns="0" bIns="0" rtlCol="0" anchor="ctr"/>
          <a:lstStyle/>
          <a:p>
            <a:pPr algn="r" indent="0" marL="0">
              <a:buNone/>
            </a:pPr>
            <a:r>
              <a:rPr lang="en-US" sz="900" dirty="0">
                <a:solidFill>
                  <a:srgbClr val="7E97B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Indian FTL Market Competitive Deep Dive</dc:title>
  <dc:subject>PptxGenJS Presentation</dc:subject>
  <dc:creator>Utkarsh Sinha</dc:creator>
  <cp:lastModifiedBy>Utkarsh Sinha</cp:lastModifiedBy>
  <cp:revision>1</cp:revision>
  <dcterms:created xsi:type="dcterms:W3CDTF">2026-07-13T05:18:57Z</dcterms:created>
  <dcterms:modified xsi:type="dcterms:W3CDTF">2026-07-13T05:18:57Z</dcterms:modified>
</cp:coreProperties>
</file>