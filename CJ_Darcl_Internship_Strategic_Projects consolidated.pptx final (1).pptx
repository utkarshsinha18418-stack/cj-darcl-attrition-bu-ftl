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1D8FD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80" b="0" i="0" u="none" strike="noStrike" kern="1200" baseline="0">
                    <a:solidFill>
                      <a:srgbClr val="0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Sheet1!$A$2:$A$15</c:f>
              <c:numCache>
                <c:formatCode>General</c:formatCod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numCache>
            </c:num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32.81</c:v>
                </c:pt>
                <c:pt idx="1">
                  <c:v>42.35</c:v>
                </c:pt>
                <c:pt idx="2">
                  <c:v>38.84</c:v>
                </c:pt>
                <c:pt idx="3">
                  <c:v>48</c:v>
                </c:pt>
                <c:pt idx="4">
                  <c:v>38.92</c:v>
                </c:pt>
                <c:pt idx="5">
                  <c:v>41.81</c:v>
                </c:pt>
                <c:pt idx="6">
                  <c:v>41.97</c:v>
                </c:pt>
                <c:pt idx="7">
                  <c:v>46.41</c:v>
                </c:pt>
                <c:pt idx="8">
                  <c:v>40.24</c:v>
                </c:pt>
                <c:pt idx="9">
                  <c:v>40.57</c:v>
                </c:pt>
                <c:pt idx="10">
                  <c:v>36.94</c:v>
                </c:pt>
                <c:pt idx="11">
                  <c:v>34.29</c:v>
                </c:pt>
                <c:pt idx="12">
                  <c:v>34.29</c:v>
                </c:pt>
                <c:pt idx="13">
                  <c:v>50.14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750" b="0" i="0" u="none" strike="noStrike" kern="1200" baseline="0">
                <a:solidFill>
                  <a:srgbClr val="6B768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 cmpd="sng" algn="ctr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6B768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72d73f7-4d01-42ad-aa81-a5231eda44f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Exit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B23B3B"/>
              </a:solidFill>
              <a:effectLst/>
            </c:spPr>
          </c:dPt>
          <c:dPt>
            <c:idx val="1"/>
            <c:bubble3D val="0"/>
            <c:spPr>
              <a:solidFill>
                <a:srgbClr val="1D8FD1"/>
              </a:solidFill>
              <a:effectLst/>
            </c:spPr>
          </c:dPt>
          <c:dPt>
            <c:idx val="2"/>
            <c:bubble3D val="0"/>
            <c:spPr>
              <a:solidFill>
                <a:srgbClr val="E3E7EC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Involuntary</c:v>
                </c:pt>
                <c:pt idx="1">
                  <c:v>Voluntary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12940</c:v>
                </c:pt>
                <c:pt idx="1">
                  <c:v>2465</c:v>
                </c:pt>
                <c:pt idx="2">
                  <c:v>91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850" b="0" i="0" u="none" strike="noStrike" kern="1200" baseline="0">
              <a:solidFill>
                <a:srgbClr val="3D4652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bcced79-abd3-41a2-bfe3-db8a1c2d7ee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1D8FD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50" b="0" i="0" u="none" strike="noStrike" kern="1200" baseline="0">
                    <a:solidFill>
                      <a:srgbClr val="0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East</c:v>
                </c:pt>
                <c:pt idx="1">
                  <c:v>West</c:v>
                </c:pt>
                <c:pt idx="2">
                  <c:v>South</c:v>
                </c:pt>
                <c:pt idx="3">
                  <c:v>North</c:v>
                </c:pt>
                <c:pt idx="4">
                  <c:v>Business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89.4</c:v>
                </c:pt>
                <c:pt idx="1">
                  <c:v>88.2</c:v>
                </c:pt>
                <c:pt idx="2">
                  <c:v>84.9</c:v>
                </c:pt>
                <c:pt idx="3">
                  <c:v>83.3</c:v>
                </c:pt>
                <c:pt idx="4">
                  <c:v>74.6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50" b="0" i="0" u="none" strike="noStrike" kern="1200" baseline="0">
                <a:solidFill>
                  <a:srgbClr val="6B768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 cmpd="sng" algn="ctr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750" b="0" i="0" u="none" strike="noStrike" kern="1200" baseline="0">
                <a:solidFill>
                  <a:srgbClr val="6B768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c860019-c0e8-4f83-a1e8-585f077e066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Focus</c:v>
                </c:pt>
              </c:strCache>
            </c:strRef>
          </c:tx>
          <c:spPr>
            <a:solidFill>
              <a:srgbClr val="1D8FD1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8F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90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7A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7A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7A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7A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3E7E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3E7E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3E7EC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rgbClr val="0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CJ Darcl</c:v>
                </c:pt>
                <c:pt idx="1">
                  <c:v>TCI Freight</c:v>
                </c:pt>
                <c:pt idx="2">
                  <c:v>TVS SCS</c:v>
                </c:pt>
                <c:pt idx="3">
                  <c:v>Mahindra Log.</c:v>
                </c:pt>
                <c:pt idx="4">
                  <c:v>Safexpress</c:v>
                </c:pt>
                <c:pt idx="5">
                  <c:v>DHL SC</c:v>
                </c:pt>
                <c:pt idx="6">
                  <c:v>Allcargo Gati</c:v>
                </c:pt>
                <c:pt idx="7">
                  <c:v>VRL Log.</c:v>
                </c:pt>
                <c:pt idx="8">
                  <c:v>Delhivery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</c:v>
                </c:pt>
                <c:pt idx="1">
                  <c:v>55</c:v>
                </c:pt>
                <c:pt idx="2">
                  <c:v>42</c:v>
                </c:pt>
                <c:pt idx="3">
                  <c:v>32</c:v>
                </c:pt>
                <c:pt idx="4">
                  <c:v>20</c:v>
                </c:pt>
                <c:pt idx="5">
                  <c:v>18</c:v>
                </c:pt>
                <c:pt idx="6">
                  <c:v>14</c:v>
                </c:pt>
                <c:pt idx="7">
                  <c:v>10</c:v>
                </c:pt>
                <c:pt idx="8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0B2A4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 cmpd="sng" algn="ctr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6B768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ac17e0b-ddff-4a70-ba23-9bd396ca2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19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chart" Target="../charts/chart4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2.png"/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4.png"/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5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27.png"/><Relationship Id="rId4" Type="http://schemas.openxmlformats.org/officeDocument/2006/relationships/image" Target="../media/image8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.png"/><Relationship Id="rId7" Type="http://schemas.openxmlformats.org/officeDocument/2006/relationships/image" Target="../media/image25.png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24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D8FD1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5212080"/>
            <a:ext cx="3108960" cy="3108960"/>
          </a:xfrm>
          <a:prstGeom prst="ellipse">
            <a:avLst/>
          </a:prstGeom>
          <a:solidFill>
            <a:srgbClr val="1D8FD1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48640" y="238125"/>
            <a:ext cx="2926080" cy="1883165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pic>
        <p:nvPicPr>
          <p:cNvPr id="5" name="Image 0" descr="/mnt/user-data/uploads/1783588481632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6725"/>
            <a:ext cx="2468880" cy="14259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59025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SUMMER INTERNSHIP PRESENTATION  ·  CJ DARCL LOGISTICS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South Business Unit Projects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AFC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Driving Data-Driven Decisions Across People, Market Expansion &amp; Competitive Strategy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2926080" cy="0"/>
          </a:xfrm>
          <a:prstGeom prst="line">
            <a:avLst/>
          </a:prstGeom>
          <a:noFill/>
          <a:ln w="19050">
            <a:solidFill>
              <a:srgbClr val="1D8F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11480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8FA9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
</a:t>
            </a: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Utkarsh Sinha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411480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8FA9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By
</a:t>
            </a: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Mr. Sanchit Nagpal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8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Strictly Private &amp;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Internship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3-project engagement translating raw operational, market and competitive data into leadership-ready strategic decisions for CJ Darcl Logistics.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63190" cy="914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</p:spPr>
      </p:sp>
      <p:sp>
        <p:nvSpPr>
          <p:cNvPr id="6" name="Text 4"/>
          <p:cNvSpPr/>
          <p:nvPr/>
        </p:nvSpPr>
        <p:spPr>
          <a:xfrm>
            <a:off x="713232" y="1874520"/>
            <a:ext cx="233400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2121408"/>
            <a:ext cx="233400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Summer Internship, FY 2025–26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48990" y="1783080"/>
            <a:ext cx="2663190" cy="914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</p:spPr>
      </p:sp>
      <p:sp>
        <p:nvSpPr>
          <p:cNvPr id="9" name="Text 7"/>
          <p:cNvSpPr/>
          <p:nvPr/>
        </p:nvSpPr>
        <p:spPr>
          <a:xfrm>
            <a:off x="3513582" y="1874520"/>
            <a:ext cx="233400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VERTICAL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13582" y="2121408"/>
            <a:ext cx="233400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Strategy &amp; Development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49340" y="1783080"/>
            <a:ext cx="2663190" cy="914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</p:spPr>
      </p:sp>
      <p:sp>
        <p:nvSpPr>
          <p:cNvPr id="12" name="Text 10"/>
          <p:cNvSpPr/>
          <p:nvPr/>
        </p:nvSpPr>
        <p:spPr>
          <a:xfrm>
            <a:off x="6313932" y="1884045"/>
            <a:ext cx="233400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TO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13932" y="2121408"/>
            <a:ext cx="233400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Mr. Sanchit Nagpal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14282" y="1884680"/>
            <a:ext cx="233400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STRATEGIC PROJECTS ASSIGNED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3261360" cy="260604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20" name="Text 18"/>
          <p:cNvSpPr/>
          <p:nvPr/>
        </p:nvSpPr>
        <p:spPr>
          <a:xfrm>
            <a:off x="777240" y="3566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2804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Fleet Crew Analysis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280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Attrition Analysis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5577840"/>
            <a:ext cx="2438400" cy="256032"/>
          </a:xfrm>
          <a:prstGeom prst="rect">
            <a:avLst/>
          </a:prstGeom>
          <a:solidFill>
            <a:srgbClr val="0B2A4A"/>
          </a:solidFill>
        </p:spPr>
      </p:sp>
      <p:sp>
        <p:nvSpPr>
          <p:cNvPr id="24" name="Text 22"/>
          <p:cNvSpPr/>
          <p:nvPr/>
        </p:nvSpPr>
        <p:spPr>
          <a:xfrm>
            <a:off x="777240" y="5577840"/>
            <a:ext cx="243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/ HR Analytics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974592" y="448056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8F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4592" y="44348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8FD1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50080" y="3337560"/>
            <a:ext cx="3261360" cy="260604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78680" y="3566160"/>
            <a:ext cx="502920" cy="502920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29" name="Text 27"/>
          <p:cNvSpPr/>
          <p:nvPr/>
        </p:nvSpPr>
        <p:spPr>
          <a:xfrm>
            <a:off x="4678680" y="3566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78680" y="4206240"/>
            <a:ext cx="2804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Growing in South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678680" y="4754880"/>
            <a:ext cx="280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Opportunity Mapping &amp; Customer Prioritization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78680" y="5577840"/>
            <a:ext cx="2438400" cy="256032"/>
          </a:xfrm>
          <a:prstGeom prst="rect">
            <a:avLst/>
          </a:prstGeom>
          <a:solidFill>
            <a:srgbClr val="0B2A4A"/>
          </a:solidFill>
        </p:spPr>
      </p:sp>
      <p:sp>
        <p:nvSpPr>
          <p:cNvPr id="33" name="Text 31"/>
          <p:cNvSpPr/>
          <p:nvPr/>
        </p:nvSpPr>
        <p:spPr>
          <a:xfrm>
            <a:off x="4678680" y="5577840"/>
            <a:ext cx="243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Expansion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876032" y="448056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8F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76032" y="44348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8FD1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351520" y="3337560"/>
            <a:ext cx="3261360" cy="2606040"/>
          </a:xfrm>
          <a:prstGeom prst="roundRect">
            <a:avLst>
              <a:gd name="adj" fmla="val 280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80120" y="3566160"/>
            <a:ext cx="502920" cy="502920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38" name="Text 36"/>
          <p:cNvSpPr/>
          <p:nvPr/>
        </p:nvSpPr>
        <p:spPr>
          <a:xfrm>
            <a:off x="8580120" y="3566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80120" y="4206240"/>
            <a:ext cx="2804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FTL Deep Dive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8569960" y="4754880"/>
            <a:ext cx="280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3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Benchmarking of the FTL Market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580120" y="5577840"/>
            <a:ext cx="2438400" cy="256032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42" name="Text 40"/>
          <p:cNvSpPr/>
          <p:nvPr/>
        </p:nvSpPr>
        <p:spPr>
          <a:xfrm>
            <a:off x="8580120" y="5577840"/>
            <a:ext cx="243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Strategy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Internship engagement brief, Business Strategy &amp; Development team, CJ Darcl Logistics.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/>
              <a:t>Summary</a:t>
            </a:r>
            <a:endParaRPr lang="en-US" sz="24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42616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55064"/>
            <a:ext cx="365760" cy="3657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D8FD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3736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075688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17,992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3232" y="2468880"/>
            <a:ext cx="23134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records analysed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1508760"/>
            <a:ext cx="2642616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655064"/>
            <a:ext cx="365760" cy="3657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D8FD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73736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075688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520440" y="2468880"/>
            <a:ext cx="23134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States mapped for expansion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1508760"/>
            <a:ext cx="2642616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1655064"/>
            <a:ext cx="365760" cy="3657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D8FD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73736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075688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203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327648" y="2468880"/>
            <a:ext cx="23134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plants identified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70264" y="1508760"/>
            <a:ext cx="2642616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34856" y="1655064"/>
            <a:ext cx="365760" cy="3657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D8FD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173736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2075688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100-pt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134856" y="2468880"/>
            <a:ext cx="23134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scoring framework developed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090672"/>
            <a:ext cx="2642616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3236976"/>
            <a:ext cx="365760" cy="3657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D8FD1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319272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" y="365760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Top 20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713232" y="4050792"/>
            <a:ext cx="23134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customers shortlisted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55848" y="3090672"/>
            <a:ext cx="2642616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20440" y="3236976"/>
            <a:ext cx="365760" cy="3657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D8FD1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2736" y="3319272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0440" y="365760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2000" dirty="0"/>
          </a:p>
        </p:txBody>
      </p:sp>
      <p:sp>
        <p:nvSpPr>
          <p:cNvPr id="33" name="Text 25"/>
          <p:cNvSpPr/>
          <p:nvPr/>
        </p:nvSpPr>
        <p:spPr>
          <a:xfrm>
            <a:off x="3520440" y="4050792"/>
            <a:ext cx="23134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FTL competitors benchmarked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63056" y="3090672"/>
            <a:ext cx="2642616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27648" y="3236976"/>
            <a:ext cx="365760" cy="3657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D8FD1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3319272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27648" y="365760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38" name="Text 29"/>
          <p:cNvSpPr/>
          <p:nvPr/>
        </p:nvSpPr>
        <p:spPr>
          <a:xfrm>
            <a:off x="6327648" y="4050792"/>
            <a:ext cx="23134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recommendation sets prepared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94944" y="501091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5084064"/>
            <a:ext cx="182880" cy="1828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143000" y="489204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independent analytical exercises — on workforce, market and competitor data — consolidated into one.</a:t>
            </a:r>
            <a:endParaRPr lang="en-US" sz="1080" dirty="0"/>
          </a:p>
        </p:txBody>
      </p:sp>
      <p:sp>
        <p:nvSpPr>
          <p:cNvPr id="43" name="Text 33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Fleet Crew Master dataset; Growing in South industry dataset; FTL competitive analysis. CJ Darcl Business Strategy &amp; Development.</a:t>
            </a:r>
            <a:endParaRPr lang="en-US" sz="750" dirty="0"/>
          </a:p>
        </p:txBody>
      </p:sp>
      <p:sp>
        <p:nvSpPr>
          <p:cNvPr id="44" name="Text 34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D8FD1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5029200"/>
            <a:ext cx="3474720" cy="3474720"/>
          </a:xfrm>
          <a:prstGeom prst="ellipse">
            <a:avLst/>
          </a:prstGeom>
          <a:solidFill>
            <a:srgbClr val="1D8FD1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48640" y="2331720"/>
            <a:ext cx="1005840" cy="1005840"/>
          </a:xfrm>
          <a:prstGeom prst="ellipse">
            <a:avLst/>
          </a:prstGeom>
          <a:solidFill>
            <a:srgbClr val="1D8FD1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5786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5204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1  ·  PEOPLE ANALYTICS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82219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Fleet Crew Attrition Analytics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Analytics on 17,992 Fleet Crew Records (FY2012–2026)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1  ·  BUSINESS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was needed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81328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Fleet crew attrition was rising, but we had no structured view of where, why, or how fast — driver and pilot shortages directly threaten fleet uptime and service reliability.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2081174" cy="192024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69771" y="2807208"/>
            <a:ext cx="438912" cy="438912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355" y="29077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3383280"/>
            <a:ext cx="186171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attrition increasing?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2794406" y="2606040"/>
            <a:ext cx="2081174" cy="192024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15538" y="2807208"/>
            <a:ext cx="438912" cy="438912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122" y="29077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04134" y="3383280"/>
            <a:ext cx="186171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roles are most affected?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5040173" y="2606040"/>
            <a:ext cx="2081174" cy="192024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861304" y="2807208"/>
            <a:ext cx="438912" cy="438912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90779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49901" y="3383280"/>
            <a:ext cx="186171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Voluntary vs. involuntary exits?</a:t>
            </a:r>
            <a:endParaRPr lang="en-US" sz="1080" dirty="0"/>
          </a:p>
        </p:txBody>
      </p:sp>
      <p:sp>
        <p:nvSpPr>
          <p:cNvPr id="19" name="Shape 13"/>
          <p:cNvSpPr/>
          <p:nvPr/>
        </p:nvSpPr>
        <p:spPr>
          <a:xfrm>
            <a:off x="7285939" y="2606040"/>
            <a:ext cx="2081174" cy="192024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107070" y="2807208"/>
            <a:ext cx="438912" cy="438912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7654" y="290779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95667" y="3383280"/>
            <a:ext cx="186171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business units suffer most?</a:t>
            </a:r>
            <a:endParaRPr lang="en-US" sz="1080" dirty="0"/>
          </a:p>
        </p:txBody>
      </p:sp>
      <p:sp>
        <p:nvSpPr>
          <p:cNvPr id="23" name="Shape 16"/>
          <p:cNvSpPr/>
          <p:nvPr/>
        </p:nvSpPr>
        <p:spPr>
          <a:xfrm>
            <a:off x="9531706" y="2606040"/>
            <a:ext cx="2081174" cy="192024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10352837" y="2807208"/>
            <a:ext cx="438912" cy="438912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3421" y="2907792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641434" y="3383280"/>
            <a:ext cx="186171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are employees leaving?</a:t>
            </a:r>
            <a:endParaRPr lang="en-US" sz="1080" dirty="0"/>
          </a:p>
        </p:txBody>
      </p:sp>
      <p:sp>
        <p:nvSpPr>
          <p:cNvPr id="27" name="Shape 19"/>
          <p:cNvSpPr/>
          <p:nvPr/>
        </p:nvSpPr>
        <p:spPr>
          <a:xfrm>
            <a:off x="548640" y="48006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94944" y="491947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992624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43000" y="480060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analysed that this project required a data-backed, structured diagnostic to design a targeted retention strategy.</a:t>
            </a:r>
            <a:endParaRPr lang="en-US" sz="1080" dirty="0"/>
          </a:p>
        </p:txBody>
      </p:sp>
      <p:sp>
        <p:nvSpPr>
          <p:cNvPr id="31" name="Text 22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Business Strategy &amp; Development team brief, CJ Darcl Logistics.</a:t>
            </a:r>
            <a:endParaRPr lang="en-US" sz="750" dirty="0"/>
          </a:p>
        </p:txBody>
      </p:sp>
      <p:sp>
        <p:nvSpPr>
          <p:cNvPr id="32" name="Text 23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1  ·  APPROACH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&amp; Analytical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737360"/>
            <a:ext cx="713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HR export</a:t>
            </a:r>
            <a:endParaRPr lang="en-US" sz="83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(17,992 records)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8FD1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91640" y="164592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46504" y="1737360"/>
            <a:ext cx="713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</a:t>
            </a:r>
            <a:endParaRPr lang="en-US" sz="83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(dates, tenure, status)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2514600" y="19659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8FD1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164592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9504" y="1737360"/>
            <a:ext cx="713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 &amp; role</a:t>
            </a:r>
            <a:endParaRPr lang="en-US" sz="83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3657600" y="19659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8FD1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77640" y="164592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32504" y="1737360"/>
            <a:ext cx="713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 category</a:t>
            </a:r>
            <a:endParaRPr lang="en-US" sz="83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8FD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0" y="164592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1D8FD1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75504" y="1737360"/>
            <a:ext cx="713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 &amp; root-</a:t>
            </a:r>
            <a:endParaRPr lang="en-US" sz="83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cause analysis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Excel-based: formula-driven tenure calculations, date cleaning, and Business-Unit/status mapping across all 17,992 records — zero manual re-keying.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63640" y="1280160"/>
            <a:ext cx="0" cy="365760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280160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ANALYTICAL FRAMEWORK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1645920"/>
            <a:ext cx="365760" cy="365760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23" name="Text 21"/>
          <p:cNvSpPr/>
          <p:nvPr/>
        </p:nvSpPr>
        <p:spPr>
          <a:xfrm>
            <a:off x="6537960" y="1645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22592" y="161848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Attrition Trend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22592" y="1865376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5-year year-on-year attrition % trend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537960" y="2212848"/>
            <a:ext cx="365760" cy="365760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27" name="Text 25"/>
          <p:cNvSpPr/>
          <p:nvPr/>
        </p:nvSpPr>
        <p:spPr>
          <a:xfrm>
            <a:off x="6537960" y="22128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22592" y="2185416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Tenure Bucket Analysis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22592" y="243230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in the employee lifecycle exits occur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537960" y="2779776"/>
            <a:ext cx="365760" cy="365760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31" name="Text 29"/>
          <p:cNvSpPr/>
          <p:nvPr/>
        </p:nvSpPr>
        <p:spPr>
          <a:xfrm>
            <a:off x="6537960" y="27797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22592" y="275234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Voluntary vs. Involuntary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22592" y="29992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Root-cause classification of every exit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537960" y="3346704"/>
            <a:ext cx="365760" cy="365760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35" name="Text 33"/>
          <p:cNvSpPr/>
          <p:nvPr/>
        </p:nvSpPr>
        <p:spPr>
          <a:xfrm>
            <a:off x="6537960" y="33467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22592" y="331927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Unit Analysis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022592" y="356616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Attrition % by BU (North/South/East/West)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6537960" y="3913632"/>
            <a:ext cx="365760" cy="365760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39" name="Text 37"/>
          <p:cNvSpPr/>
          <p:nvPr/>
        </p:nvSpPr>
        <p:spPr>
          <a:xfrm>
            <a:off x="6537960" y="39136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22592" y="388620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Role-wise Analysis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022592" y="413308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Driver / Pilot / Crew exit concentration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48640" y="50749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94944" y="519379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266944"/>
            <a:ext cx="182880" cy="18288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143000" y="507492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 converted 17,992 raw records into a structured, decision-ready attrition diagnostic.</a:t>
            </a:r>
            <a:endParaRPr lang="en-US" sz="1080" dirty="0"/>
          </a:p>
        </p:txBody>
      </p:sp>
      <p:sp>
        <p:nvSpPr>
          <p:cNvPr id="46" name="Text 43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Fleet Crew Master dataset (Raw Data → Cleaned Data → Analysis Sheet), CJ Darcl HR systems.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1  ·  KEY FINDINGS (I)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Attrition Trend &amp; When did People Leave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Attrition Rate VS FY2012–2025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00200"/>
          <a:ext cx="59436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519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recorded the highest attrition at 50.1%. 2026 data is incomplete and excluded from trend comparison.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537960" y="1280160"/>
            <a:ext cx="0" cy="329184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12280" y="128016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Do People Leave (Tenure Served at Exit)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12280" y="164592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0–3 Months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0" y="1673352"/>
            <a:ext cx="1657850" cy="237744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11" name="Text 8"/>
          <p:cNvSpPr/>
          <p:nvPr/>
        </p:nvSpPr>
        <p:spPr>
          <a:xfrm>
            <a:off x="9933170" y="1645920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2293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12280" y="204825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3–6 Months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229600" y="2075688"/>
            <a:ext cx="3291840" cy="237744"/>
          </a:xfrm>
          <a:prstGeom prst="rect">
            <a:avLst/>
          </a:prstGeom>
          <a:solidFill>
            <a:srgbClr val="F2901E"/>
          </a:solidFill>
        </p:spPr>
      </p:sp>
      <p:sp>
        <p:nvSpPr>
          <p:cNvPr id="14" name="Text 11"/>
          <p:cNvSpPr/>
          <p:nvPr/>
        </p:nvSpPr>
        <p:spPr>
          <a:xfrm>
            <a:off x="11567160" y="2048256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4553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12280" y="245059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6–12 Months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29600" y="2478024"/>
            <a:ext cx="2960704" cy="237744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17" name="Text 14"/>
          <p:cNvSpPr/>
          <p:nvPr/>
        </p:nvSpPr>
        <p:spPr>
          <a:xfrm>
            <a:off x="11236024" y="2450592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4095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12280" y="285292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1–2 Years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229600" y="2880360"/>
            <a:ext cx="1836432" cy="237744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20" name="Text 17"/>
          <p:cNvSpPr/>
          <p:nvPr/>
        </p:nvSpPr>
        <p:spPr>
          <a:xfrm>
            <a:off x="10111752" y="2852928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2540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12280" y="325526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2–5 Years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229600" y="3282696"/>
            <a:ext cx="1164760" cy="237744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23" name="Text 20"/>
          <p:cNvSpPr/>
          <p:nvPr/>
        </p:nvSpPr>
        <p:spPr>
          <a:xfrm>
            <a:off x="9440080" y="3255264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1611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12280" y="365760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5+ Years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229600" y="3685032"/>
            <a:ext cx="292094" cy="237744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26" name="Text 23"/>
          <p:cNvSpPr/>
          <p:nvPr/>
        </p:nvSpPr>
        <p:spPr>
          <a:xfrm>
            <a:off x="8567414" y="3657600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12280" y="4151376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70.6% of all exits occur within the first year of joining — the 3–6 month window is the single largest risk point.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8640" y="4937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94944" y="505663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129784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143000" y="493776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Attrition is very high (35–50% yearly) and heavily front-loaded — 70.6% of exits happen within the first year, pointing to an onboarding and early-tenure retention gap.</a:t>
            </a:r>
            <a:endParaRPr lang="en-US" sz="1080" dirty="0"/>
          </a:p>
        </p:txBody>
      </p:sp>
      <p:sp>
        <p:nvSpPr>
          <p:cNvPr id="32" name="Text 28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Fleet Crew Master — Analysis Sheet, Q1 (Attrition Trend) &amp; Q2 (Tenure Bucket Analysis). Total exits analysed: 15,496.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1  ·  KEY FINDINGS (II)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did they Leave, and in which business unit.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Voluntary vs. Involuntary Exits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58165" y="1600200"/>
          <a:ext cx="39319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5196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6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84% of exits are company-led (attendance &amp; discipline related); only 16% are voluntary resignations.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4709160" y="1280160"/>
            <a:ext cx="0" cy="329184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83480" y="128016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Attrition % by Business Unit</a:t>
            </a:r>
            <a:endParaRPr lang="en-US" sz="11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983480" y="1600200"/>
          <a:ext cx="32918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983480" y="429768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East BU: 6,080 exits of 6,802 employees — highest attrition volume and rate.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8549640" y="1280160"/>
            <a:ext cx="0" cy="329184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823960" y="128016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Exits by Role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823960" y="1691640"/>
            <a:ext cx="2788920" cy="777240"/>
          </a:xfrm>
          <a:prstGeom prst="roundRect">
            <a:avLst>
              <a:gd name="adj" fmla="val 7059"/>
            </a:avLst>
          </a:prstGeom>
          <a:solidFill>
            <a:srgbClr val="F6F8FA"/>
          </a:solidFill>
        </p:spPr>
      </p:sp>
      <p:sp>
        <p:nvSpPr>
          <p:cNvPr id="14" name="Text 10"/>
          <p:cNvSpPr/>
          <p:nvPr/>
        </p:nvSpPr>
        <p:spPr>
          <a:xfrm>
            <a:off x="8961120" y="17647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961120" y="2057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9,258  (59.8%)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823960" y="2606040"/>
            <a:ext cx="2788920" cy="777240"/>
          </a:xfrm>
          <a:prstGeom prst="roundRect">
            <a:avLst>
              <a:gd name="adj" fmla="val 7059"/>
            </a:avLst>
          </a:prstGeom>
          <a:solidFill>
            <a:srgbClr val="F6F8FA"/>
          </a:solidFill>
        </p:spPr>
      </p:sp>
      <p:sp>
        <p:nvSpPr>
          <p:cNvPr id="17" name="Text 13"/>
          <p:cNvSpPr/>
          <p:nvPr/>
        </p:nvSpPr>
        <p:spPr>
          <a:xfrm>
            <a:off x="8961120" y="26791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Crew / Pilot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961120" y="29718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6,232  (40.2%)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823960" y="3520440"/>
            <a:ext cx="2788920" cy="777240"/>
          </a:xfrm>
          <a:prstGeom prst="roundRect">
            <a:avLst>
              <a:gd name="adj" fmla="val 7059"/>
            </a:avLst>
          </a:prstGeom>
          <a:solidFill>
            <a:srgbClr val="F6F8FA"/>
          </a:solidFill>
        </p:spPr>
      </p:sp>
      <p:sp>
        <p:nvSpPr>
          <p:cNvPr id="20" name="Text 16"/>
          <p:cNvSpPr/>
          <p:nvPr/>
        </p:nvSpPr>
        <p:spPr>
          <a:xfrm>
            <a:off x="8961120" y="35935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961120" y="38862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  (&lt;0.1%)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548640" y="4937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94944" y="505663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129784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43000" y="493776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84% of exits are involuntary and attendance-driven, concentrated in Drivers (60% of exits) and the East business unit (89.4% attrition) — the priority zones for intervention.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Fleet Crew Master — Analysis Sheet, Q3 (Voluntary/Involuntary), Q4 (BU Attrition), Q5 (Role Analysis).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1  ·  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Retention Strategy &amp; Way Forward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28900" cy="2651760"/>
          </a:xfrm>
          <a:prstGeom prst="roundRect">
            <a:avLst>
              <a:gd name="adj" fmla="val 2783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7058" y="1645920"/>
            <a:ext cx="512064" cy="512064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930" y="17647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23545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Retention Strategy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22631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8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onboarding &amp; 90-day check-ins to target the 3–6 month exit spike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360420" y="1417320"/>
            <a:ext cx="2628900" cy="2651760"/>
          </a:xfrm>
          <a:prstGeom prst="roundRect">
            <a:avLst>
              <a:gd name="adj" fmla="val 2783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18838" y="1645920"/>
            <a:ext cx="512064" cy="512064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710" y="17647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7580" y="2286000"/>
            <a:ext cx="23545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Hiring Strategy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43300" y="2834640"/>
            <a:ext cx="22631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8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 for attendance reliability given 84% of exits are discipline-related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172200" y="1417320"/>
            <a:ext cx="2628900" cy="2651760"/>
          </a:xfrm>
          <a:prstGeom prst="roundRect">
            <a:avLst>
              <a:gd name="adj" fmla="val 2783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0618" y="1645920"/>
            <a:ext cx="512064" cy="512064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90" y="176479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286000"/>
            <a:ext cx="23545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 Interventions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2834640"/>
            <a:ext cx="22631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8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Focused retention programs for East, West &amp; South — the highest-attrition BUs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8983980" y="1417320"/>
            <a:ext cx="2628900" cy="2651760"/>
          </a:xfrm>
          <a:prstGeom prst="roundRect">
            <a:avLst>
              <a:gd name="adj" fmla="val 2783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42398" y="1645920"/>
            <a:ext cx="512064" cy="512064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270" y="17647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21140" y="2286000"/>
            <a:ext cx="23545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HR Analytics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66860" y="2834640"/>
            <a:ext cx="22631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8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attrition dashboards to catch deterioration early (as seen in 2025)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4944" y="446227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535424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434340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Fixing early-tenure attendance management in East, West &amp; South could materially reduce the ~15,000 exits recorded since 2012 — directly protecting fleet uptime.</a:t>
            </a:r>
            <a:endParaRPr lang="en-US" sz="1080" dirty="0"/>
          </a:p>
        </p:txBody>
      </p:sp>
      <p:sp>
        <p:nvSpPr>
          <p:cNvPr id="28" name="Text 21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Fleet Crew Master — Analysis Sheet, 'Key Findings and Way Forward' recommendations.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D8FD1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5029200"/>
            <a:ext cx="3474720" cy="3474720"/>
          </a:xfrm>
          <a:prstGeom prst="ellipse">
            <a:avLst/>
          </a:prstGeom>
          <a:solidFill>
            <a:srgbClr val="1D8FD1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48640" y="2331720"/>
            <a:ext cx="1005840" cy="1005840"/>
          </a:xfrm>
          <a:prstGeom prst="ellipse">
            <a:avLst/>
          </a:prstGeom>
          <a:solidFill>
            <a:srgbClr val="1D8FD1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5786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5204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  ·  MARKET EXPANSION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82219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Growing in South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Opportunity Mapping &amp; Customer Prioritization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2  ·  OBJECTIVE &amp; APPROACH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Objective &amp;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ANSWERS WERE NEEDED.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19456" cy="21945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6" name="Text 4"/>
          <p:cNvSpPr/>
          <p:nvPr/>
        </p:nvSpPr>
        <p:spPr>
          <a:xfrm>
            <a:off x="896112" y="15727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should CJ Darcl expand next?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39696"/>
            <a:ext cx="219456" cy="21945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8" name="Text 6"/>
          <p:cNvSpPr/>
          <p:nvPr/>
        </p:nvSpPr>
        <p:spPr>
          <a:xfrm>
            <a:off x="896112" y="20848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industries move the most freight?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219456" cy="21945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10" name="Text 8"/>
          <p:cNvSpPr/>
          <p:nvPr/>
        </p:nvSpPr>
        <p:spPr>
          <a:xfrm>
            <a:off x="896112" y="259689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customers should be targeted first?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219456" cy="21945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12" name="Text 10"/>
          <p:cNvSpPr/>
          <p:nvPr/>
        </p:nvSpPr>
        <p:spPr>
          <a:xfrm>
            <a:off x="896112" y="3108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should targets be prioritised objectively?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1280160"/>
            <a:ext cx="0" cy="338328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280160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WORKFLOW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691640"/>
            <a:ext cx="728907" cy="868680"/>
          </a:xfrm>
          <a:prstGeom prst="roundRect">
            <a:avLst>
              <a:gd name="adj" fmla="val 6272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25312" y="1764792"/>
            <a:ext cx="674043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</a:t>
            </a:r>
            <a:endParaRPr lang="en-US" sz="720" dirty="0"/>
          </a:p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Identification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736515" y="1691640"/>
            <a:ext cx="728907" cy="868680"/>
          </a:xfrm>
          <a:prstGeom prst="roundRect">
            <a:avLst>
              <a:gd name="adj" fmla="val 6272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3947" y="1764792"/>
            <a:ext cx="674043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</a:t>
            </a:r>
            <a:endParaRPr lang="en-US" sz="720" dirty="0"/>
          </a:p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7575151" y="1691640"/>
            <a:ext cx="728907" cy="868680"/>
          </a:xfrm>
          <a:prstGeom prst="roundRect">
            <a:avLst>
              <a:gd name="adj" fmla="val 6272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02583" y="1764792"/>
            <a:ext cx="674043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Capacity</a:t>
            </a:r>
            <a:endParaRPr lang="en-US" sz="720" dirty="0"/>
          </a:p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8413786" y="1691640"/>
            <a:ext cx="728907" cy="868680"/>
          </a:xfrm>
          <a:prstGeom prst="roundRect">
            <a:avLst>
              <a:gd name="adj" fmla="val 6272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41218" y="1764792"/>
            <a:ext cx="674043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Freight</a:t>
            </a:r>
            <a:endParaRPr lang="en-US" sz="720" dirty="0"/>
          </a:p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9252422" y="1691640"/>
            <a:ext cx="728907" cy="868680"/>
          </a:xfrm>
          <a:prstGeom prst="roundRect">
            <a:avLst>
              <a:gd name="adj" fmla="val 6272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79854" y="1764792"/>
            <a:ext cx="674043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</a:t>
            </a:r>
            <a:endParaRPr lang="en-US" sz="720" dirty="0"/>
          </a:p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0091057" y="1691640"/>
            <a:ext cx="728907" cy="868680"/>
          </a:xfrm>
          <a:prstGeom prst="roundRect">
            <a:avLst>
              <a:gd name="adj" fmla="val 6272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18489" y="1764792"/>
            <a:ext cx="674043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</a:t>
            </a:r>
            <a:endParaRPr lang="en-US" sz="720" dirty="0"/>
          </a:p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Ranking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10929693" y="1691640"/>
            <a:ext cx="728907" cy="868680"/>
          </a:xfrm>
          <a:prstGeom prst="roundRect">
            <a:avLst>
              <a:gd name="adj" fmla="val 6272"/>
            </a:avLst>
          </a:prstGeom>
          <a:solidFill>
            <a:srgbClr val="1D8FD1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957125" y="1764792"/>
            <a:ext cx="674043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20</a:t>
            </a:r>
            <a:endParaRPr lang="en-US" sz="720" dirty="0"/>
          </a:p>
          <a:p>
            <a:pPr marL="0" indent="0" algn="ctr">
              <a:lnSpc>
                <a:spcPts val="85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Targets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5897880" y="2880360"/>
            <a:ext cx="5760720" cy="0"/>
          </a:xfrm>
          <a:prstGeom prst="line">
            <a:avLst/>
          </a:prstGeom>
          <a:noFill/>
          <a:ln w="19050">
            <a:solidFill>
              <a:srgbClr val="E3E7E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897880" y="3017520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sequential, evidence-based pipeline: each stage filters and validates the previous one, ending in an objectively ranked target list rather than a subjective shortlist.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3794760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SOURCES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97880" y="41148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Annual Reports  ·  Investor Presentations  ·  Industry Reports  ·  Company Websites  ·  Plant Capacity Filings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4944" y="501091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084064"/>
            <a:ext cx="182880" cy="1828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43000" y="489204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203 industrial plants across 6 states were catalogued from verifiable public sources and scored on a consistent, defensible framework.</a:t>
            </a:r>
            <a:endParaRPr lang="en-US" sz="1080" dirty="0"/>
          </a:p>
        </p:txBody>
      </p:sp>
      <p:sp>
        <p:nvSpPr>
          <p:cNvPr id="37" name="Text 34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Growing in South — Industry Data sheet (203 plants, company annual reports &amp; investor presentations, FY25).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2  ·  COVERAGE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States &amp; Industrial Coverage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STATES MAPPED — 203 PLANTS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16459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Tamil Nadu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86000" y="1673352"/>
            <a:ext cx="3291840" cy="219456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8" name="Text 5"/>
          <p:cNvSpPr/>
          <p:nvPr/>
        </p:nvSpPr>
        <p:spPr>
          <a:xfrm>
            <a:off x="5623560" y="1645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2140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1031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Telangana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286000" y="2130552"/>
            <a:ext cx="2871605" cy="219456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12" name="Text 8"/>
          <p:cNvSpPr/>
          <p:nvPr/>
        </p:nvSpPr>
        <p:spPr>
          <a:xfrm>
            <a:off x="5203325" y="21031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860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Andhra Pradesh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286000" y="2587752"/>
            <a:ext cx="2591449" cy="219456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16" name="Text 11"/>
          <p:cNvSpPr/>
          <p:nvPr/>
        </p:nvSpPr>
        <p:spPr>
          <a:xfrm>
            <a:off x="4923169" y="2560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35808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30175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Karnataka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286000" y="3044952"/>
            <a:ext cx="2171214" cy="219456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20" name="Text 14"/>
          <p:cNvSpPr/>
          <p:nvPr/>
        </p:nvSpPr>
        <p:spPr>
          <a:xfrm>
            <a:off x="4502934" y="3017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9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93008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4672" y="34747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Odisha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2286000" y="3502152"/>
            <a:ext cx="2101174" cy="219456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24" name="Text 17"/>
          <p:cNvSpPr/>
          <p:nvPr/>
        </p:nvSpPr>
        <p:spPr>
          <a:xfrm>
            <a:off x="4432894" y="34747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50208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4672" y="39319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Chhattisgarh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2286000" y="3959352"/>
            <a:ext cx="1190666" cy="219456"/>
          </a:xfrm>
          <a:prstGeom prst="rect">
            <a:avLst/>
          </a:prstGeom>
          <a:solidFill>
            <a:srgbClr val="1D8FD1"/>
          </a:solidFill>
        </p:spPr>
      </p:sp>
      <p:sp>
        <p:nvSpPr>
          <p:cNvPr id="28" name="Text 20"/>
          <p:cNvSpPr/>
          <p:nvPr/>
        </p:nvSpPr>
        <p:spPr>
          <a:xfrm>
            <a:off x="3522386" y="3931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6172200" y="1280160"/>
            <a:ext cx="0" cy="338328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446520" y="128016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COVERAGE (10 SECTORS)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446520" y="1627632"/>
            <a:ext cx="969264" cy="54864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483096" y="1627632"/>
            <a:ext cx="8961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Steel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7507224" y="1627632"/>
            <a:ext cx="969264" cy="54864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7543800" y="1627632"/>
            <a:ext cx="8961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Cement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8567928" y="1627632"/>
            <a:ext cx="969264" cy="54864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604504" y="1627632"/>
            <a:ext cx="8961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Automobile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9628632" y="1627632"/>
            <a:ext cx="969264" cy="54864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665208" y="1627632"/>
            <a:ext cx="8961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Pharma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10689336" y="1627632"/>
            <a:ext cx="969264" cy="54864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10725912" y="1627632"/>
            <a:ext cx="8961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FMCG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6446520" y="2286000"/>
            <a:ext cx="969264" cy="54864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483096" y="2286000"/>
            <a:ext cx="8961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Mining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7507224" y="2286000"/>
            <a:ext cx="969264" cy="54864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7543800" y="2286000"/>
            <a:ext cx="8961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Aluminium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8567928" y="2286000"/>
            <a:ext cx="969264" cy="54864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8604504" y="2286000"/>
            <a:ext cx="8961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Oil &amp; Gas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9628632" y="2286000"/>
            <a:ext cx="969264" cy="54864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9665208" y="2286000"/>
            <a:ext cx="8961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Fertilizer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10689336" y="2286000"/>
            <a:ext cx="969264" cy="54864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10725912" y="2286000"/>
            <a:ext cx="8961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Chemicals</a:t>
            </a:r>
            <a:endParaRPr lang="en-US" sz="850" dirty="0"/>
          </a:p>
        </p:txBody>
      </p:sp>
      <p:sp>
        <p:nvSpPr>
          <p:cNvPr id="51" name="Text 43"/>
          <p:cNvSpPr/>
          <p:nvPr/>
        </p:nvSpPr>
        <p:spPr>
          <a:xfrm>
            <a:off x="6446520" y="306324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INDUSTRIAL CLUSTERS</a:t>
            </a:r>
            <a:endParaRPr lang="en-US" sz="1050" dirty="0"/>
          </a:p>
        </p:txBody>
      </p:sp>
      <p:sp>
        <p:nvSpPr>
          <p:cNvPr id="52" name="Text 44"/>
          <p:cNvSpPr/>
          <p:nvPr/>
        </p:nvSpPr>
        <p:spPr>
          <a:xfrm>
            <a:off x="6446520" y="3401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Kalinganagar (Odisha)</a:t>
            </a:r>
            <a:endParaRPr lang="en-US" sz="930" dirty="0"/>
          </a:p>
        </p:txBody>
      </p:sp>
      <p:sp>
        <p:nvSpPr>
          <p:cNvPr id="53" name="Text 45"/>
          <p:cNvSpPr/>
          <p:nvPr/>
        </p:nvSpPr>
        <p:spPr>
          <a:xfrm>
            <a:off x="8503920" y="340156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Tata Steel, JSPL, Jindal Stainless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6446520" y="37033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Ballari (Karnataka)</a:t>
            </a:r>
            <a:endParaRPr lang="en-US" sz="930" dirty="0"/>
          </a:p>
        </p:txBody>
      </p:sp>
      <p:sp>
        <p:nvSpPr>
          <p:cNvPr id="55" name="Text 47"/>
          <p:cNvSpPr/>
          <p:nvPr/>
        </p:nvSpPr>
        <p:spPr>
          <a:xfrm>
            <a:off x="8503920" y="37033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JSW Steel, NMDC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6446520" y="40050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Sriperumbudur (T.N.)</a:t>
            </a:r>
            <a:endParaRPr lang="en-US" sz="930" dirty="0"/>
          </a:p>
        </p:txBody>
      </p:sp>
      <p:sp>
        <p:nvSpPr>
          <p:cNvPr id="57" name="Text 49"/>
          <p:cNvSpPr/>
          <p:nvPr/>
        </p:nvSpPr>
        <p:spPr>
          <a:xfrm>
            <a:off x="8503920" y="400507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Hyundai, Foxconn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6446520" y="43068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Visakhapatnam (A.P.)</a:t>
            </a:r>
            <a:endParaRPr lang="en-US" sz="930" dirty="0"/>
          </a:p>
        </p:txBody>
      </p:sp>
      <p:sp>
        <p:nvSpPr>
          <p:cNvPr id="59" name="Text 51"/>
          <p:cNvSpPr/>
          <p:nvPr/>
        </p:nvSpPr>
        <p:spPr>
          <a:xfrm>
            <a:off x="8503920" y="4306824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Vizag Steel, HPCL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61" name="Shape 53"/>
          <p:cNvSpPr/>
          <p:nvPr/>
        </p:nvSpPr>
        <p:spPr>
          <a:xfrm>
            <a:off x="694944" y="501091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084064"/>
            <a:ext cx="182880" cy="182880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1143000" y="489204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Tamil Nadu, Telangana and Andhra Pradesh together contribute to about 62% of mapped plants — but Odisha &amp; Chhattisgarh carry the heaviest per-plant freight intensity (steel, mining, aluminium).</a:t>
            </a:r>
            <a:endParaRPr lang="en-US" sz="1080" dirty="0"/>
          </a:p>
        </p:txBody>
      </p:sp>
      <p:sp>
        <p:nvSpPr>
          <p:cNvPr id="64" name="Text 55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Growing in South — Industry Data &amp; Industrial Clusters sheets (203 plants across 6 states, 39 industry sub-categories).</a:t>
            </a:r>
            <a:endParaRPr lang="en-US" sz="750" dirty="0"/>
          </a:p>
        </p:txBody>
      </p:sp>
      <p:sp>
        <p:nvSpPr>
          <p:cNvPr id="65" name="Text 56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2  · 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Industrial Opportunity Scoring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plant scored out of 100 across five weighted dimensions, producing an objective, rankable priority score.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081174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6619" y="1965960"/>
            <a:ext cx="585216" cy="58521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7" name="Text 5"/>
          <p:cNvSpPr/>
          <p:nvPr/>
        </p:nvSpPr>
        <p:spPr>
          <a:xfrm>
            <a:off x="1296619" y="196596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0–20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89829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Capacity Score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76656" y="3108960"/>
            <a:ext cx="182514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 production capacity (MTPA / units)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94406" y="1783080"/>
            <a:ext cx="2081174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2386" y="1965960"/>
            <a:ext cx="585216" cy="58521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12" name="Text 10"/>
          <p:cNvSpPr/>
          <p:nvPr/>
        </p:nvSpPr>
        <p:spPr>
          <a:xfrm>
            <a:off x="3542386" y="196596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0–30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5846" y="2651760"/>
            <a:ext cx="189829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Freight Potential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922422" y="3108960"/>
            <a:ext cx="182514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Industry-level freight intensity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40173" y="1783080"/>
            <a:ext cx="2081174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8152" y="1965960"/>
            <a:ext cx="585216" cy="58521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17" name="Text 15"/>
          <p:cNvSpPr/>
          <p:nvPr/>
        </p:nvSpPr>
        <p:spPr>
          <a:xfrm>
            <a:off x="5788152" y="196596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0–20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31613" y="2651760"/>
            <a:ext cx="189829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CJ Strategic Fit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168189" y="3108960"/>
            <a:ext cx="182514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Alignment with CJ Darcl's industrial specialization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85939" y="1783080"/>
            <a:ext cx="2081174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33918" y="1965960"/>
            <a:ext cx="585216" cy="58521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22" name="Text 20"/>
          <p:cNvSpPr/>
          <p:nvPr/>
        </p:nvSpPr>
        <p:spPr>
          <a:xfrm>
            <a:off x="8033918" y="196596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0–20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77379" y="2651760"/>
            <a:ext cx="189829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Opportunity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413955" y="3108960"/>
            <a:ext cx="182514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growth stage &amp; expansion pipeline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531706" y="1783080"/>
            <a:ext cx="2081174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79685" y="1965960"/>
            <a:ext cx="585216" cy="58521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27" name="Text 25"/>
          <p:cNvSpPr/>
          <p:nvPr/>
        </p:nvSpPr>
        <p:spPr>
          <a:xfrm>
            <a:off x="10279685" y="196596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0–10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23146" y="2651760"/>
            <a:ext cx="189829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 Accessibility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659722" y="3108960"/>
            <a:ext cx="182514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Highway / rail / port connectivity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0B2A4A"/>
          </a:solidFill>
        </p:spPr>
      </p:sp>
      <p:sp>
        <p:nvSpPr>
          <p:cNvPr id="31" name="Text 29"/>
          <p:cNvSpPr/>
          <p:nvPr/>
        </p:nvSpPr>
        <p:spPr>
          <a:xfrm>
            <a:off x="822960" y="39776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Priority Score = </a:t>
            </a: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Capacity + Freight Potential + CJ Fit + Market Opportunity + Route Fit  </a:t>
            </a:r>
            <a:r>
              <a:rPr lang="en-US" sz="125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(Max 100)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8006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" y="491947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992624"/>
            <a:ext cx="182880" cy="1828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143000" y="480060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transparent, weighted scoring model ranks all 203 plants on a single comparable scale.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Growing in South — Scoring Sheet methodology, CJ Darcl Business Strategy &amp; Development.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2  ·  DASHBOARD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Industrial Opportunity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78352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D8FD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572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203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49808" y="2286000"/>
            <a:ext cx="31760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Plants Mapped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1584" y="1417320"/>
            <a:ext cx="3578352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2752" y="16184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D8FD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624" y="17373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4544" y="1600200"/>
            <a:ext cx="2572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492752" y="2286000"/>
            <a:ext cx="31760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Industrial Clusters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857488" y="1600200"/>
            <a:ext cx="2572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749808" y="4005072"/>
            <a:ext cx="31760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1584" y="3136392"/>
            <a:ext cx="3578352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2752" y="333756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D8FD1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624" y="345643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14544" y="3319272"/>
            <a:ext cx="2572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4492752" y="4005072"/>
            <a:ext cx="31760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States Covered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513" y="3117977"/>
            <a:ext cx="3578352" cy="1554480"/>
          </a:xfrm>
          <a:prstGeom prst="roundRect">
            <a:avLst>
              <a:gd name="adj" fmla="val 6544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49046" y="334645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D8FD1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83" y="3465957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68298" y="3278632"/>
            <a:ext cx="2572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8FD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Top 20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749046" y="3987292"/>
            <a:ext cx="31760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Companies Shortlisted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49560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94944" y="5074920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148072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43000" y="495604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4 Insights from this project.</a:t>
            </a:r>
            <a:endParaRPr lang="en-US" sz="1080" dirty="0"/>
          </a:p>
        </p:txBody>
      </p:sp>
      <p:sp>
        <p:nvSpPr>
          <p:cNvPr id="38" name="Text 29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Growing in South — Industry Summary &amp; Industrial Clusters sheets.</a:t>
            </a:r>
            <a:endParaRPr lang="en-US" sz="750" dirty="0"/>
          </a:p>
        </p:txBody>
      </p:sp>
      <p:sp>
        <p:nvSpPr>
          <p:cNvPr id="39" name="Text 30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2  ·  PRIORITIZED TARGETS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Top Strategic Targets (Ranked)</a:t>
            </a:r>
            <a:endParaRPr lang="en-US" sz="2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48640" y="1234440"/>
          <a:ext cx="5451475" cy="4184015"/>
        </p:xfrm>
        <a:graphic>
          <a:graphicData uri="http://schemas.openxmlformats.org/drawingml/2006/table">
            <a:tbl>
              <a:tblPr/>
              <a:tblGrid>
                <a:gridCol w="479425"/>
                <a:gridCol w="2049780"/>
                <a:gridCol w="1527175"/>
                <a:gridCol w="871855"/>
                <a:gridCol w="523240"/>
              </a:tblGrid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Rank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Company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Plant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Industry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Score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JSW Steel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Vijayanagar Works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Steel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94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Kirloskar Ferrous Industries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Koppal Plant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Iron &amp; Steel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Kalyani Steels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Ginigera Plant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Steel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BMM Ispat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Danapur Plant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Steel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NMDC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Donimalai Mine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Mining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MSPL Ltd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Hospet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Mining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UltraTech Cement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Rajashree Cement Works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Cement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 Cement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Wadi Plant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Cement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Dalmia Cement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Belagavi Plant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Cement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Toyota Kirloskar Motor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Bidadi Plant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Automobile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/>
        </p:nvGraphicFramePr>
        <p:xfrm>
          <a:off x="5989320" y="1234440"/>
          <a:ext cx="5577205" cy="4187190"/>
        </p:xfrm>
        <a:graphic>
          <a:graphicData uri="http://schemas.openxmlformats.org/drawingml/2006/table">
            <a:tbl>
              <a:tblPr/>
              <a:tblGrid>
                <a:gridCol w="453390"/>
                <a:gridCol w="2312670"/>
                <a:gridCol w="1541780"/>
                <a:gridCol w="770890"/>
                <a:gridCol w="498475"/>
              </a:tblGrid>
              <a:tr h="363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Rank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Company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Plant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Industry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Score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Volvo Group India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Hoskote Plant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Automobile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Tata Hitachi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Dharwad Plant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Constr. Equip.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Bosch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Adugodi Plant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 Components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Toyota Kirloskar Auto Parts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Bidadi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 Components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Hindustan Aeronautics (HAL)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Bengaluru Complex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Aerospace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81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Boeing India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Bengaluru Campus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Aerospace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81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17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Airbus India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Bengaluru Centre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Aerospace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76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Jindal Aluminium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Bengaluru Plant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Aluminium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72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Hindalco Industries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Belagavi Unit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Aluminium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71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0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ITC Limited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Bengaluru Unit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FMCG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67</a:t>
                      </a:r>
                      <a:endParaRPr lang="en-US" sz="84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579745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22554" y="5698617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06" y="5771769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4255" y="5579745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top 20 are concentrated in Karnataka's Ballari–Bengaluru industrial belt — steel, mining, cement and automotive plants scoring 67–94/100 on strategic fit.</a:t>
            </a:r>
            <a:endParaRPr lang="en-US" sz="1080" dirty="0"/>
          </a:p>
        </p:txBody>
      </p:sp>
      <p:sp>
        <p:nvSpPr>
          <p:cNvPr id="10" name="Text 5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Growing in South — Scoring Sheet (ranked 1–20 of 203 plants), company annual reports &amp; plant capacity filings.</a:t>
            </a:r>
            <a:endParaRPr lang="en-US" sz="750" dirty="0"/>
          </a:p>
        </p:txBody>
      </p:sp>
      <p:sp>
        <p:nvSpPr>
          <p:cNvPr id="11" name="Text 6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2  ·  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Expansion Roadmap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95805" cy="2651760"/>
          </a:xfrm>
          <a:prstGeom prst="roundRect">
            <a:avLst>
              <a:gd name="adj" fmla="val 3490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7942" y="1618488"/>
            <a:ext cx="457200" cy="457200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670" y="172821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94560"/>
            <a:ext cx="191292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Priority States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4944" y="2788920"/>
            <a:ext cx="1803197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expansion in Karnataka &amp; Odisha — highest scoring industrial density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2790749" y="1417320"/>
            <a:ext cx="2095805" cy="2651760"/>
          </a:xfrm>
          <a:prstGeom prst="roundRect">
            <a:avLst>
              <a:gd name="adj" fmla="val 3490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0051" y="1618488"/>
            <a:ext cx="457200" cy="457200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79" y="17282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2189" y="2194560"/>
            <a:ext cx="191292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Priority Customers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937053" y="2788920"/>
            <a:ext cx="1803197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 Top 20 ranked accounts first (steel, mining, cement, auto)</a:t>
            </a:r>
            <a:endParaRPr lang="en-US" sz="880" dirty="0"/>
          </a:p>
        </p:txBody>
      </p:sp>
      <p:sp>
        <p:nvSpPr>
          <p:cNvPr id="17" name="Text 12"/>
          <p:cNvSpPr/>
          <p:nvPr/>
        </p:nvSpPr>
        <p:spPr>
          <a:xfrm>
            <a:off x="5124298" y="2194560"/>
            <a:ext cx="191292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79162" y="2788920"/>
            <a:ext cx="1803197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endParaRPr lang="en-US" sz="880" dirty="0"/>
          </a:p>
        </p:txBody>
      </p:sp>
      <p:sp>
        <p:nvSpPr>
          <p:cNvPr id="19" name="Shape 14"/>
          <p:cNvSpPr/>
          <p:nvPr/>
        </p:nvSpPr>
        <p:spPr>
          <a:xfrm>
            <a:off x="5032781" y="1417320"/>
            <a:ext cx="2095805" cy="2651760"/>
          </a:xfrm>
          <a:prstGeom prst="roundRect">
            <a:avLst>
              <a:gd name="adj" fmla="val 3490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52084" y="1618488"/>
            <a:ext cx="457200" cy="457200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12" y="172821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69611" y="2240280"/>
            <a:ext cx="191292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Revenue Opportunity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179085" y="2741295"/>
            <a:ext cx="1803197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Plants scoring 80+ first — highest freight potential &amp; CJ fit</a:t>
            </a:r>
            <a:endParaRPr lang="en-US" sz="880" dirty="0"/>
          </a:p>
        </p:txBody>
      </p:sp>
      <p:sp>
        <p:nvSpPr>
          <p:cNvPr id="24" name="Shape 18"/>
          <p:cNvSpPr/>
          <p:nvPr/>
        </p:nvSpPr>
        <p:spPr>
          <a:xfrm>
            <a:off x="7274890" y="1484630"/>
            <a:ext cx="2095805" cy="2651760"/>
          </a:xfrm>
          <a:prstGeom prst="roundRect">
            <a:avLst>
              <a:gd name="adj" fmla="val 3490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04048" y="1618488"/>
            <a:ext cx="457200" cy="457200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411" y="181457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66330" y="2240280"/>
            <a:ext cx="191292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Expansion Roadmap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421194" y="2788285"/>
            <a:ext cx="1803197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1: Karnataka. Phase 2: Odisha &amp; Chhattisgarh. Phase 3: AP/TS/TN</a:t>
            </a:r>
            <a:endParaRPr lang="en-US" sz="880" dirty="0"/>
          </a:p>
        </p:txBody>
      </p:sp>
      <p:sp>
        <p:nvSpPr>
          <p:cNvPr id="29" name="Shape 22"/>
          <p:cNvSpPr/>
          <p:nvPr/>
        </p:nvSpPr>
        <p:spPr>
          <a:xfrm>
            <a:off x="548640" y="43434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94944" y="446227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535424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43000" y="434340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phased, data-ranked expansion into South India's industrial belt.</a:t>
            </a:r>
            <a:endParaRPr lang="en-US" sz="1080" dirty="0"/>
          </a:p>
        </p:txBody>
      </p:sp>
      <p:sp>
        <p:nvSpPr>
          <p:cNvPr id="33" name="Text 25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Growing in South — consolidated scoring output &amp; CJ Darcl strategic analysis.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D8FD1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5029200"/>
            <a:ext cx="3474720" cy="3474720"/>
          </a:xfrm>
          <a:prstGeom prst="ellipse">
            <a:avLst/>
          </a:prstGeom>
          <a:solidFill>
            <a:srgbClr val="1D8FD1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48640" y="2331720"/>
            <a:ext cx="1005840" cy="1005840"/>
          </a:xfrm>
          <a:prstGeom prst="ellipse">
            <a:avLst/>
          </a:prstGeom>
          <a:solidFill>
            <a:srgbClr val="1D8FD1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5786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5204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3  ·  COMPETITIVE STRATEGY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82219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FTL Deep Dive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Benchmarking of the Indian FTL Market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3  ·  OBJECTIVE &amp; APPROACH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Objective &amp;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LEADERSHIP WANTED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19456" cy="21945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6" name="Text 4"/>
          <p:cNvSpPr/>
          <p:nvPr/>
        </p:nvSpPr>
        <p:spPr>
          <a:xfrm>
            <a:off x="896112" y="15727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are our real FTL competitors?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39696"/>
            <a:ext cx="219456" cy="21945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8" name="Text 6"/>
          <p:cNvSpPr/>
          <p:nvPr/>
        </p:nvSpPr>
        <p:spPr>
          <a:xfrm>
            <a:off x="896112" y="208483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they compete for business?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219456" cy="21945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10" name="Text 8"/>
          <p:cNvSpPr/>
          <p:nvPr/>
        </p:nvSpPr>
        <p:spPr>
          <a:xfrm>
            <a:off x="896112" y="259689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are they stronger than CJ Darcl?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219456" cy="219456"/>
          </a:xfrm>
          <a:prstGeom prst="ellipse">
            <a:avLst/>
          </a:prstGeom>
          <a:solidFill>
            <a:srgbClr val="1D8FD1"/>
          </a:solidFill>
        </p:spPr>
      </p:sp>
      <p:sp>
        <p:nvSpPr>
          <p:cNvPr id="12" name="Text 10"/>
          <p:cNvSpPr/>
          <p:nvPr/>
        </p:nvSpPr>
        <p:spPr>
          <a:xfrm>
            <a:off x="896112" y="31089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can CJ Darcl win?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8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~70% of CJ Darcl's FY25 revenue came from FTL — making competitive positioning in this segment a top-priority strategic question.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263640" y="1280160"/>
            <a:ext cx="0" cy="320040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280160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37960" y="1645920"/>
            <a:ext cx="365760" cy="365760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17282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22592" y="16459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Reports &amp; DRHPs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37960" y="2157984"/>
            <a:ext cx="365760" cy="365760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4028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22592" y="2157984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Investor Presentations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537960" y="2670048"/>
            <a:ext cx="365760" cy="365760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752344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22592" y="26700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Reports (CRISIL, Mordor)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37960" y="3182112"/>
            <a:ext cx="365760" cy="365760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264408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22592" y="318211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Competitor Websites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537960" y="3694176"/>
            <a:ext cx="365760" cy="365760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776472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22592" y="36941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&amp; Service Mapping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94944" y="501091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5084064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43000" y="489204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Nine competitors were benchmarked 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CJ Darcl FTL Competitive Deep Dive (Project 3), Annual Reports, DRHPs &amp; Investor Presentations, FY25.</a:t>
            </a:r>
            <a:endParaRPr lang="en-US" sz="750" dirty="0"/>
          </a:p>
        </p:txBody>
      </p:sp>
      <p:sp>
        <p:nvSpPr>
          <p:cNvPr id="36" name="Text 28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3  · 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Competitive Landscape &amp; FTL Comparison</a:t>
            </a:r>
            <a:endParaRPr lang="en-US" sz="2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48640" y="1234440"/>
          <a:ext cx="11064240" cy="3072384"/>
        </p:xfrm>
        <a:graphic>
          <a:graphicData uri="http://schemas.openxmlformats.org/drawingml/2006/table">
            <a:tbl>
              <a:tblPr/>
              <a:tblGrid>
                <a:gridCol w="1920240"/>
                <a:gridCol w="1417320"/>
                <a:gridCol w="2651760"/>
                <a:gridCol w="2148840"/>
                <a:gridCol w="292608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Company </a:t>
                      </a:r>
                      <a:endParaRPr lang="en-US" sz="87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FTL Strength</a:t>
                      </a:r>
                      <a:endParaRPr lang="en-US" sz="87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Network</a:t>
                      </a:r>
                      <a:endParaRPr lang="en-US" sz="87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Industries Served</a:t>
                      </a:r>
                      <a:endParaRPr lang="en-US" sz="87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Financial Scale (FY25)</a:t>
                      </a:r>
                      <a:endParaRPr lang="en-US" sz="87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D8FD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CJ Darcl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 offices, 6,691 locations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Steel, Cement, Mining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₹5,161 Cr revenue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TCI Freight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Pan-India, 15+ Mn sq.ft.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Manufacturing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₹4,492 Cr revenue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Mahindra Logistics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Medium–High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Pan-India, 20.8 Mn sq.ft.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Auto, FMCG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₹6,105 Cr revenue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Safexpress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340 offices, 21.2 Mn sq.ft.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Retail, Consumer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publicly disclosed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TVS Supply Chain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India + global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₹9,996 Cr revenue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DHL Supply Chain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Select India hubs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Manufacturing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separately disclosed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i="1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Delhivery / Allcargo Gati / VRL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i="1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(indirect)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i="1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Express/PTL-led networks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i="1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Parcel, Express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i="1" dirty="0">
                          <a:solidFill>
                            <a:srgbClr val="3D46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₹1,510–8,932 Cr revenue</a:t>
                      </a:r>
                      <a:endParaRPr lang="en-US" sz="8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94944" y="464515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718304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452628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5 players (TCI, Mahindra, Safexpress, TVS SCS, DHL) are true direct FTL competitors — the rest are parcel/express-led and only indirectly compete.</a:t>
            </a:r>
            <a:endParaRPr lang="en-US" sz="1080" dirty="0"/>
          </a:p>
        </p:txBody>
      </p:sp>
      <p:sp>
        <p:nvSpPr>
          <p:cNvPr id="9" name="Text 5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CJ Darcl FTL Competitive Deep Dive — Competitor Profile &amp; Financial Comparison, company disclosures FY25.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3  ·  POSITIONING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Competitive Positioning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Freight Focus Index (0–100)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00200"/>
          <a:ext cx="64008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280160"/>
            <a:ext cx="0" cy="356616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28016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vs. INDIRECT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63840" y="1627632"/>
            <a:ext cx="3794760" cy="1371600"/>
          </a:xfrm>
          <a:prstGeom prst="roundRect">
            <a:avLst>
              <a:gd name="adj" fmla="val 4000"/>
            </a:avLst>
          </a:prstGeom>
          <a:solidFill>
            <a:srgbClr val="EAF4FB"/>
          </a:solidFill>
        </p:spPr>
      </p:sp>
      <p:sp>
        <p:nvSpPr>
          <p:cNvPr id="9" name="Text 6"/>
          <p:cNvSpPr/>
          <p:nvPr/>
        </p:nvSpPr>
        <p:spPr>
          <a:xfrm>
            <a:off x="8001000" y="1737360"/>
            <a:ext cx="3566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Direct: TCI, Mahindra, Safexpress, TVS SCS, DHL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863840" y="3108960"/>
            <a:ext cx="3794760" cy="1051560"/>
          </a:xfrm>
          <a:prstGeom prst="roundRect">
            <a:avLst>
              <a:gd name="adj" fmla="val 5217"/>
            </a:avLst>
          </a:prstGeom>
          <a:solidFill>
            <a:srgbClr val="F6F8FA"/>
          </a:solidFill>
        </p:spPr>
      </p:sp>
      <p:sp>
        <p:nvSpPr>
          <p:cNvPr id="11" name="Text 8"/>
          <p:cNvSpPr/>
          <p:nvPr/>
        </p:nvSpPr>
        <p:spPr>
          <a:xfrm>
            <a:off x="8001000" y="320040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3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Indirect: Delhivery, Allcargo Gati, VRL Logistics (parcel/express-led, not true FTL rivals)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548640" y="4937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4944" y="505663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129784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493776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CJ Darcl leads all competitors on industrial-freight specialization (88/100) — its clearest, most defensible point of differentiation.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CJ Darcl FTL Competitive Deep Dive — Competitive Positioning analysis.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3  ·  INSIGHTS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Strategic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9824" cy="1691640"/>
          </a:xfrm>
          <a:prstGeom prst="roundRect">
            <a:avLst>
              <a:gd name="adj" fmla="val 3784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1691640"/>
          </a:xfrm>
          <a:prstGeom prst="rect">
            <a:avLst/>
          </a:prstGeom>
          <a:solidFill>
            <a:srgbClr val="2E7D46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727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554480"/>
            <a:ext cx="46268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CJ Darcl Leads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029968"/>
            <a:ext cx="49926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specialization — Steel, Cement, Mining, Long-haul heavy freight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63056" y="1371600"/>
            <a:ext cx="5449824" cy="1691640"/>
          </a:xfrm>
          <a:prstGeom prst="roundRect">
            <a:avLst>
              <a:gd name="adj" fmla="val 3784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63056" y="1371600"/>
            <a:ext cx="73152" cy="1691640"/>
          </a:xfrm>
          <a:prstGeom prst="rect">
            <a:avLst/>
          </a:prstGeom>
          <a:solidFill>
            <a:srgbClr val="B23B3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5727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21424" y="1554480"/>
            <a:ext cx="46268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Competitors Lead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19088" y="2029968"/>
            <a:ext cx="49926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(TCI), enterprise relationships (Mahindra), premium service (DHL)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27832"/>
            <a:ext cx="5449824" cy="1691640"/>
          </a:xfrm>
          <a:prstGeom prst="roundRect">
            <a:avLst>
              <a:gd name="adj" fmla="val 3784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227832"/>
            <a:ext cx="73152" cy="1691640"/>
          </a:xfrm>
          <a:prstGeom prst="rect">
            <a:avLst/>
          </a:prstGeom>
          <a:solidFill>
            <a:srgbClr val="5B7A99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290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3410712"/>
            <a:ext cx="46268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Market Gaps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4672" y="3886200"/>
            <a:ext cx="49926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tackled by enhanced OEM relationships elsewhere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63056" y="3227832"/>
            <a:ext cx="5449824" cy="1691640"/>
          </a:xfrm>
          <a:prstGeom prst="roundRect">
            <a:avLst>
              <a:gd name="adj" fmla="val 3784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63056" y="3227832"/>
            <a:ext cx="73152" cy="1691640"/>
          </a:xfrm>
          <a:prstGeom prst="rect">
            <a:avLst/>
          </a:prstGeom>
          <a:solidFill>
            <a:srgbClr val="1D8FD1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4290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1424" y="3410712"/>
            <a:ext cx="46268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Growth Opportunities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19088" y="3886200"/>
            <a:ext cx="49926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Dedicated fleet contracts, industrial corridors, South India expansion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4944" y="505663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129784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493776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key differentiator is depth, not breadth.</a:t>
            </a:r>
            <a:endParaRPr lang="en-US" sz="1080" dirty="0"/>
          </a:p>
        </p:txBody>
      </p:sp>
      <p:sp>
        <p:nvSpPr>
          <p:cNvPr id="28" name="Text 21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CJ Darcl FTL Competitive Deep Dive — Strategic Insights &amp; Gap Analysis.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3  ·  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Competitive Strategy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348740"/>
          </a:xfrm>
          <a:prstGeom prst="roundRect">
            <a:avLst>
              <a:gd name="adj" fmla="val 474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54480"/>
            <a:ext cx="420624" cy="420624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9105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Improve Network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103120"/>
            <a:ext cx="4983480" cy="525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 South India presence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dedicated fleet capacity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40680" cy="1348740"/>
          </a:xfrm>
          <a:prstGeom prst="roundRect">
            <a:avLst>
              <a:gd name="adj" fmla="val 474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554480"/>
            <a:ext cx="420624" cy="420624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6367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59105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Identified Industries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28232" y="2103120"/>
            <a:ext cx="4983480" cy="525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Steel, Cement, Mining accounts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Project 2's ranked target list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903220"/>
            <a:ext cx="5440680" cy="1348740"/>
          </a:xfrm>
          <a:prstGeom prst="roundRect">
            <a:avLst>
              <a:gd name="adj" fmla="val 474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086100"/>
            <a:ext cx="420624" cy="420624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16839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12267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Strengthen FTL Positioning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4672" y="3634740"/>
            <a:ext cx="4983480" cy="525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Defend industrial freight niche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Differentiate via reliability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2903220"/>
            <a:ext cx="5440680" cy="1348740"/>
          </a:xfrm>
          <a:prstGeom prst="roundRect">
            <a:avLst>
              <a:gd name="adj" fmla="val 474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086100"/>
            <a:ext cx="420624" cy="420624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16839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12267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&amp; Sales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28232" y="3634740"/>
            <a:ext cx="4983480" cy="525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 in visibility/tracking tech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46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key-account sales motion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4944" y="455371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626864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443484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CJ Darcl's strongest competitive advantage is its deep industrial freight expertise — the biggest opportunity lies in strengthening industrial accounts and expanding dedicated transportation.</a:t>
            </a:r>
            <a:endParaRPr lang="en-US" sz="1080" dirty="0"/>
          </a:p>
        </p:txBody>
      </p:sp>
      <p:sp>
        <p:nvSpPr>
          <p:cNvPr id="28" name="Text 21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CJ Darcl FTL Competitive Deep Dive — Strategic Recommendations.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CLOSING  ·  IMPACT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Overall Internship Contribution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95805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8798" y="1664208"/>
            <a:ext cx="475488" cy="475488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526" y="17739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40280"/>
            <a:ext cx="19129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90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2697480"/>
            <a:ext cx="1876349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30" dirty="0">
                <a:solidFill>
                  <a:srgbClr val="D7E3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Projects Completed End-to-End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2790749" y="1463040"/>
            <a:ext cx="2095805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0907" y="1664208"/>
            <a:ext cx="475488" cy="475488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35" y="177393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2189" y="2240280"/>
            <a:ext cx="19129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90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900477" y="2697480"/>
            <a:ext cx="1876349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30" dirty="0">
                <a:solidFill>
                  <a:srgbClr val="D7E3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Distinct Business Problems Solved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5032858" y="1463040"/>
            <a:ext cx="2095805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43016" y="1664208"/>
            <a:ext cx="475488" cy="475488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17739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4298" y="2240280"/>
            <a:ext cx="19129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90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142586" y="2697480"/>
            <a:ext cx="1876349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30" dirty="0">
                <a:solidFill>
                  <a:srgbClr val="D7E3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Frameworks Developed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7274966" y="1463040"/>
            <a:ext cx="2095805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85125" y="1664208"/>
            <a:ext cx="475488" cy="475488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853" y="17739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6406" y="2240280"/>
            <a:ext cx="19129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90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12+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384694" y="2697480"/>
            <a:ext cx="1876349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30" dirty="0">
                <a:solidFill>
                  <a:srgbClr val="D7E3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Recommendations Prepared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9517075" y="1463040"/>
            <a:ext cx="2095805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27234" y="1664208"/>
            <a:ext cx="475488" cy="475488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6962" y="177393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8515" y="2240280"/>
            <a:ext cx="19129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90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9626803" y="2697480"/>
            <a:ext cx="1876349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30" dirty="0">
                <a:solidFill>
                  <a:srgbClr val="D7E3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Leadership-Ready Deliverables</a:t>
            </a:r>
            <a:endParaRPr lang="en-US" sz="930" dirty="0"/>
          </a:p>
        </p:txBody>
      </p:sp>
      <p:sp>
        <p:nvSpPr>
          <p:cNvPr id="29" name="Text 22"/>
          <p:cNvSpPr/>
          <p:nvPr/>
        </p:nvSpPr>
        <p:spPr>
          <a:xfrm>
            <a:off x="548640" y="37490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OPERATIONAL DATA TO STRATEGIC DIRECTION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" y="4160520"/>
            <a:ext cx="3078480" cy="914400"/>
          </a:xfrm>
          <a:prstGeom prst="roundRect">
            <a:avLst>
              <a:gd name="adj" fmla="val 7000"/>
            </a:avLst>
          </a:prstGeom>
          <a:solidFill>
            <a:srgbClr val="F6F8FA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315968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43000" y="4261104"/>
            <a:ext cx="234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143000" y="4517136"/>
            <a:ext cx="234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Fleet Crew Attrition Analytics</a:t>
            </a:r>
            <a:endParaRPr lang="en-US" sz="930" dirty="0"/>
          </a:p>
        </p:txBody>
      </p:sp>
      <p:sp>
        <p:nvSpPr>
          <p:cNvPr id="34" name="Text 26"/>
          <p:cNvSpPr/>
          <p:nvPr/>
        </p:nvSpPr>
        <p:spPr>
          <a:xfrm>
            <a:off x="3718560" y="43434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8FD1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27"/>
          <p:cNvSpPr/>
          <p:nvPr/>
        </p:nvSpPr>
        <p:spPr>
          <a:xfrm>
            <a:off x="4541520" y="4160520"/>
            <a:ext cx="3078480" cy="914400"/>
          </a:xfrm>
          <a:prstGeom prst="roundRect">
            <a:avLst>
              <a:gd name="adj" fmla="val 7000"/>
            </a:avLst>
          </a:prstGeom>
          <a:solidFill>
            <a:srgbClr val="F6F8FA"/>
          </a:solidFill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400" y="4315968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135880" y="4261104"/>
            <a:ext cx="234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5135880" y="4517136"/>
            <a:ext cx="234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Growing in South</a:t>
            </a:r>
            <a:endParaRPr lang="en-US" sz="930" dirty="0"/>
          </a:p>
        </p:txBody>
      </p:sp>
      <p:sp>
        <p:nvSpPr>
          <p:cNvPr id="39" name="Text 30"/>
          <p:cNvSpPr/>
          <p:nvPr/>
        </p:nvSpPr>
        <p:spPr>
          <a:xfrm>
            <a:off x="7711440" y="43434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8FD1"/>
                </a:solidFill>
              </a:rPr>
              <a:t>→</a:t>
            </a:r>
            <a:endParaRPr lang="en-US" sz="2000" dirty="0"/>
          </a:p>
        </p:txBody>
      </p:sp>
      <p:sp>
        <p:nvSpPr>
          <p:cNvPr id="40" name="Shape 31"/>
          <p:cNvSpPr/>
          <p:nvPr/>
        </p:nvSpPr>
        <p:spPr>
          <a:xfrm>
            <a:off x="8534400" y="4160520"/>
            <a:ext cx="3078480" cy="914400"/>
          </a:xfrm>
          <a:prstGeom prst="roundRect">
            <a:avLst>
              <a:gd name="adj" fmla="val 7000"/>
            </a:avLst>
          </a:prstGeom>
          <a:solidFill>
            <a:srgbClr val="F6F8FA"/>
          </a:solidFill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7280" y="4315968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28760" y="4261104"/>
            <a:ext cx="234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Competition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9128760" y="4517136"/>
            <a:ext cx="234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FTL Deep Dive</a:t>
            </a:r>
            <a:endParaRPr lang="en-US" sz="930" dirty="0"/>
          </a:p>
        </p:txBody>
      </p:sp>
      <p:sp>
        <p:nvSpPr>
          <p:cNvPr id="44" name="Shape 34"/>
          <p:cNvSpPr/>
          <p:nvPr/>
        </p:nvSpPr>
        <p:spPr>
          <a:xfrm>
            <a:off x="548640" y="53492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94944" y="546811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5541264"/>
            <a:ext cx="182880" cy="18288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143000" y="534924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projects, one narrative: solving an internal people problem, mapping the next market, and sharpening the competitive strategy to win in it.</a:t>
            </a:r>
            <a:endParaRPr lang="en-US" sz="1080" dirty="0"/>
          </a:p>
        </p:txBody>
      </p:sp>
      <p:sp>
        <p:nvSpPr>
          <p:cNvPr id="48" name="Text 37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Consolidated internship deliverables, CJ Darcl Business Strategy &amp; Development.</a:t>
            </a:r>
            <a:endParaRPr lang="en-US" sz="750" dirty="0"/>
          </a:p>
        </p:txBody>
      </p:sp>
      <p:sp>
        <p:nvSpPr>
          <p:cNvPr id="49" name="Text 38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8F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CLOSING  ·  REFLECTION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Learnings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2890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6202" y="1709928"/>
            <a:ext cx="493776" cy="493776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074" y="18288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24460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Logistics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60420" y="1508760"/>
            <a:ext cx="262890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27982" y="1709928"/>
            <a:ext cx="493776" cy="493776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854" y="182880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1860" y="2331720"/>
            <a:ext cx="24460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Supply Chain Strategy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2200" y="1508760"/>
            <a:ext cx="262890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39762" y="1709928"/>
            <a:ext cx="493776" cy="493776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634" y="182880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331720"/>
            <a:ext cx="24460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Intelligence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983980" y="1508760"/>
            <a:ext cx="262890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051542" y="1709928"/>
            <a:ext cx="493776" cy="493776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414" y="182880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75420" y="2331720"/>
            <a:ext cx="24460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Analytics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2461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084832" y="3447288"/>
            <a:ext cx="493776" cy="493776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704" y="356616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06908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Strategy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297680" y="32461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833872" y="3447288"/>
            <a:ext cx="493776" cy="493776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3566160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389120" y="406908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Analytics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8046720" y="32461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9582912" y="3447288"/>
            <a:ext cx="493776" cy="493776"/>
          </a:xfrm>
          <a:prstGeom prst="ellipse">
            <a:avLst/>
          </a:prstGeom>
          <a:solidFill>
            <a:srgbClr val="1D8FD1"/>
          </a:solidFill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1784" y="3566160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138160" y="406908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Making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548640" y="4937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effectLst>
            <a:outerShdw blurRad="101600" dist="254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94944" y="5056632"/>
            <a:ext cx="329184" cy="329184"/>
          </a:xfrm>
          <a:prstGeom prst="ellipse">
            <a:avLst/>
          </a:prstGeom>
          <a:solidFill>
            <a:srgbClr val="F2901E"/>
          </a:solidFill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5129784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143000" y="4937760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 </a:t>
            </a:r>
            <a:r>
              <a:rPr lang="en-US" sz="10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technical skills, this internship helped me built the ability to translate ambiguous business questions into structured, evidence-based recommendations.</a:t>
            </a:r>
            <a:endParaRPr lang="en-US" sz="1080" dirty="0"/>
          </a:p>
        </p:txBody>
      </p:sp>
      <p:sp>
        <p:nvSpPr>
          <p:cNvPr id="36" name="Text 26"/>
          <p:cNvSpPr/>
          <p:nvPr/>
        </p:nvSpPr>
        <p:spPr>
          <a:xfrm>
            <a:off x="548640" y="656539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Reflection on internship engagement, CJ Darcl Business Strategy &amp; Development.</a:t>
            </a:r>
            <a:endParaRPr lang="en-US" sz="750" dirty="0"/>
          </a:p>
        </p:txBody>
      </p:sp>
      <p:sp>
        <p:nvSpPr>
          <p:cNvPr id="37" name="Text 27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4114800" cy="4114800"/>
          </a:xfrm>
          <a:prstGeom prst="ellipse">
            <a:avLst/>
          </a:prstGeom>
          <a:solidFill>
            <a:srgbClr val="1D8FD1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D8FD1">
              <a:alpha val="8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0" y="132588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224028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290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 Thanks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334770" y="274320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123A63"/>
          </a:solidFill>
        </p:spPr>
      </p:sp>
      <p:sp>
        <p:nvSpPr>
          <p:cNvPr id="8" name="Text 5"/>
          <p:cNvSpPr/>
          <p:nvPr/>
        </p:nvSpPr>
        <p:spPr>
          <a:xfrm>
            <a:off x="685800" y="2926080"/>
            <a:ext cx="3230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                                      Mr. Nikhil Aggarwal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429000"/>
            <a:ext cx="3230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80" dirty="0">
                <a:solidFill>
                  <a:srgbClr val="AFC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                     President &amp; Promoter, CJ Darcl            Logistics 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7882255" y="274320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123A63"/>
          </a:solidFill>
        </p:spPr>
      </p:sp>
      <p:sp>
        <p:nvSpPr>
          <p:cNvPr id="11" name="Text 8"/>
          <p:cNvSpPr/>
          <p:nvPr/>
        </p:nvSpPr>
        <p:spPr>
          <a:xfrm>
            <a:off x="8156575" y="2971800"/>
            <a:ext cx="3230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Mr. Sanchit Nagpal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156575" y="3383280"/>
            <a:ext cx="3230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80" dirty="0">
                <a:solidFill>
                  <a:srgbClr val="AFC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CJ Darcl Logistics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7917180" y="2971800"/>
            <a:ext cx="3230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244840" y="3429000"/>
            <a:ext cx="3230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0" y="448056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Utkarsh Sinha  ·  Management Trainee Intern  ·  Summer Internship, CJ Darcl Logistics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E8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Strictly Private &amp; Confidential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14455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29*329"/>
  <p:tag name="TABLE_ENDDRAG_RECT" val="43*97*429*32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14508</Words>
  <Application>WPS Presentation</Application>
  <PresentationFormat>On-screen Show (16:9)</PresentationFormat>
  <Paragraphs>1058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Business Intelligence Projects</dc:title>
  <dc:creator>Utkarsh Sinha</dc:creator>
  <dc:subject>PptxGenJS Presentation</dc:subject>
  <cp:lastModifiedBy>UTKARSH SINHA</cp:lastModifiedBy>
  <cp:revision>2</cp:revision>
  <dcterms:created xsi:type="dcterms:W3CDTF">2026-07-20T07:14:00Z</dcterms:created>
  <dcterms:modified xsi:type="dcterms:W3CDTF">2026-07-24T04:44:36Z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7669566F54444E828206B969F0E5ECCB_13</vt:lpwstr>
  </property>
  <property fmtid="{D5CDD505-2E9C-101B-9397-08002B2CF9AE}" pid="3" name="KSOProductBuildVer">
    <vt:lpwstr>1033-12.1.0.26880</vt:lpwstr>
  </property>
</Properties>
</file>